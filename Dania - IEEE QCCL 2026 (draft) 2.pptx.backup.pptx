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50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x="18288000" cy="10287000"/>
  <p:notesSz cx="6858000" cy="9144000"/>
  <p:embeddedFontLst>
    <p:embeddedFont>
      <p:font typeface="Libre Baskerville" charset="1" panose="02000000000000000000"/>
      <p:regular r:id="rId44"/>
    </p:embeddedFont>
    <p:embeddedFont>
      <p:font typeface="Libre Baskerville Bold" charset="1" panose="02000000000000000000"/>
      <p:regular r:id="rId45"/>
    </p:embeddedFont>
    <p:embeddedFont>
      <p:font typeface="DM Sans" charset="1" panose="00000000000000000000"/>
      <p:regular r:id="rId46"/>
    </p:embeddedFont>
    <p:embeddedFont>
      <p:font typeface="DM Sans Bold" charset="1" panose="00000000000000000000"/>
      <p:regular r:id="rId47"/>
    </p:embeddedFont>
    <p:embeddedFont>
      <p:font typeface="DM Sans Italics" charset="1" panose="00000000000000000000"/>
      <p:regular r:id="rId48"/>
    </p:embeddedFont>
    <p:embeddedFont>
      <p:font typeface="DM Sans Bold Italics" charset="1" panose="00000000000000000000"/>
      <p:regular r:id="rId49"/>
    </p:embeddedFont>
    <p:embeddedFont>
      <p:font typeface="Arimo" charset="1" panose="020B0604020202020204"/>
      <p:regular r:id="rId53"/>
    </p:embeddedFont>
    <p:embeddedFont>
      <p:font typeface="Open Sans" charset="1" panose="020B0606030504020204"/>
      <p:regular r:id="rId56"/>
    </p:embeddedFont>
    <p:embeddedFont>
      <p:font typeface="Arimo Italics" charset="1" panose="020B0604020202090204"/>
      <p:regular r:id="rId57"/>
    </p:embeddedFont>
    <p:embeddedFont>
      <p:font typeface="Arimo Bold Italics" charset="1" panose="020B0704020202090204"/>
      <p:regular r:id="rId5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47" Target="fonts/font47.fntdata" Type="http://schemas.openxmlformats.org/officeDocument/2006/relationships/font"/><Relationship Id="rId48" Target="fonts/font48.fntdata" Type="http://schemas.openxmlformats.org/officeDocument/2006/relationships/font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50" Target="notesMasters/notesMaster1.xml" Type="http://schemas.openxmlformats.org/officeDocument/2006/relationships/notesMaster"/><Relationship Id="rId51" Target="theme/theme2.xml" Type="http://schemas.openxmlformats.org/officeDocument/2006/relationships/theme"/><Relationship Id="rId52" Target="notesSlides/notesSlide1.xml" Type="http://schemas.openxmlformats.org/officeDocument/2006/relationships/notesSlide"/><Relationship Id="rId53" Target="fonts/font53.fntdata" Type="http://schemas.openxmlformats.org/officeDocument/2006/relationships/font"/><Relationship Id="rId54" Target="notesSlides/notesSlide2.xml" Type="http://schemas.openxmlformats.org/officeDocument/2006/relationships/notesSlide"/><Relationship Id="rId55" Target="notesSlides/notesSlide3.xml" Type="http://schemas.openxmlformats.org/officeDocument/2006/relationships/notesSlide"/><Relationship Id="rId56" Target="fonts/font56.fntdata" Type="http://schemas.openxmlformats.org/officeDocument/2006/relationships/font"/><Relationship Id="rId57" Target="fonts/font57.fntdata" Type="http://schemas.openxmlformats.org/officeDocument/2006/relationships/font"/><Relationship Id="rId58" Target="fonts/font58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zaznaczyc strzlka roznice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podkreslenie ze badamy architekture nie quantum advantage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</a:p>
          <a:p>
            <a:r>
              <a:rPr lang="en-US"/>
              <a:t>The pilot controls the main sources of uncertainty: first, the number of shots, which affects finite-shot measurement noise; second, the number of samples, meaning random parameter samples or test inputs; and third, repeated hardware runs, which capture drift and calibration changes of the QPU.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5.jpeg" Type="http://schemas.openxmlformats.org/officeDocument/2006/relationships/image"/><Relationship Id="rId7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pn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4.jpeg" Type="http://schemas.openxmlformats.org/officeDocument/2006/relationships/image"/><Relationship Id="rId5" Target="../media/image2.png" Type="http://schemas.openxmlformats.org/officeDocument/2006/relationships/image"/><Relationship Id="rId6" Target="../media/image3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https://pennylane.ai/profile/glassnotes" TargetMode="External" Type="http://schemas.openxmlformats.org/officeDocument/2006/relationships/hyperlink"/><Relationship Id="rId6" Target="../media/image4.jpeg" Type="http://schemas.openxmlformats.org/officeDocument/2006/relationships/image"/><Relationship Id="rId7" Target="../media/image20.png" Type="http://schemas.openxmlformats.org/officeDocument/2006/relationships/image"/><Relationship Id="rId8" Target="../media/image2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2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2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24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25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26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27.png" Type="http://schemas.openxmlformats.org/officeDocument/2006/relationships/image"/><Relationship Id="rId7" Target="../media/image28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27.png" Type="http://schemas.openxmlformats.org/officeDocument/2006/relationships/image"/><Relationship Id="rId7" Target="../media/image28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Relationship Id="rId8" Target="../media/image31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32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32.png" Type="http://schemas.openxmlformats.org/officeDocument/2006/relationships/image"/><Relationship Id="rId6" Target="../media/image4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33.png" Type="http://schemas.openxmlformats.org/officeDocument/2006/relationships/image"/><Relationship Id="rId6" Target="../media/image34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33.png" Type="http://schemas.openxmlformats.org/officeDocument/2006/relationships/image"/><Relationship Id="rId6" Target="../media/image34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33.png" Type="http://schemas.openxmlformats.org/officeDocument/2006/relationships/image"/><Relationship Id="rId6" Target="../media/image34.sv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https://github.com/Kolo-Naukowe-Axion/QC1_Quantum_Banknote_Classifier_on_ODRA_5" TargetMode="External" Type="http://schemas.openxmlformats.org/officeDocument/2006/relationships/hyperlink"/><Relationship Id="rId4" Target="../media/image35.png" Type="http://schemas.openxmlformats.org/officeDocument/2006/relationships/image"/><Relationship Id="rId5" Target="../media/image2.png" Type="http://schemas.openxmlformats.org/officeDocument/2006/relationships/image"/><Relationship Id="rId6" Target="../media/image3.png" Type="http://schemas.openxmlformats.org/officeDocument/2006/relationships/image"/><Relationship Id="rId7" Target="../media/image36.png" Type="http://schemas.openxmlformats.org/officeDocument/2006/relationships/image"/><Relationship Id="rId8" Target="../media/image37.png" Type="http://schemas.openxmlformats.org/officeDocument/2006/relationships/image"/><Relationship Id="rId9" Target="mailto:kn.axion@pwr.edu.pl" TargetMode="External" Type="http://schemas.openxmlformats.org/officeDocument/2006/relationships/hyperlink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38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39.png" Type="http://schemas.openxmlformats.org/officeDocument/2006/relationships/image"/><Relationship Id="rId7" Target="../media/image4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050" y="-6353"/>
            <a:ext cx="3487426" cy="10299697"/>
            <a:chOff x="0" y="0"/>
            <a:chExt cx="4649902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4985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4649851">
                  <a:moveTo>
                    <a:pt x="0" y="0"/>
                  </a:moveTo>
                  <a:lnTo>
                    <a:pt x="4649851" y="0"/>
                  </a:lnTo>
                  <a:lnTo>
                    <a:pt x="464985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70887" y="1090927"/>
            <a:ext cx="1932937" cy="1932937"/>
            <a:chOff x="0" y="0"/>
            <a:chExt cx="2577249" cy="2577249"/>
          </a:xfrm>
        </p:grpSpPr>
        <p:sp>
          <p:nvSpPr>
            <p:cNvPr name="Freeform 5" id="5" descr="Picture 2"/>
            <p:cNvSpPr/>
            <p:nvPr/>
          </p:nvSpPr>
          <p:spPr>
            <a:xfrm flipH="false" flipV="false" rot="0">
              <a:off x="0" y="0"/>
              <a:ext cx="2577211" cy="2577211"/>
            </a:xfrm>
            <a:custGeom>
              <a:avLst/>
              <a:gdLst/>
              <a:ahLst/>
              <a:cxnLst/>
              <a:rect r="r" b="b" t="t" l="l"/>
              <a:pathLst>
                <a:path h="2577211" w="2577211">
                  <a:moveTo>
                    <a:pt x="0" y="0"/>
                  </a:moveTo>
                  <a:lnTo>
                    <a:pt x="2577211" y="0"/>
                  </a:lnTo>
                  <a:lnTo>
                    <a:pt x="2577211" y="2577211"/>
                  </a:lnTo>
                  <a:lnTo>
                    <a:pt x="0" y="25772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1" b="-1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76527" y="3239767"/>
            <a:ext cx="3121666" cy="774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Axion</a:t>
            </a:r>
          </a:p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Student Research Group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017007" y="2955855"/>
            <a:ext cx="13454377" cy="2069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44"/>
              </a:lnSpc>
            </a:pPr>
            <a:r>
              <a:rPr lang="en-US" sz="4200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Hardware-Efficient Ansatz Design </a:t>
            </a:r>
          </a:p>
          <a:p>
            <a:pPr algn="ctr">
              <a:lnSpc>
                <a:spcPts val="5544"/>
              </a:lnSpc>
            </a:pPr>
            <a:r>
              <a:rPr lang="en-US" sz="4200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and Noise-Aware Analysis of a Variational Quantum Classifier for IQM Spark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804923" y="6608484"/>
            <a:ext cx="13454377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0B1020"/>
                </a:solidFill>
                <a:latin typeface="DM Sans"/>
                <a:ea typeface="DM Sans"/>
                <a:cs typeface="DM Sans"/>
                <a:sym typeface="DM Sans"/>
              </a:rPr>
              <a:t>2026 IEEE International Conference on Quantum Control, Computing and Learning</a:t>
            </a:r>
          </a:p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525C73"/>
                </a:solidFill>
                <a:latin typeface="DM Sans"/>
                <a:ea typeface="DM Sans"/>
                <a:cs typeface="DM Sans"/>
                <a:sym typeface="DM Sans"/>
              </a:rPr>
              <a:t>Aalborg, Denmark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4933114" y="9320527"/>
            <a:ext cx="2858310" cy="744217"/>
            <a:chOff x="0" y="0"/>
            <a:chExt cx="3811079" cy="992289"/>
          </a:xfrm>
        </p:grpSpPr>
        <p:sp>
          <p:nvSpPr>
            <p:cNvPr name="Freeform 10" id="10" descr="Picture 6"/>
            <p:cNvSpPr/>
            <p:nvPr/>
          </p:nvSpPr>
          <p:spPr>
            <a:xfrm flipH="false" flipV="false" rot="0">
              <a:off x="0" y="0"/>
              <a:ext cx="3811143" cy="992251"/>
            </a:xfrm>
            <a:custGeom>
              <a:avLst/>
              <a:gdLst/>
              <a:ahLst/>
              <a:cxnLst/>
              <a:rect r="r" b="b" t="t" l="l"/>
              <a:pathLst>
                <a:path h="992251" w="3811143">
                  <a:moveTo>
                    <a:pt x="0" y="0"/>
                  </a:moveTo>
                  <a:lnTo>
                    <a:pt x="3811143" y="0"/>
                  </a:lnTo>
                  <a:lnTo>
                    <a:pt x="3811143" y="992251"/>
                  </a:lnTo>
                  <a:lnTo>
                    <a:pt x="0" y="9922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82" t="0" r="-681" b="-3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947037" y="9302239"/>
            <a:ext cx="1541574" cy="744217"/>
            <a:chOff x="0" y="0"/>
            <a:chExt cx="2055432" cy="992289"/>
          </a:xfrm>
        </p:grpSpPr>
        <p:sp>
          <p:nvSpPr>
            <p:cNvPr name="Freeform 12" id="12" descr="Picture 7"/>
            <p:cNvSpPr/>
            <p:nvPr/>
          </p:nvSpPr>
          <p:spPr>
            <a:xfrm flipH="false" flipV="false" rot="0">
              <a:off x="0" y="0"/>
              <a:ext cx="2055495" cy="992251"/>
            </a:xfrm>
            <a:custGeom>
              <a:avLst/>
              <a:gdLst/>
              <a:ahLst/>
              <a:cxnLst/>
              <a:rect r="r" b="b" t="t" l="l"/>
              <a:pathLst>
                <a:path h="992251" w="2055495">
                  <a:moveTo>
                    <a:pt x="0" y="0"/>
                  </a:moveTo>
                  <a:lnTo>
                    <a:pt x="2055495" y="0"/>
                  </a:lnTo>
                  <a:lnTo>
                    <a:pt x="2055495" y="992251"/>
                  </a:lnTo>
                  <a:lnTo>
                    <a:pt x="0" y="9922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29" t="0" r="-327" b="-3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4631497" y="5319586"/>
            <a:ext cx="12225396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0B1020"/>
                </a:solidFill>
                <a:latin typeface="DM Sans"/>
                <a:ea typeface="DM Sans"/>
                <a:cs typeface="DM Sans"/>
                <a:sym typeface="DM Sans"/>
              </a:rPr>
              <a:t>Iwo Wojtakajtis*, Maria Płatek*, Rafał Balicki*, Michał Szczęsny*, Karina Leśkiewicz*, Tomasz Kajdanowicz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704337" cy="10299697"/>
            <a:chOff x="0" y="0"/>
            <a:chExt cx="2272449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241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272411">
                  <a:moveTo>
                    <a:pt x="0" y="0"/>
                  </a:moveTo>
                  <a:lnTo>
                    <a:pt x="2272411" y="0"/>
                  </a:lnTo>
                  <a:lnTo>
                    <a:pt x="227241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243" y="377695"/>
            <a:ext cx="1311145" cy="1311145"/>
            <a:chOff x="0" y="0"/>
            <a:chExt cx="1748193" cy="1748193"/>
          </a:xfrm>
        </p:grpSpPr>
        <p:sp>
          <p:nvSpPr>
            <p:cNvPr name="Freeform 5" id="5" descr="Picture 2"/>
            <p:cNvSpPr/>
            <p:nvPr/>
          </p:nvSpPr>
          <p:spPr>
            <a:xfrm flipH="false" flipV="false" rot="0">
              <a:off x="0" y="0"/>
              <a:ext cx="1748155" cy="1748155"/>
            </a:xfrm>
            <a:custGeom>
              <a:avLst/>
              <a:gdLst/>
              <a:ahLst/>
              <a:cxnLst/>
              <a:rect r="r" b="b" t="t" l="l"/>
              <a:pathLst>
                <a:path h="1748155" w="1748155">
                  <a:moveTo>
                    <a:pt x="0" y="0"/>
                  </a:moveTo>
                  <a:lnTo>
                    <a:pt x="1748155" y="0"/>
                  </a:lnTo>
                  <a:lnTo>
                    <a:pt x="1748155" y="1748155"/>
                  </a:lnTo>
                  <a:lnTo>
                    <a:pt x="0" y="174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" b="-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39367" y="1812922"/>
            <a:ext cx="1612897" cy="6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Axion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Student Research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6353" y="9567415"/>
            <a:ext cx="170433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09 / 16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33927" y="1181857"/>
            <a:ext cx="1368623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Idea: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233927" y="2124832"/>
            <a:ext cx="15557497" cy="1252811"/>
            <a:chOff x="0" y="0"/>
            <a:chExt cx="20743329" cy="1670415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20743329" cy="1670415"/>
              <a:chOff x="0" y="0"/>
              <a:chExt cx="20743329" cy="1670415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0743418" cy="1670504"/>
              </a:xfrm>
              <a:custGeom>
                <a:avLst/>
                <a:gdLst/>
                <a:ahLst/>
                <a:cxnLst/>
                <a:rect r="r" b="b" t="t" l="l"/>
                <a:pathLst>
                  <a:path h="1670504" w="20743418">
                    <a:moveTo>
                      <a:pt x="0" y="183804"/>
                    </a:moveTo>
                    <a:cubicBezTo>
                      <a:pt x="0" y="82205"/>
                      <a:pt x="60833" y="0"/>
                      <a:pt x="136017" y="0"/>
                    </a:cubicBezTo>
                    <a:lnTo>
                      <a:pt x="20607401" y="0"/>
                    </a:lnTo>
                    <a:cubicBezTo>
                      <a:pt x="20682458" y="0"/>
                      <a:pt x="20743418" y="82205"/>
                      <a:pt x="20743418" y="183804"/>
                    </a:cubicBezTo>
                    <a:lnTo>
                      <a:pt x="20743418" y="1486732"/>
                    </a:lnTo>
                    <a:cubicBezTo>
                      <a:pt x="20743418" y="1588158"/>
                      <a:pt x="20682586" y="1670504"/>
                      <a:pt x="20607401" y="1670504"/>
                    </a:cubicBezTo>
                    <a:lnTo>
                      <a:pt x="136017" y="1670504"/>
                    </a:lnTo>
                    <a:cubicBezTo>
                      <a:pt x="60833" y="1670364"/>
                      <a:pt x="0" y="1588158"/>
                      <a:pt x="0" y="1486732"/>
                    </a:cubicBezTo>
                    <a:close/>
                  </a:path>
                </a:pathLst>
              </a:custGeom>
              <a:solidFill>
                <a:srgbClr val="ECEFF8"/>
              </a:solid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463296" y="217589"/>
              <a:ext cx="19816737" cy="1204027"/>
              <a:chOff x="0" y="0"/>
              <a:chExt cx="19816737" cy="1204027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9816741" cy="1204033"/>
              </a:xfrm>
              <a:custGeom>
                <a:avLst/>
                <a:gdLst/>
                <a:ahLst/>
                <a:cxnLst/>
                <a:rect r="r" b="b" t="t" l="l"/>
                <a:pathLst>
                  <a:path h="1204033" w="19816741">
                    <a:moveTo>
                      <a:pt x="0" y="0"/>
                    </a:moveTo>
                    <a:lnTo>
                      <a:pt x="19816741" y="0"/>
                    </a:lnTo>
                    <a:lnTo>
                      <a:pt x="19816741" y="1204033"/>
                    </a:lnTo>
                    <a:lnTo>
                      <a:pt x="0" y="1204033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03117" r="0" b="-238276"/>
                </a:stretch>
              </a:blip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9525"/>
                <a:ext cx="19816737" cy="121355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44"/>
                  </a:lnSpc>
                </a:pPr>
                <a:r>
                  <a:rPr lang="en-US" sz="2599">
                    <a:solidFill>
                      <a:srgbClr val="191E3A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Measuring problem metrics on QPU is computationally heavy. We need protocol to evaluate ansatz with smaller cost. </a:t>
                </a: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15217673" y="9384535"/>
            <a:ext cx="2573750" cy="671065"/>
            <a:chOff x="0" y="0"/>
            <a:chExt cx="3431667" cy="894753"/>
          </a:xfrm>
        </p:grpSpPr>
        <p:sp>
          <p:nvSpPr>
            <p:cNvPr name="Freeform 16" id="16" descr="Picture 17"/>
            <p:cNvSpPr/>
            <p:nvPr/>
          </p:nvSpPr>
          <p:spPr>
            <a:xfrm flipH="false" flipV="false" rot="0">
              <a:off x="0" y="0"/>
              <a:ext cx="3431667" cy="894715"/>
            </a:xfrm>
            <a:custGeom>
              <a:avLst/>
              <a:gdLst/>
              <a:ahLst/>
              <a:cxnLst/>
              <a:rect r="r" b="b" t="t" l="l"/>
              <a:pathLst>
                <a:path h="894715" w="3431667">
                  <a:moveTo>
                    <a:pt x="0" y="0"/>
                  </a:moveTo>
                  <a:lnTo>
                    <a:pt x="3431667" y="0"/>
                  </a:lnTo>
                  <a:lnTo>
                    <a:pt x="3431667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53" t="0" r="-753" b="-4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430212" y="9366247"/>
            <a:ext cx="1388688" cy="671065"/>
            <a:chOff x="0" y="0"/>
            <a:chExt cx="1851584" cy="894753"/>
          </a:xfrm>
        </p:grpSpPr>
        <p:sp>
          <p:nvSpPr>
            <p:cNvPr name="Freeform 18" id="18" descr="Picture 18"/>
            <p:cNvSpPr/>
            <p:nvPr/>
          </p:nvSpPr>
          <p:spPr>
            <a:xfrm flipH="false" flipV="false" rot="0">
              <a:off x="0" y="0"/>
              <a:ext cx="1851533" cy="894715"/>
            </a:xfrm>
            <a:custGeom>
              <a:avLst/>
              <a:gdLst/>
              <a:ahLst/>
              <a:cxnLst/>
              <a:rect r="r" b="b" t="t" l="l"/>
              <a:pathLst>
                <a:path h="894715" w="1851533">
                  <a:moveTo>
                    <a:pt x="0" y="0"/>
                  </a:moveTo>
                  <a:lnTo>
                    <a:pt x="1851533" y="0"/>
                  </a:lnTo>
                  <a:lnTo>
                    <a:pt x="1851533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79" t="0" r="-382" b="-4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704337" cy="10299697"/>
            <a:chOff x="0" y="0"/>
            <a:chExt cx="2272449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241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272411">
                  <a:moveTo>
                    <a:pt x="0" y="0"/>
                  </a:moveTo>
                  <a:lnTo>
                    <a:pt x="2272411" y="0"/>
                  </a:lnTo>
                  <a:lnTo>
                    <a:pt x="227241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243" y="377695"/>
            <a:ext cx="1311145" cy="1311145"/>
            <a:chOff x="0" y="0"/>
            <a:chExt cx="1748193" cy="1748193"/>
          </a:xfrm>
        </p:grpSpPr>
        <p:sp>
          <p:nvSpPr>
            <p:cNvPr name="Freeform 5" id="5" descr="Picture 2"/>
            <p:cNvSpPr/>
            <p:nvPr/>
          </p:nvSpPr>
          <p:spPr>
            <a:xfrm flipH="false" flipV="false" rot="0">
              <a:off x="0" y="0"/>
              <a:ext cx="1748155" cy="1748155"/>
            </a:xfrm>
            <a:custGeom>
              <a:avLst/>
              <a:gdLst/>
              <a:ahLst/>
              <a:cxnLst/>
              <a:rect r="r" b="b" t="t" l="l"/>
              <a:pathLst>
                <a:path h="1748155" w="1748155">
                  <a:moveTo>
                    <a:pt x="0" y="0"/>
                  </a:moveTo>
                  <a:lnTo>
                    <a:pt x="1748155" y="0"/>
                  </a:lnTo>
                  <a:lnTo>
                    <a:pt x="1748155" y="1748155"/>
                  </a:lnTo>
                  <a:lnTo>
                    <a:pt x="0" y="174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" b="-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39367" y="1812922"/>
            <a:ext cx="1612897" cy="6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Axion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Student Research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6353" y="9567415"/>
            <a:ext cx="170433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09 / 16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33927" y="1181857"/>
            <a:ext cx="1368623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Idea: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233927" y="2124832"/>
            <a:ext cx="15557497" cy="1252811"/>
            <a:chOff x="0" y="0"/>
            <a:chExt cx="20743329" cy="1670415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20743329" cy="1670415"/>
              <a:chOff x="0" y="0"/>
              <a:chExt cx="20743329" cy="1670415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0743418" cy="1670504"/>
              </a:xfrm>
              <a:custGeom>
                <a:avLst/>
                <a:gdLst/>
                <a:ahLst/>
                <a:cxnLst/>
                <a:rect r="r" b="b" t="t" l="l"/>
                <a:pathLst>
                  <a:path h="1670504" w="20743418">
                    <a:moveTo>
                      <a:pt x="0" y="183804"/>
                    </a:moveTo>
                    <a:cubicBezTo>
                      <a:pt x="0" y="82205"/>
                      <a:pt x="60833" y="0"/>
                      <a:pt x="136017" y="0"/>
                    </a:cubicBezTo>
                    <a:lnTo>
                      <a:pt x="20607401" y="0"/>
                    </a:lnTo>
                    <a:cubicBezTo>
                      <a:pt x="20682458" y="0"/>
                      <a:pt x="20743418" y="82205"/>
                      <a:pt x="20743418" y="183804"/>
                    </a:cubicBezTo>
                    <a:lnTo>
                      <a:pt x="20743418" y="1486732"/>
                    </a:lnTo>
                    <a:cubicBezTo>
                      <a:pt x="20743418" y="1588158"/>
                      <a:pt x="20682586" y="1670504"/>
                      <a:pt x="20607401" y="1670504"/>
                    </a:cubicBezTo>
                    <a:lnTo>
                      <a:pt x="136017" y="1670504"/>
                    </a:lnTo>
                    <a:cubicBezTo>
                      <a:pt x="60833" y="1670364"/>
                      <a:pt x="0" y="1588158"/>
                      <a:pt x="0" y="1486732"/>
                    </a:cubicBezTo>
                    <a:close/>
                  </a:path>
                </a:pathLst>
              </a:custGeom>
              <a:solidFill>
                <a:srgbClr val="ECEFF8"/>
              </a:solid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463296" y="217589"/>
              <a:ext cx="19816737" cy="1204027"/>
              <a:chOff x="0" y="0"/>
              <a:chExt cx="19816737" cy="1204027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9816741" cy="1204033"/>
              </a:xfrm>
              <a:custGeom>
                <a:avLst/>
                <a:gdLst/>
                <a:ahLst/>
                <a:cxnLst/>
                <a:rect r="r" b="b" t="t" l="l"/>
                <a:pathLst>
                  <a:path h="1204033" w="19816741">
                    <a:moveTo>
                      <a:pt x="0" y="0"/>
                    </a:moveTo>
                    <a:lnTo>
                      <a:pt x="19816741" y="0"/>
                    </a:lnTo>
                    <a:lnTo>
                      <a:pt x="19816741" y="1204033"/>
                    </a:lnTo>
                    <a:lnTo>
                      <a:pt x="0" y="1204033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03117" r="0" b="-238276"/>
                </a:stretch>
              </a:blip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9525"/>
                <a:ext cx="19816737" cy="121355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44"/>
                  </a:lnSpc>
                </a:pPr>
                <a:r>
                  <a:rPr lang="en-US" sz="2599">
                    <a:solidFill>
                      <a:srgbClr val="191E3A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Measuring problem metrics on QPU is computationally heavy. We need protocol to evaluate ansatz with smaller cost. </a:t>
                </a: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15217673" y="9384535"/>
            <a:ext cx="2573750" cy="671065"/>
            <a:chOff x="0" y="0"/>
            <a:chExt cx="3431667" cy="894753"/>
          </a:xfrm>
        </p:grpSpPr>
        <p:sp>
          <p:nvSpPr>
            <p:cNvPr name="Freeform 16" id="16" descr="Picture 17"/>
            <p:cNvSpPr/>
            <p:nvPr/>
          </p:nvSpPr>
          <p:spPr>
            <a:xfrm flipH="false" flipV="false" rot="0">
              <a:off x="0" y="0"/>
              <a:ext cx="3431667" cy="894715"/>
            </a:xfrm>
            <a:custGeom>
              <a:avLst/>
              <a:gdLst/>
              <a:ahLst/>
              <a:cxnLst/>
              <a:rect r="r" b="b" t="t" l="l"/>
              <a:pathLst>
                <a:path h="894715" w="3431667">
                  <a:moveTo>
                    <a:pt x="0" y="0"/>
                  </a:moveTo>
                  <a:lnTo>
                    <a:pt x="3431667" y="0"/>
                  </a:lnTo>
                  <a:lnTo>
                    <a:pt x="3431667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53" t="0" r="-753" b="-4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430212" y="9366247"/>
            <a:ext cx="1388688" cy="671065"/>
            <a:chOff x="0" y="0"/>
            <a:chExt cx="1851584" cy="894753"/>
          </a:xfrm>
        </p:grpSpPr>
        <p:sp>
          <p:nvSpPr>
            <p:cNvPr name="Freeform 18" id="18" descr="Picture 18"/>
            <p:cNvSpPr/>
            <p:nvPr/>
          </p:nvSpPr>
          <p:spPr>
            <a:xfrm flipH="false" flipV="false" rot="0">
              <a:off x="0" y="0"/>
              <a:ext cx="1851533" cy="894715"/>
            </a:xfrm>
            <a:custGeom>
              <a:avLst/>
              <a:gdLst/>
              <a:ahLst/>
              <a:cxnLst/>
              <a:rect r="r" b="b" t="t" l="l"/>
              <a:pathLst>
                <a:path h="894715" w="1851533">
                  <a:moveTo>
                    <a:pt x="0" y="0"/>
                  </a:moveTo>
                  <a:lnTo>
                    <a:pt x="1851533" y="0"/>
                  </a:lnTo>
                  <a:lnTo>
                    <a:pt x="1851533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79" t="0" r="-382" b="-4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2233927" y="4023381"/>
            <a:ext cx="260226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Problem: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2233927" y="4966356"/>
            <a:ext cx="15557497" cy="903020"/>
            <a:chOff x="0" y="0"/>
            <a:chExt cx="20743329" cy="1204027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20743329" cy="1204027"/>
              <a:chOff x="0" y="0"/>
              <a:chExt cx="20743329" cy="1204027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0743418" cy="1204116"/>
              </a:xfrm>
              <a:custGeom>
                <a:avLst/>
                <a:gdLst/>
                <a:ahLst/>
                <a:cxnLst/>
                <a:rect r="r" b="b" t="t" l="l"/>
                <a:pathLst>
                  <a:path h="1204116" w="20743418">
                    <a:moveTo>
                      <a:pt x="0" y="132485"/>
                    </a:moveTo>
                    <a:cubicBezTo>
                      <a:pt x="0" y="59253"/>
                      <a:pt x="60833" y="0"/>
                      <a:pt x="136017" y="0"/>
                    </a:cubicBezTo>
                    <a:lnTo>
                      <a:pt x="20607401" y="0"/>
                    </a:lnTo>
                    <a:cubicBezTo>
                      <a:pt x="20682458" y="0"/>
                      <a:pt x="20743418" y="59253"/>
                      <a:pt x="20743418" y="132485"/>
                    </a:cubicBezTo>
                    <a:lnTo>
                      <a:pt x="20743418" y="1071629"/>
                    </a:lnTo>
                    <a:cubicBezTo>
                      <a:pt x="20743418" y="1144737"/>
                      <a:pt x="20682586" y="1204116"/>
                      <a:pt x="20607401" y="1204116"/>
                    </a:cubicBezTo>
                    <a:lnTo>
                      <a:pt x="136017" y="1204116"/>
                    </a:lnTo>
                    <a:cubicBezTo>
                      <a:pt x="60833" y="1203990"/>
                      <a:pt x="0" y="1144737"/>
                      <a:pt x="0" y="1071629"/>
                    </a:cubicBezTo>
                    <a:close/>
                  </a:path>
                </a:pathLst>
              </a:custGeom>
              <a:solidFill>
                <a:srgbClr val="ECEFF8"/>
              </a:solidFill>
            </p:spPr>
          </p:sp>
        </p:grpSp>
        <p:grpSp>
          <p:nvGrpSpPr>
            <p:cNvPr name="Group 23" id="23"/>
            <p:cNvGrpSpPr/>
            <p:nvPr/>
          </p:nvGrpSpPr>
          <p:grpSpPr>
            <a:xfrm rot="0">
              <a:off x="463296" y="273050"/>
              <a:ext cx="19816737" cy="657927"/>
              <a:chOff x="0" y="0"/>
              <a:chExt cx="19816737" cy="657927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9816741" cy="657933"/>
              </a:xfrm>
              <a:custGeom>
                <a:avLst/>
                <a:gdLst/>
                <a:ahLst/>
                <a:cxnLst/>
                <a:rect r="r" b="b" t="t" l="l"/>
                <a:pathLst>
                  <a:path h="657933" w="19816741">
                    <a:moveTo>
                      <a:pt x="0" y="0"/>
                    </a:moveTo>
                    <a:lnTo>
                      <a:pt x="19816741" y="0"/>
                    </a:lnTo>
                    <a:lnTo>
                      <a:pt x="19816741" y="657933"/>
                    </a:lnTo>
                    <a:lnTo>
                      <a:pt x="0" y="657933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554712" r="0" b="-519054"/>
                </a:stretch>
              </a:blip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9525"/>
                <a:ext cx="19816737" cy="66745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44"/>
                  </a:lnSpc>
                </a:pPr>
                <a:r>
                  <a:rPr lang="en-US" sz="2599">
                    <a:solidFill>
                      <a:srgbClr val="191E3A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Simulator based test results don’t always align with their hardware equivalents. </a:t>
                </a:r>
              </a:p>
            </p:txBody>
          </p:sp>
        </p:grpSp>
      </p:grp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704337" cy="10299697"/>
            <a:chOff x="0" y="0"/>
            <a:chExt cx="2272449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241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272411">
                  <a:moveTo>
                    <a:pt x="0" y="0"/>
                  </a:moveTo>
                  <a:lnTo>
                    <a:pt x="2272411" y="0"/>
                  </a:lnTo>
                  <a:lnTo>
                    <a:pt x="227241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243" y="377695"/>
            <a:ext cx="1311145" cy="1311145"/>
            <a:chOff x="0" y="0"/>
            <a:chExt cx="1748193" cy="1748193"/>
          </a:xfrm>
        </p:grpSpPr>
        <p:sp>
          <p:nvSpPr>
            <p:cNvPr name="Freeform 5" id="5" descr="Picture 2"/>
            <p:cNvSpPr/>
            <p:nvPr/>
          </p:nvSpPr>
          <p:spPr>
            <a:xfrm flipH="false" flipV="false" rot="0">
              <a:off x="0" y="0"/>
              <a:ext cx="1748155" cy="1748155"/>
            </a:xfrm>
            <a:custGeom>
              <a:avLst/>
              <a:gdLst/>
              <a:ahLst/>
              <a:cxnLst/>
              <a:rect r="r" b="b" t="t" l="l"/>
              <a:pathLst>
                <a:path h="1748155" w="1748155">
                  <a:moveTo>
                    <a:pt x="0" y="0"/>
                  </a:moveTo>
                  <a:lnTo>
                    <a:pt x="1748155" y="0"/>
                  </a:lnTo>
                  <a:lnTo>
                    <a:pt x="1748155" y="1748155"/>
                  </a:lnTo>
                  <a:lnTo>
                    <a:pt x="0" y="174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" b="-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39367" y="1812922"/>
            <a:ext cx="1612897" cy="6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Axion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Student Research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6353" y="9567415"/>
            <a:ext cx="170433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09 / 16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33927" y="1181857"/>
            <a:ext cx="1368623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Idea: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233927" y="2124832"/>
            <a:ext cx="15557497" cy="1252811"/>
            <a:chOff x="0" y="0"/>
            <a:chExt cx="20743329" cy="1670415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20743329" cy="1670415"/>
              <a:chOff x="0" y="0"/>
              <a:chExt cx="20743329" cy="1670415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0743418" cy="1670504"/>
              </a:xfrm>
              <a:custGeom>
                <a:avLst/>
                <a:gdLst/>
                <a:ahLst/>
                <a:cxnLst/>
                <a:rect r="r" b="b" t="t" l="l"/>
                <a:pathLst>
                  <a:path h="1670504" w="20743418">
                    <a:moveTo>
                      <a:pt x="0" y="183804"/>
                    </a:moveTo>
                    <a:cubicBezTo>
                      <a:pt x="0" y="82205"/>
                      <a:pt x="60833" y="0"/>
                      <a:pt x="136017" y="0"/>
                    </a:cubicBezTo>
                    <a:lnTo>
                      <a:pt x="20607401" y="0"/>
                    </a:lnTo>
                    <a:cubicBezTo>
                      <a:pt x="20682458" y="0"/>
                      <a:pt x="20743418" y="82205"/>
                      <a:pt x="20743418" y="183804"/>
                    </a:cubicBezTo>
                    <a:lnTo>
                      <a:pt x="20743418" y="1486732"/>
                    </a:lnTo>
                    <a:cubicBezTo>
                      <a:pt x="20743418" y="1588158"/>
                      <a:pt x="20682586" y="1670504"/>
                      <a:pt x="20607401" y="1670504"/>
                    </a:cubicBezTo>
                    <a:lnTo>
                      <a:pt x="136017" y="1670504"/>
                    </a:lnTo>
                    <a:cubicBezTo>
                      <a:pt x="60833" y="1670364"/>
                      <a:pt x="0" y="1588158"/>
                      <a:pt x="0" y="1486732"/>
                    </a:cubicBezTo>
                    <a:close/>
                  </a:path>
                </a:pathLst>
              </a:custGeom>
              <a:solidFill>
                <a:srgbClr val="ECEFF8"/>
              </a:solid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463296" y="217589"/>
              <a:ext cx="19816737" cy="1204027"/>
              <a:chOff x="0" y="0"/>
              <a:chExt cx="19816737" cy="1204027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9816741" cy="1204033"/>
              </a:xfrm>
              <a:custGeom>
                <a:avLst/>
                <a:gdLst/>
                <a:ahLst/>
                <a:cxnLst/>
                <a:rect r="r" b="b" t="t" l="l"/>
                <a:pathLst>
                  <a:path h="1204033" w="19816741">
                    <a:moveTo>
                      <a:pt x="0" y="0"/>
                    </a:moveTo>
                    <a:lnTo>
                      <a:pt x="19816741" y="0"/>
                    </a:lnTo>
                    <a:lnTo>
                      <a:pt x="19816741" y="1204033"/>
                    </a:lnTo>
                    <a:lnTo>
                      <a:pt x="0" y="1204033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03117" r="0" b="-238276"/>
                </a:stretch>
              </a:blip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9525"/>
                <a:ext cx="19816737" cy="121355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44"/>
                  </a:lnSpc>
                </a:pPr>
                <a:r>
                  <a:rPr lang="en-US" sz="2599">
                    <a:solidFill>
                      <a:srgbClr val="191E3A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Measuring problem metrics on QPU is computationally heavy. We need protocol to evaluate ansatz with smaller cost. </a:t>
                </a: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15217673" y="9384535"/>
            <a:ext cx="2573750" cy="671065"/>
            <a:chOff x="0" y="0"/>
            <a:chExt cx="3431667" cy="894753"/>
          </a:xfrm>
        </p:grpSpPr>
        <p:sp>
          <p:nvSpPr>
            <p:cNvPr name="Freeform 16" id="16" descr="Picture 17"/>
            <p:cNvSpPr/>
            <p:nvPr/>
          </p:nvSpPr>
          <p:spPr>
            <a:xfrm flipH="false" flipV="false" rot="0">
              <a:off x="0" y="0"/>
              <a:ext cx="3431667" cy="894715"/>
            </a:xfrm>
            <a:custGeom>
              <a:avLst/>
              <a:gdLst/>
              <a:ahLst/>
              <a:cxnLst/>
              <a:rect r="r" b="b" t="t" l="l"/>
              <a:pathLst>
                <a:path h="894715" w="3431667">
                  <a:moveTo>
                    <a:pt x="0" y="0"/>
                  </a:moveTo>
                  <a:lnTo>
                    <a:pt x="3431667" y="0"/>
                  </a:lnTo>
                  <a:lnTo>
                    <a:pt x="3431667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53" t="0" r="-753" b="-4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430212" y="9366247"/>
            <a:ext cx="1388688" cy="671065"/>
            <a:chOff x="0" y="0"/>
            <a:chExt cx="1851584" cy="894753"/>
          </a:xfrm>
        </p:grpSpPr>
        <p:sp>
          <p:nvSpPr>
            <p:cNvPr name="Freeform 18" id="18" descr="Picture 18"/>
            <p:cNvSpPr/>
            <p:nvPr/>
          </p:nvSpPr>
          <p:spPr>
            <a:xfrm flipH="false" flipV="false" rot="0">
              <a:off x="0" y="0"/>
              <a:ext cx="1851533" cy="894715"/>
            </a:xfrm>
            <a:custGeom>
              <a:avLst/>
              <a:gdLst/>
              <a:ahLst/>
              <a:cxnLst/>
              <a:rect r="r" b="b" t="t" l="l"/>
              <a:pathLst>
                <a:path h="894715" w="1851533">
                  <a:moveTo>
                    <a:pt x="0" y="0"/>
                  </a:moveTo>
                  <a:lnTo>
                    <a:pt x="1851533" y="0"/>
                  </a:lnTo>
                  <a:lnTo>
                    <a:pt x="1851533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79" t="0" r="-382" b="-4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2233927" y="4023381"/>
            <a:ext cx="260226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Problem: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2233927" y="4966356"/>
            <a:ext cx="15557497" cy="903020"/>
            <a:chOff x="0" y="0"/>
            <a:chExt cx="20743329" cy="1204027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20743329" cy="1204027"/>
              <a:chOff x="0" y="0"/>
              <a:chExt cx="20743329" cy="1204027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0743418" cy="1204116"/>
              </a:xfrm>
              <a:custGeom>
                <a:avLst/>
                <a:gdLst/>
                <a:ahLst/>
                <a:cxnLst/>
                <a:rect r="r" b="b" t="t" l="l"/>
                <a:pathLst>
                  <a:path h="1204116" w="20743418">
                    <a:moveTo>
                      <a:pt x="0" y="132485"/>
                    </a:moveTo>
                    <a:cubicBezTo>
                      <a:pt x="0" y="59253"/>
                      <a:pt x="60833" y="0"/>
                      <a:pt x="136017" y="0"/>
                    </a:cubicBezTo>
                    <a:lnTo>
                      <a:pt x="20607401" y="0"/>
                    </a:lnTo>
                    <a:cubicBezTo>
                      <a:pt x="20682458" y="0"/>
                      <a:pt x="20743418" y="59253"/>
                      <a:pt x="20743418" y="132485"/>
                    </a:cubicBezTo>
                    <a:lnTo>
                      <a:pt x="20743418" y="1071629"/>
                    </a:lnTo>
                    <a:cubicBezTo>
                      <a:pt x="20743418" y="1144737"/>
                      <a:pt x="20682586" y="1204116"/>
                      <a:pt x="20607401" y="1204116"/>
                    </a:cubicBezTo>
                    <a:lnTo>
                      <a:pt x="136017" y="1204116"/>
                    </a:lnTo>
                    <a:cubicBezTo>
                      <a:pt x="60833" y="1203990"/>
                      <a:pt x="0" y="1144737"/>
                      <a:pt x="0" y="1071629"/>
                    </a:cubicBezTo>
                    <a:close/>
                  </a:path>
                </a:pathLst>
              </a:custGeom>
              <a:solidFill>
                <a:srgbClr val="ECEFF8"/>
              </a:solidFill>
            </p:spPr>
          </p:sp>
        </p:grpSp>
        <p:grpSp>
          <p:nvGrpSpPr>
            <p:cNvPr name="Group 23" id="23"/>
            <p:cNvGrpSpPr/>
            <p:nvPr/>
          </p:nvGrpSpPr>
          <p:grpSpPr>
            <a:xfrm rot="0">
              <a:off x="463296" y="273050"/>
              <a:ext cx="19816737" cy="657927"/>
              <a:chOff x="0" y="0"/>
              <a:chExt cx="19816737" cy="657927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9816741" cy="657933"/>
              </a:xfrm>
              <a:custGeom>
                <a:avLst/>
                <a:gdLst/>
                <a:ahLst/>
                <a:cxnLst/>
                <a:rect r="r" b="b" t="t" l="l"/>
                <a:pathLst>
                  <a:path h="657933" w="19816741">
                    <a:moveTo>
                      <a:pt x="0" y="0"/>
                    </a:moveTo>
                    <a:lnTo>
                      <a:pt x="19816741" y="0"/>
                    </a:lnTo>
                    <a:lnTo>
                      <a:pt x="19816741" y="657933"/>
                    </a:lnTo>
                    <a:lnTo>
                      <a:pt x="0" y="657933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554712" r="0" b="-519054"/>
                </a:stretch>
              </a:blip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9525"/>
                <a:ext cx="19816737" cy="66745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44"/>
                  </a:lnSpc>
                </a:pPr>
                <a:r>
                  <a:rPr lang="en-US" sz="2599">
                    <a:solidFill>
                      <a:srgbClr val="191E3A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Simulator based test results don’t always align with their hardware equivalents. </a:t>
                </a:r>
              </a:p>
            </p:txBody>
          </p:sp>
        </p:grpSp>
      </p:grpSp>
      <p:sp>
        <p:nvSpPr>
          <p:cNvPr name="TextBox 26" id="26"/>
          <p:cNvSpPr txBox="true"/>
          <p:nvPr/>
        </p:nvSpPr>
        <p:spPr>
          <a:xfrm rot="0">
            <a:off x="2275524" y="6517077"/>
            <a:ext cx="2560662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Solution: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2233927" y="7460052"/>
            <a:ext cx="15557497" cy="903020"/>
            <a:chOff x="0" y="0"/>
            <a:chExt cx="20743329" cy="1204027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20743329" cy="1204027"/>
              <a:chOff x="0" y="0"/>
              <a:chExt cx="20743329" cy="1204027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20743418" cy="1204116"/>
              </a:xfrm>
              <a:custGeom>
                <a:avLst/>
                <a:gdLst/>
                <a:ahLst/>
                <a:cxnLst/>
                <a:rect r="r" b="b" t="t" l="l"/>
                <a:pathLst>
                  <a:path h="1204116" w="20743418">
                    <a:moveTo>
                      <a:pt x="0" y="132485"/>
                    </a:moveTo>
                    <a:cubicBezTo>
                      <a:pt x="0" y="59253"/>
                      <a:pt x="60833" y="0"/>
                      <a:pt x="136017" y="0"/>
                    </a:cubicBezTo>
                    <a:lnTo>
                      <a:pt x="20607401" y="0"/>
                    </a:lnTo>
                    <a:cubicBezTo>
                      <a:pt x="20682458" y="0"/>
                      <a:pt x="20743418" y="59253"/>
                      <a:pt x="20743418" y="132485"/>
                    </a:cubicBezTo>
                    <a:lnTo>
                      <a:pt x="20743418" y="1071629"/>
                    </a:lnTo>
                    <a:cubicBezTo>
                      <a:pt x="20743418" y="1144737"/>
                      <a:pt x="20682586" y="1204116"/>
                      <a:pt x="20607401" y="1204116"/>
                    </a:cubicBezTo>
                    <a:lnTo>
                      <a:pt x="136017" y="1204116"/>
                    </a:lnTo>
                    <a:cubicBezTo>
                      <a:pt x="60833" y="1203990"/>
                      <a:pt x="0" y="1144737"/>
                      <a:pt x="0" y="1071629"/>
                    </a:cubicBezTo>
                    <a:close/>
                  </a:path>
                </a:pathLst>
              </a:custGeom>
              <a:solidFill>
                <a:srgbClr val="ECEFF8"/>
              </a:solidFill>
            </p:spPr>
          </p:sp>
        </p:grpSp>
        <p:grpSp>
          <p:nvGrpSpPr>
            <p:cNvPr name="Group 30" id="30"/>
            <p:cNvGrpSpPr/>
            <p:nvPr/>
          </p:nvGrpSpPr>
          <p:grpSpPr>
            <a:xfrm rot="0">
              <a:off x="475996" y="273050"/>
              <a:ext cx="19816737" cy="657927"/>
              <a:chOff x="0" y="0"/>
              <a:chExt cx="19816737" cy="657927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9816741" cy="657933"/>
              </a:xfrm>
              <a:custGeom>
                <a:avLst/>
                <a:gdLst/>
                <a:ahLst/>
                <a:cxnLst/>
                <a:rect r="r" b="b" t="t" l="l"/>
                <a:pathLst>
                  <a:path h="657933" w="19816741">
                    <a:moveTo>
                      <a:pt x="0" y="0"/>
                    </a:moveTo>
                    <a:lnTo>
                      <a:pt x="19816741" y="0"/>
                    </a:lnTo>
                    <a:lnTo>
                      <a:pt x="19816741" y="657933"/>
                    </a:lnTo>
                    <a:lnTo>
                      <a:pt x="0" y="657933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554712" r="0" b="-519054"/>
                </a:stretch>
              </a:blip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9525"/>
                <a:ext cx="19816737" cy="66745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44"/>
                  </a:lnSpc>
                </a:pPr>
                <a:r>
                  <a:rPr lang="en-US" sz="2599">
                    <a:solidFill>
                      <a:srgbClr val="191E3A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We propose a protocol fully based on hardware computation.</a:t>
                </a:r>
              </a:p>
            </p:txBody>
          </p:sp>
        </p:grpSp>
      </p:grp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704337" cy="10299697"/>
            <a:chOff x="0" y="0"/>
            <a:chExt cx="2272449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241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272411">
                  <a:moveTo>
                    <a:pt x="0" y="0"/>
                  </a:moveTo>
                  <a:lnTo>
                    <a:pt x="2272411" y="0"/>
                  </a:lnTo>
                  <a:lnTo>
                    <a:pt x="227241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243" y="377695"/>
            <a:ext cx="1311145" cy="1311145"/>
            <a:chOff x="0" y="0"/>
            <a:chExt cx="1748193" cy="1748193"/>
          </a:xfrm>
        </p:grpSpPr>
        <p:sp>
          <p:nvSpPr>
            <p:cNvPr name="Freeform 5" id="5" descr="Picture 2"/>
            <p:cNvSpPr/>
            <p:nvPr/>
          </p:nvSpPr>
          <p:spPr>
            <a:xfrm flipH="false" flipV="false" rot="0">
              <a:off x="0" y="0"/>
              <a:ext cx="1748155" cy="1748155"/>
            </a:xfrm>
            <a:custGeom>
              <a:avLst/>
              <a:gdLst/>
              <a:ahLst/>
              <a:cxnLst/>
              <a:rect r="r" b="b" t="t" l="l"/>
              <a:pathLst>
                <a:path h="1748155" w="1748155">
                  <a:moveTo>
                    <a:pt x="0" y="0"/>
                  </a:moveTo>
                  <a:lnTo>
                    <a:pt x="1748155" y="0"/>
                  </a:lnTo>
                  <a:lnTo>
                    <a:pt x="1748155" y="1748155"/>
                  </a:lnTo>
                  <a:lnTo>
                    <a:pt x="0" y="174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" b="-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39367" y="1812922"/>
            <a:ext cx="1612897" cy="6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Axion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Student Research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6353" y="9567415"/>
            <a:ext cx="170433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09 / 16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28957" y="1184272"/>
            <a:ext cx="10346531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A QPU-Side Verification Framework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128957" y="2427218"/>
            <a:ext cx="15557497" cy="927097"/>
            <a:chOff x="0" y="0"/>
            <a:chExt cx="20743329" cy="123612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743418" cy="1236218"/>
            </a:xfrm>
            <a:custGeom>
              <a:avLst/>
              <a:gdLst/>
              <a:ahLst/>
              <a:cxnLst/>
              <a:rect r="r" b="b" t="t" l="l"/>
              <a:pathLst>
                <a:path h="1236218" w="20743418">
                  <a:moveTo>
                    <a:pt x="0" y="136017"/>
                  </a:moveTo>
                  <a:cubicBezTo>
                    <a:pt x="0" y="60833"/>
                    <a:pt x="60833" y="0"/>
                    <a:pt x="136017" y="0"/>
                  </a:cubicBezTo>
                  <a:lnTo>
                    <a:pt x="20607401" y="0"/>
                  </a:lnTo>
                  <a:cubicBezTo>
                    <a:pt x="20682458" y="0"/>
                    <a:pt x="20743418" y="60833"/>
                    <a:pt x="20743418" y="136017"/>
                  </a:cubicBezTo>
                  <a:lnTo>
                    <a:pt x="20743418" y="1100201"/>
                  </a:lnTo>
                  <a:cubicBezTo>
                    <a:pt x="20743418" y="1175258"/>
                    <a:pt x="20682586" y="1236218"/>
                    <a:pt x="20607401" y="1236218"/>
                  </a:cubicBezTo>
                  <a:lnTo>
                    <a:pt x="136017" y="1236218"/>
                  </a:lnTo>
                  <a:cubicBezTo>
                    <a:pt x="60833" y="1236091"/>
                    <a:pt x="0" y="1175258"/>
                    <a:pt x="0" y="1100201"/>
                  </a:cubicBezTo>
                  <a:close/>
                </a:path>
              </a:pathLst>
            </a:custGeom>
            <a:solidFill>
              <a:srgbClr val="ECEFF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476429" y="2590409"/>
            <a:ext cx="14862553" cy="493445"/>
            <a:chOff x="0" y="0"/>
            <a:chExt cx="19816737" cy="6579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816741" cy="657933"/>
            </a:xfrm>
            <a:custGeom>
              <a:avLst/>
              <a:gdLst/>
              <a:ahLst/>
              <a:cxnLst/>
              <a:rect r="r" b="b" t="t" l="l"/>
              <a:pathLst>
                <a:path h="657933" w="19816741">
                  <a:moveTo>
                    <a:pt x="0" y="0"/>
                  </a:moveTo>
                  <a:lnTo>
                    <a:pt x="19816741" y="0"/>
                  </a:lnTo>
                  <a:lnTo>
                    <a:pt x="19816741" y="657933"/>
                  </a:lnTo>
                  <a:lnTo>
                    <a:pt x="0" y="6579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4712" r="0" b="-51905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9816737" cy="6674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4"/>
                </a:lnSpc>
              </a:pPr>
              <a:r>
                <a:rPr lang="en-US" sz="2599">
                  <a:solidFill>
                    <a:srgbClr val="191E3A"/>
                  </a:solidFill>
                  <a:latin typeface="DM Sans"/>
                  <a:ea typeface="DM Sans"/>
                  <a:cs typeface="DM Sans"/>
                  <a:sym typeface="DM Sans"/>
                </a:rPr>
                <a:t>Our contribution: </a:t>
              </a:r>
              <a:r>
                <a:rPr lang="en-US" sz="2599" i="true">
                  <a:solidFill>
                    <a:srgbClr val="191E3A"/>
                  </a:solidFill>
                  <a:latin typeface="DM Sans Italics"/>
                  <a:ea typeface="DM Sans Italics"/>
                  <a:cs typeface="DM Sans Italics"/>
                  <a:sym typeface="DM Sans Italics"/>
                </a:rPr>
                <a:t>three hardware-measurable metrics that together verify an ansatz on the QPU.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128957" y="4125839"/>
            <a:ext cx="15149393" cy="148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68" indent="-356234" lvl="1">
              <a:lnSpc>
                <a:spcPts val="3959"/>
              </a:lnSpc>
              <a:buAutoNum type="arabicPeriod" startAt="1"/>
            </a:pPr>
            <a:r>
              <a:rPr lang="en-US" b="true" sz="3299">
                <a:solidFill>
                  <a:srgbClr val="191E3A"/>
                </a:solidFill>
                <a:latin typeface="DM Sans Bold"/>
                <a:ea typeface="DM Sans Bold"/>
                <a:cs typeface="DM Sans Bold"/>
                <a:sym typeface="DM Sans Bold"/>
              </a:rPr>
              <a:t>Fidelity</a:t>
            </a:r>
            <a:r>
              <a:rPr lang="en-US" sz="3299">
                <a:solidFill>
                  <a:srgbClr val="191E3A"/>
                </a:solidFill>
                <a:latin typeface="DM Sans"/>
                <a:ea typeface="DM Sans"/>
                <a:cs typeface="DM Sans"/>
                <a:sym typeface="DM Sans"/>
              </a:rPr>
              <a:t> - how well can we represent the ideal state?</a:t>
            </a:r>
          </a:p>
          <a:p>
            <a:pPr algn="l" marL="712468" indent="-356234" lvl="1">
              <a:lnSpc>
                <a:spcPts val="3959"/>
              </a:lnSpc>
              <a:buAutoNum type="arabicPeriod" startAt="1"/>
            </a:pPr>
            <a:r>
              <a:rPr lang="en-US" b="true" sz="3299">
                <a:solidFill>
                  <a:srgbClr val="191E3A"/>
                </a:solidFill>
                <a:latin typeface="DM Sans Bold"/>
                <a:ea typeface="DM Sans Bold"/>
                <a:cs typeface="DM Sans Bold"/>
                <a:sym typeface="DM Sans Bold"/>
              </a:rPr>
              <a:t>KL</a:t>
            </a:r>
            <a:r>
              <a:rPr lang="en-US" sz="3299">
                <a:solidFill>
                  <a:srgbClr val="191E3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true" sz="3299">
                <a:solidFill>
                  <a:srgbClr val="191E3A"/>
                </a:solidFill>
                <a:latin typeface="DM Sans Bold"/>
                <a:ea typeface="DM Sans Bold"/>
                <a:cs typeface="DM Sans Bold"/>
                <a:sym typeface="DM Sans Bold"/>
              </a:rPr>
              <a:t>- expressibility</a:t>
            </a:r>
            <a:r>
              <a:rPr lang="en-US" sz="3299">
                <a:solidFill>
                  <a:srgbClr val="191E3A"/>
                </a:solidFill>
                <a:latin typeface="DM Sans"/>
                <a:ea typeface="DM Sans"/>
                <a:cs typeface="DM Sans"/>
                <a:sym typeface="DM Sans"/>
              </a:rPr>
              <a:t> - how does QPU noise change expressibility?</a:t>
            </a:r>
          </a:p>
          <a:p>
            <a:pPr algn="l" marL="712468" indent="-356234" lvl="1">
              <a:lnSpc>
                <a:spcPts val="3959"/>
              </a:lnSpc>
              <a:buAutoNum type="arabicPeriod" startAt="1"/>
            </a:pPr>
            <a:r>
              <a:rPr lang="en-US" b="true" sz="3299">
                <a:solidFill>
                  <a:srgbClr val="191E3A"/>
                </a:solidFill>
                <a:latin typeface="DM Sans Bold"/>
                <a:ea typeface="DM Sans Bold"/>
                <a:cs typeface="DM Sans Bold"/>
                <a:sym typeface="DM Sans Bold"/>
              </a:rPr>
              <a:t>Meyer - Wallach</a:t>
            </a:r>
            <a:r>
              <a:rPr lang="en-US" sz="3299">
                <a:solidFill>
                  <a:srgbClr val="191E3A"/>
                </a:solidFill>
                <a:latin typeface="DM Sans"/>
                <a:ea typeface="DM Sans"/>
                <a:cs typeface="DM Sans"/>
                <a:sym typeface="DM Sans"/>
              </a:rPr>
              <a:t> - how entangled is each qubit?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74749" y="8116987"/>
            <a:ext cx="14838759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9"/>
              </a:lnSpc>
            </a:pPr>
            <a:r>
              <a:rPr lang="en-US" sz="2899" i="true">
                <a:solidFill>
                  <a:srgbClr val="191E3A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All three are conducted on-device and </a:t>
            </a:r>
            <a:r>
              <a:rPr lang="en-US" b="true" sz="2899" i="true">
                <a:solidFill>
                  <a:srgbClr val="000000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together</a:t>
            </a:r>
            <a:r>
              <a:rPr lang="en-US" sz="2899" i="true">
                <a:solidFill>
                  <a:srgbClr val="191E3A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 give insight on on-hardware behavior.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5217673" y="9384535"/>
            <a:ext cx="2573750" cy="671065"/>
            <a:chOff x="0" y="0"/>
            <a:chExt cx="3431667" cy="894753"/>
          </a:xfrm>
        </p:grpSpPr>
        <p:sp>
          <p:nvSpPr>
            <p:cNvPr name="Freeform 17" id="17" descr="Picture 17"/>
            <p:cNvSpPr/>
            <p:nvPr/>
          </p:nvSpPr>
          <p:spPr>
            <a:xfrm flipH="false" flipV="false" rot="0">
              <a:off x="0" y="0"/>
              <a:ext cx="3431667" cy="894715"/>
            </a:xfrm>
            <a:custGeom>
              <a:avLst/>
              <a:gdLst/>
              <a:ahLst/>
              <a:cxnLst/>
              <a:rect r="r" b="b" t="t" l="l"/>
              <a:pathLst>
                <a:path h="894715" w="3431667">
                  <a:moveTo>
                    <a:pt x="0" y="0"/>
                  </a:moveTo>
                  <a:lnTo>
                    <a:pt x="3431667" y="0"/>
                  </a:lnTo>
                  <a:lnTo>
                    <a:pt x="3431667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53" t="0" r="-753" b="-4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3430212" y="9366247"/>
            <a:ext cx="1388688" cy="671065"/>
            <a:chOff x="0" y="0"/>
            <a:chExt cx="1851584" cy="894753"/>
          </a:xfrm>
        </p:grpSpPr>
        <p:sp>
          <p:nvSpPr>
            <p:cNvPr name="Freeform 19" id="19" descr="Picture 18"/>
            <p:cNvSpPr/>
            <p:nvPr/>
          </p:nvSpPr>
          <p:spPr>
            <a:xfrm flipH="false" flipV="false" rot="0">
              <a:off x="0" y="0"/>
              <a:ext cx="1851533" cy="894715"/>
            </a:xfrm>
            <a:custGeom>
              <a:avLst/>
              <a:gdLst/>
              <a:ahLst/>
              <a:cxnLst/>
              <a:rect r="r" b="b" t="t" l="l"/>
              <a:pathLst>
                <a:path h="894715" w="1851533">
                  <a:moveTo>
                    <a:pt x="0" y="0"/>
                  </a:moveTo>
                  <a:lnTo>
                    <a:pt x="1851533" y="0"/>
                  </a:lnTo>
                  <a:lnTo>
                    <a:pt x="1851533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79" t="0" r="-382" b="-4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704337" cy="10299697"/>
            <a:chOff x="0" y="0"/>
            <a:chExt cx="2272449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241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272411">
                  <a:moveTo>
                    <a:pt x="0" y="0"/>
                  </a:moveTo>
                  <a:lnTo>
                    <a:pt x="2272411" y="0"/>
                  </a:lnTo>
                  <a:lnTo>
                    <a:pt x="227241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243" y="377695"/>
            <a:ext cx="1311145" cy="1311145"/>
            <a:chOff x="0" y="0"/>
            <a:chExt cx="1748193" cy="1748193"/>
          </a:xfrm>
        </p:grpSpPr>
        <p:sp>
          <p:nvSpPr>
            <p:cNvPr name="Freeform 5" id="5" descr="Picture 2"/>
            <p:cNvSpPr/>
            <p:nvPr/>
          </p:nvSpPr>
          <p:spPr>
            <a:xfrm flipH="false" flipV="false" rot="0">
              <a:off x="0" y="0"/>
              <a:ext cx="1748155" cy="1748155"/>
            </a:xfrm>
            <a:custGeom>
              <a:avLst/>
              <a:gdLst/>
              <a:ahLst/>
              <a:cxnLst/>
              <a:rect r="r" b="b" t="t" l="l"/>
              <a:pathLst>
                <a:path h="1748155" w="1748155">
                  <a:moveTo>
                    <a:pt x="0" y="0"/>
                  </a:moveTo>
                  <a:lnTo>
                    <a:pt x="1748155" y="0"/>
                  </a:lnTo>
                  <a:lnTo>
                    <a:pt x="1748155" y="1748155"/>
                  </a:lnTo>
                  <a:lnTo>
                    <a:pt x="0" y="174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217673" y="9384535"/>
            <a:ext cx="2573750" cy="671065"/>
            <a:chOff x="0" y="0"/>
            <a:chExt cx="3431667" cy="894753"/>
          </a:xfrm>
        </p:grpSpPr>
        <p:sp>
          <p:nvSpPr>
            <p:cNvPr name="Freeform 7" id="7" descr="Picture 17"/>
            <p:cNvSpPr/>
            <p:nvPr/>
          </p:nvSpPr>
          <p:spPr>
            <a:xfrm flipH="false" flipV="false" rot="0">
              <a:off x="0" y="0"/>
              <a:ext cx="3431667" cy="894715"/>
            </a:xfrm>
            <a:custGeom>
              <a:avLst/>
              <a:gdLst/>
              <a:ahLst/>
              <a:cxnLst/>
              <a:rect r="r" b="b" t="t" l="l"/>
              <a:pathLst>
                <a:path h="894715" w="3431667">
                  <a:moveTo>
                    <a:pt x="0" y="0"/>
                  </a:moveTo>
                  <a:lnTo>
                    <a:pt x="3431667" y="0"/>
                  </a:lnTo>
                  <a:lnTo>
                    <a:pt x="3431667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53" t="0" r="-753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430212" y="9366247"/>
            <a:ext cx="1388688" cy="671065"/>
            <a:chOff x="0" y="0"/>
            <a:chExt cx="1851584" cy="894753"/>
          </a:xfrm>
        </p:grpSpPr>
        <p:sp>
          <p:nvSpPr>
            <p:cNvPr name="Freeform 9" id="9" descr="Picture 18"/>
            <p:cNvSpPr/>
            <p:nvPr/>
          </p:nvSpPr>
          <p:spPr>
            <a:xfrm flipH="false" flipV="false" rot="0">
              <a:off x="0" y="0"/>
              <a:ext cx="1851533" cy="894715"/>
            </a:xfrm>
            <a:custGeom>
              <a:avLst/>
              <a:gdLst/>
              <a:ahLst/>
              <a:cxnLst/>
              <a:rect r="r" b="b" t="t" l="l"/>
              <a:pathLst>
                <a:path h="894715" w="1851533">
                  <a:moveTo>
                    <a:pt x="0" y="0"/>
                  </a:moveTo>
                  <a:lnTo>
                    <a:pt x="1851533" y="0"/>
                  </a:lnTo>
                  <a:lnTo>
                    <a:pt x="1851533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79" t="0" r="-382" b="-4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2995127" y="3994718"/>
            <a:ext cx="5504470" cy="3142435"/>
          </a:xfrm>
          <a:custGeom>
            <a:avLst/>
            <a:gdLst/>
            <a:ahLst/>
            <a:cxnLst/>
            <a:rect r="r" b="b" t="t" l="l"/>
            <a:pathLst>
              <a:path h="3142435" w="5504470">
                <a:moveTo>
                  <a:pt x="0" y="0"/>
                </a:moveTo>
                <a:lnTo>
                  <a:pt x="5504470" y="0"/>
                </a:lnTo>
                <a:lnTo>
                  <a:pt x="5504470" y="3142436"/>
                </a:lnTo>
                <a:lnTo>
                  <a:pt x="0" y="31424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3692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887258" y="4266749"/>
            <a:ext cx="6690529" cy="2975561"/>
          </a:xfrm>
          <a:custGeom>
            <a:avLst/>
            <a:gdLst/>
            <a:ahLst/>
            <a:cxnLst/>
            <a:rect r="r" b="b" t="t" l="l"/>
            <a:pathLst>
              <a:path h="2975561" w="6690529">
                <a:moveTo>
                  <a:pt x="0" y="0"/>
                </a:moveTo>
                <a:lnTo>
                  <a:pt x="6690529" y="0"/>
                </a:lnTo>
                <a:lnTo>
                  <a:pt x="6690529" y="2975561"/>
                </a:lnTo>
                <a:lnTo>
                  <a:pt x="0" y="29755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8597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9367" y="1812922"/>
            <a:ext cx="1612897" cy="6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Axion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Student Research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-6353" y="9567415"/>
            <a:ext cx="170433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08 / 16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47493" y="1184272"/>
            <a:ext cx="12338258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Two Ansatz Families - case study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47493" y="9003535"/>
            <a:ext cx="11362006" cy="885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499" i="true">
                <a:solidFill>
                  <a:srgbClr val="525C73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S. Sim, P. D. Johnson, and A. Aspuru‐Guzik, "Expressibility and entangling capability of parameterized quantum circuits for hybrid quantum‐classical algorithms," Adv. Quantum Technol., vol. 2, no. 12, p. 1900070, Dec. 2019, doi: 10.1002/qute.201900070.</a:t>
            </a:r>
          </a:p>
          <a:p>
            <a:pPr algn="l">
              <a:lnSpc>
                <a:spcPts val="1799"/>
              </a:lnSpc>
            </a:pPr>
          </a:p>
          <a:p>
            <a:pPr algn="l">
              <a:lnSpc>
                <a:spcPts val="1800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2147493" y="3411711"/>
            <a:ext cx="3280744" cy="317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8"/>
              </a:lnSpc>
            </a:pPr>
            <a:r>
              <a:rPr lang="en-US" sz="1762">
                <a:solidFill>
                  <a:srgbClr val="667085"/>
                </a:solidFill>
                <a:latin typeface="Arimo"/>
                <a:ea typeface="Arimo"/>
                <a:cs typeface="Arimo"/>
                <a:sym typeface="Arimo"/>
              </a:rPr>
              <a:t>CRX / CRY / ring entanglement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147493" y="2987531"/>
            <a:ext cx="446476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B1020"/>
                </a:solidFill>
                <a:latin typeface="DM Sans"/>
                <a:ea typeface="DM Sans"/>
                <a:cs typeface="DM Sans"/>
                <a:sym typeface="DM Sans"/>
              </a:rPr>
              <a:t>ansatz_simulator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44000" y="3436438"/>
            <a:ext cx="3663293" cy="317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8"/>
              </a:lnSpc>
            </a:pPr>
            <a:r>
              <a:rPr lang="en-US" sz="1762">
                <a:solidFill>
                  <a:srgbClr val="667085"/>
                </a:solidFill>
                <a:latin typeface="Arimo"/>
                <a:ea typeface="Arimo"/>
                <a:cs typeface="Arimo"/>
                <a:sym typeface="Arimo"/>
              </a:rPr>
              <a:t>RZ + CZ native / ring entanglement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44000" y="2987531"/>
            <a:ext cx="500862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B1020"/>
                </a:solidFill>
                <a:latin typeface="DM Sans"/>
                <a:ea typeface="DM Sans"/>
                <a:cs typeface="DM Sans"/>
                <a:sym typeface="DM Sans"/>
              </a:rPr>
              <a:t>ansatz_odra</a:t>
            </a:r>
          </a:p>
        </p:txBody>
      </p:sp>
      <p:sp>
        <p:nvSpPr>
          <p:cNvPr name="AutoShape 20" id="20"/>
          <p:cNvSpPr/>
          <p:nvPr/>
        </p:nvSpPr>
        <p:spPr>
          <a:xfrm flipH="true" flipV="true">
            <a:off x="6133552" y="6918491"/>
            <a:ext cx="278516" cy="647637"/>
          </a:xfrm>
          <a:prstGeom prst="line">
            <a:avLst/>
          </a:prstGeom>
          <a:ln cap="flat" w="38100">
            <a:solidFill>
              <a:srgbClr val="667085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1" id="21"/>
          <p:cNvSpPr txBox="true"/>
          <p:nvPr/>
        </p:nvSpPr>
        <p:spPr>
          <a:xfrm rot="0">
            <a:off x="4971882" y="7605861"/>
            <a:ext cx="3280744" cy="317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8"/>
              </a:lnSpc>
            </a:pPr>
            <a:r>
              <a:rPr lang="en-US" sz="1762">
                <a:solidFill>
                  <a:srgbClr val="667085"/>
                </a:solidFill>
                <a:latin typeface="Arimo"/>
                <a:ea typeface="Arimo"/>
                <a:cs typeface="Arimo"/>
                <a:sym typeface="Arimo"/>
              </a:rPr>
              <a:t>parameterized entangling gate </a:t>
            </a:r>
          </a:p>
        </p:txBody>
      </p:sp>
      <p:sp>
        <p:nvSpPr>
          <p:cNvPr name="AutoShape 22" id="22"/>
          <p:cNvSpPr/>
          <p:nvPr/>
        </p:nvSpPr>
        <p:spPr>
          <a:xfrm flipH="true" flipV="true">
            <a:off x="10679630" y="7007848"/>
            <a:ext cx="278516" cy="647637"/>
          </a:xfrm>
          <a:prstGeom prst="line">
            <a:avLst/>
          </a:prstGeom>
          <a:ln cap="flat" w="38100">
            <a:solidFill>
              <a:srgbClr val="667085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3" id="23"/>
          <p:cNvSpPr/>
          <p:nvPr/>
        </p:nvSpPr>
        <p:spPr>
          <a:xfrm flipV="true">
            <a:off x="10996496" y="5565936"/>
            <a:ext cx="136573" cy="2089028"/>
          </a:xfrm>
          <a:prstGeom prst="line">
            <a:avLst/>
          </a:prstGeom>
          <a:ln cap="flat" w="38100">
            <a:solidFill>
              <a:srgbClr val="667085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4" id="24"/>
          <p:cNvSpPr txBox="true"/>
          <p:nvPr/>
        </p:nvSpPr>
        <p:spPr>
          <a:xfrm rot="0">
            <a:off x="10004722" y="7634436"/>
            <a:ext cx="4483248" cy="317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8"/>
              </a:lnSpc>
            </a:pPr>
            <a:r>
              <a:rPr lang="en-US" sz="1762">
                <a:solidFill>
                  <a:srgbClr val="667085"/>
                </a:solidFill>
                <a:latin typeface="Arimo"/>
                <a:ea typeface="Arimo"/>
                <a:cs typeface="Arimo"/>
                <a:sym typeface="Arimo"/>
              </a:rPr>
              <a:t>parameterized gate + native entangling gate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704337" cy="10299697"/>
            <a:chOff x="0" y="0"/>
            <a:chExt cx="2272449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241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272411">
                  <a:moveTo>
                    <a:pt x="0" y="0"/>
                  </a:moveTo>
                  <a:lnTo>
                    <a:pt x="2272411" y="0"/>
                  </a:lnTo>
                  <a:lnTo>
                    <a:pt x="227241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243" y="377695"/>
            <a:ext cx="1311145" cy="1311145"/>
            <a:chOff x="0" y="0"/>
            <a:chExt cx="1748193" cy="1748193"/>
          </a:xfrm>
        </p:grpSpPr>
        <p:sp>
          <p:nvSpPr>
            <p:cNvPr name="Freeform 5" id="5" descr="Picture 2"/>
            <p:cNvSpPr/>
            <p:nvPr/>
          </p:nvSpPr>
          <p:spPr>
            <a:xfrm flipH="false" flipV="false" rot="0">
              <a:off x="0" y="0"/>
              <a:ext cx="1748155" cy="1748155"/>
            </a:xfrm>
            <a:custGeom>
              <a:avLst/>
              <a:gdLst/>
              <a:ahLst/>
              <a:cxnLst/>
              <a:rect r="r" b="b" t="t" l="l"/>
              <a:pathLst>
                <a:path h="1748155" w="1748155">
                  <a:moveTo>
                    <a:pt x="0" y="0"/>
                  </a:moveTo>
                  <a:lnTo>
                    <a:pt x="1748155" y="0"/>
                  </a:lnTo>
                  <a:lnTo>
                    <a:pt x="1748155" y="1748155"/>
                  </a:lnTo>
                  <a:lnTo>
                    <a:pt x="0" y="174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217673" y="9384535"/>
            <a:ext cx="2573750" cy="671065"/>
            <a:chOff x="0" y="0"/>
            <a:chExt cx="3431667" cy="894753"/>
          </a:xfrm>
        </p:grpSpPr>
        <p:sp>
          <p:nvSpPr>
            <p:cNvPr name="Freeform 7" id="7" descr="Picture 11"/>
            <p:cNvSpPr/>
            <p:nvPr/>
          </p:nvSpPr>
          <p:spPr>
            <a:xfrm flipH="false" flipV="false" rot="0">
              <a:off x="0" y="0"/>
              <a:ext cx="3431667" cy="894715"/>
            </a:xfrm>
            <a:custGeom>
              <a:avLst/>
              <a:gdLst/>
              <a:ahLst/>
              <a:cxnLst/>
              <a:rect r="r" b="b" t="t" l="l"/>
              <a:pathLst>
                <a:path h="894715" w="3431667">
                  <a:moveTo>
                    <a:pt x="0" y="0"/>
                  </a:moveTo>
                  <a:lnTo>
                    <a:pt x="3431667" y="0"/>
                  </a:lnTo>
                  <a:lnTo>
                    <a:pt x="3431667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53" t="0" r="-753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430212" y="9366247"/>
            <a:ext cx="1388688" cy="671065"/>
            <a:chOff x="0" y="0"/>
            <a:chExt cx="1851584" cy="894753"/>
          </a:xfrm>
        </p:grpSpPr>
        <p:sp>
          <p:nvSpPr>
            <p:cNvPr name="Freeform 9" id="9" descr="Picture 12"/>
            <p:cNvSpPr/>
            <p:nvPr/>
          </p:nvSpPr>
          <p:spPr>
            <a:xfrm flipH="false" flipV="false" rot="0">
              <a:off x="0" y="0"/>
              <a:ext cx="1851533" cy="894715"/>
            </a:xfrm>
            <a:custGeom>
              <a:avLst/>
              <a:gdLst/>
              <a:ahLst/>
              <a:cxnLst/>
              <a:rect r="r" b="b" t="t" l="l"/>
              <a:pathLst>
                <a:path h="894715" w="1851533">
                  <a:moveTo>
                    <a:pt x="0" y="0"/>
                  </a:moveTo>
                  <a:lnTo>
                    <a:pt x="1851533" y="0"/>
                  </a:lnTo>
                  <a:lnTo>
                    <a:pt x="1851533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79" t="0" r="-382" b="-4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2687708" y="2455456"/>
            <a:ext cx="5855684" cy="5474545"/>
          </a:xfrm>
          <a:custGeom>
            <a:avLst/>
            <a:gdLst/>
            <a:ahLst/>
            <a:cxnLst/>
            <a:rect r="r" b="b" t="t" l="l"/>
            <a:pathLst>
              <a:path h="5474545" w="5855684">
                <a:moveTo>
                  <a:pt x="0" y="0"/>
                </a:moveTo>
                <a:lnTo>
                  <a:pt x="5855684" y="0"/>
                </a:lnTo>
                <a:lnTo>
                  <a:pt x="5855684" y="5474545"/>
                </a:lnTo>
                <a:lnTo>
                  <a:pt x="0" y="54745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9367" y="1812922"/>
            <a:ext cx="1612897" cy="6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Axion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Student Research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0" y="9567415"/>
            <a:ext cx="170433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07 / 16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64042" y="1184272"/>
            <a:ext cx="9206508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Experimental setup - case study 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33992" y="3043151"/>
            <a:ext cx="6948718" cy="4685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1"/>
              </a:lnSpc>
            </a:pPr>
            <a:r>
              <a:rPr lang="en-US" sz="2400" b="true">
                <a:solidFill>
                  <a:srgbClr val="0B1020"/>
                </a:solidFill>
                <a:latin typeface="DM Sans Bold"/>
                <a:ea typeface="DM Sans Bold"/>
                <a:cs typeface="DM Sans Bold"/>
                <a:sym typeface="DM Sans Bold"/>
              </a:rPr>
              <a:t>Dataset: </a:t>
            </a:r>
            <a:r>
              <a:rPr lang="en-US" sz="2400">
                <a:solidFill>
                  <a:srgbClr val="0B1020"/>
                </a:solidFill>
                <a:latin typeface="DM Sans"/>
                <a:ea typeface="DM Sans"/>
                <a:cs typeface="DM Sans"/>
                <a:sym typeface="DM Sans"/>
              </a:rPr>
              <a:t>Banknote Authentication Dataset, binary classification, well-balanced data.</a:t>
            </a:r>
          </a:p>
          <a:p>
            <a:pPr algn="l">
              <a:lnSpc>
                <a:spcPts val="3111"/>
              </a:lnSpc>
            </a:pPr>
          </a:p>
          <a:p>
            <a:pPr algn="l">
              <a:lnSpc>
                <a:spcPts val="3111"/>
              </a:lnSpc>
            </a:pPr>
            <a:r>
              <a:rPr lang="en-US" sz="2400" b="true">
                <a:solidFill>
                  <a:srgbClr val="0B1020"/>
                </a:solidFill>
                <a:latin typeface="DM Sans Bold"/>
                <a:ea typeface="DM Sans Bold"/>
                <a:cs typeface="DM Sans Bold"/>
                <a:sym typeface="DM Sans Bold"/>
              </a:rPr>
              <a:t>Technology IQM Spark Odra 5:</a:t>
            </a:r>
          </a:p>
          <a:p>
            <a:pPr algn="l">
              <a:lnSpc>
                <a:spcPts val="3111"/>
              </a:lnSpc>
            </a:pPr>
            <a:r>
              <a:rPr lang="en-US" sz="2400">
                <a:solidFill>
                  <a:srgbClr val="0B1020"/>
                </a:solidFill>
                <a:latin typeface="DM Sans"/>
                <a:ea typeface="DM Sans"/>
                <a:cs typeface="DM Sans"/>
                <a:sym typeface="DM Sans"/>
              </a:rPr>
              <a:t>A superconducting QPU with 5 physical qubits.</a:t>
            </a:r>
          </a:p>
          <a:p>
            <a:pPr algn="l">
              <a:lnSpc>
                <a:spcPts val="3111"/>
              </a:lnSpc>
            </a:pPr>
          </a:p>
          <a:p>
            <a:pPr algn="l">
              <a:lnSpc>
                <a:spcPts val="3111"/>
              </a:lnSpc>
            </a:pPr>
            <a:r>
              <a:rPr lang="en-US" sz="2400" b="true">
                <a:solidFill>
                  <a:srgbClr val="0B1020"/>
                </a:solidFill>
                <a:latin typeface="DM Sans Bold"/>
                <a:ea typeface="DM Sans Bold"/>
                <a:cs typeface="DM Sans Bold"/>
                <a:sym typeface="DM Sans Bold"/>
              </a:rPr>
              <a:t>Topology: </a:t>
            </a:r>
            <a:r>
              <a:rPr lang="en-US" sz="2400">
                <a:solidFill>
                  <a:srgbClr val="0B1020"/>
                </a:solidFill>
                <a:latin typeface="DM Sans"/>
                <a:ea typeface="DM Sans"/>
                <a:cs typeface="DM Sans"/>
                <a:sym typeface="DM Sans"/>
              </a:rPr>
              <a:t>Star topology with a third qubit </a:t>
            </a:r>
          </a:p>
          <a:p>
            <a:pPr algn="l">
              <a:lnSpc>
                <a:spcPts val="3111"/>
              </a:lnSpc>
            </a:pPr>
            <a:r>
              <a:rPr lang="en-US" sz="2400">
                <a:solidFill>
                  <a:srgbClr val="0B1020"/>
                </a:solidFill>
                <a:latin typeface="DM Sans"/>
                <a:ea typeface="DM Sans"/>
                <a:cs typeface="DM Sans"/>
                <a:sym typeface="DM Sans"/>
              </a:rPr>
              <a:t>as a hub.</a:t>
            </a:r>
          </a:p>
          <a:p>
            <a:pPr algn="l">
              <a:lnSpc>
                <a:spcPts val="3111"/>
              </a:lnSpc>
            </a:pPr>
          </a:p>
          <a:p>
            <a:pPr algn="l">
              <a:lnSpc>
                <a:spcPts val="3111"/>
              </a:lnSpc>
            </a:pPr>
            <a:r>
              <a:rPr lang="en-US" sz="2400" b="true">
                <a:solidFill>
                  <a:srgbClr val="0B1020"/>
                </a:solidFill>
                <a:latin typeface="DM Sans Bold"/>
                <a:ea typeface="DM Sans Bold"/>
                <a:cs typeface="DM Sans Bold"/>
                <a:sym typeface="DM Sans Bold"/>
              </a:rPr>
              <a:t>Native gates.  </a:t>
            </a:r>
            <a:r>
              <a:rPr lang="en-US" sz="2400">
                <a:solidFill>
                  <a:srgbClr val="0B1020"/>
                </a:solidFill>
                <a:latin typeface="DM Sans"/>
                <a:ea typeface="DM Sans"/>
                <a:cs typeface="DM Sans"/>
                <a:sym typeface="DM Sans"/>
              </a:rPr>
              <a:t>CZ two-qubit entangler </a:t>
            </a:r>
          </a:p>
          <a:p>
            <a:pPr algn="l">
              <a:lnSpc>
                <a:spcPts val="3111"/>
              </a:lnSpc>
            </a:pPr>
            <a:r>
              <a:rPr lang="en-US" sz="2400">
                <a:solidFill>
                  <a:srgbClr val="0B1020"/>
                </a:solidFill>
                <a:latin typeface="DM Sans"/>
                <a:ea typeface="DM Sans"/>
                <a:cs typeface="DM Sans"/>
                <a:sym typeface="DM Sans"/>
              </a:rPr>
              <a:t>and R(θ, φ) single-qubit rotations.</a:t>
            </a:r>
          </a:p>
          <a:p>
            <a:pPr algn="l">
              <a:lnSpc>
                <a:spcPts val="3111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2147493" y="8994010"/>
            <a:ext cx="11362006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i="true">
                <a:solidFill>
                  <a:srgbClr val="525C73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UCI Machine Learning Repository, “</a:t>
            </a:r>
            <a:r>
              <a:rPr lang="en-US" sz="1500" i="true">
                <a:solidFill>
                  <a:srgbClr val="525C73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Banknote Authentication Dataset.”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704337" cy="10299697"/>
            <a:chOff x="0" y="0"/>
            <a:chExt cx="2272449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241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272411">
                  <a:moveTo>
                    <a:pt x="0" y="0"/>
                  </a:moveTo>
                  <a:lnTo>
                    <a:pt x="2272411" y="0"/>
                  </a:lnTo>
                  <a:lnTo>
                    <a:pt x="227241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243" y="377695"/>
            <a:ext cx="1311145" cy="1311145"/>
            <a:chOff x="0" y="0"/>
            <a:chExt cx="1748193" cy="1748193"/>
          </a:xfrm>
        </p:grpSpPr>
        <p:sp>
          <p:nvSpPr>
            <p:cNvPr name="Freeform 5" id="5" descr="Picture 2"/>
            <p:cNvSpPr/>
            <p:nvPr/>
          </p:nvSpPr>
          <p:spPr>
            <a:xfrm flipH="false" flipV="false" rot="0">
              <a:off x="0" y="0"/>
              <a:ext cx="1748155" cy="1748155"/>
            </a:xfrm>
            <a:custGeom>
              <a:avLst/>
              <a:gdLst/>
              <a:ahLst/>
              <a:cxnLst/>
              <a:rect r="r" b="b" t="t" l="l"/>
              <a:pathLst>
                <a:path h="1748155" w="1748155">
                  <a:moveTo>
                    <a:pt x="0" y="0"/>
                  </a:moveTo>
                  <a:lnTo>
                    <a:pt x="1748155" y="0"/>
                  </a:lnTo>
                  <a:lnTo>
                    <a:pt x="1748155" y="1748155"/>
                  </a:lnTo>
                  <a:lnTo>
                    <a:pt x="0" y="174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-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39367" y="1812922"/>
            <a:ext cx="1612897" cy="6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Axion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Student Research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6353" y="9567415"/>
            <a:ext cx="170433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10 </a:t>
            </a: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/ 16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33927" y="1184272"/>
            <a:ext cx="3254053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Pilot Study 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233927" y="2427218"/>
            <a:ext cx="15557497" cy="955672"/>
            <a:chOff x="0" y="0"/>
            <a:chExt cx="20743329" cy="127422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743418" cy="1274318"/>
            </a:xfrm>
            <a:custGeom>
              <a:avLst/>
              <a:gdLst/>
              <a:ahLst/>
              <a:cxnLst/>
              <a:rect r="r" b="b" t="t" l="l"/>
              <a:pathLst>
                <a:path h="1274318" w="20743418">
                  <a:moveTo>
                    <a:pt x="0" y="140209"/>
                  </a:moveTo>
                  <a:cubicBezTo>
                    <a:pt x="0" y="62708"/>
                    <a:pt x="60833" y="0"/>
                    <a:pt x="136017" y="0"/>
                  </a:cubicBezTo>
                  <a:lnTo>
                    <a:pt x="20607401" y="0"/>
                  </a:lnTo>
                  <a:cubicBezTo>
                    <a:pt x="20682458" y="0"/>
                    <a:pt x="20743418" y="62708"/>
                    <a:pt x="20743418" y="140209"/>
                  </a:cubicBezTo>
                  <a:lnTo>
                    <a:pt x="20743418" y="1134111"/>
                  </a:lnTo>
                  <a:cubicBezTo>
                    <a:pt x="20743418" y="1211482"/>
                    <a:pt x="20682586" y="1274318"/>
                    <a:pt x="20607401" y="1274318"/>
                  </a:cubicBezTo>
                  <a:lnTo>
                    <a:pt x="136017" y="1274318"/>
                  </a:lnTo>
                  <a:cubicBezTo>
                    <a:pt x="60833" y="1274190"/>
                    <a:pt x="0" y="1211482"/>
                    <a:pt x="0" y="1134111"/>
                  </a:cubicBezTo>
                  <a:close/>
                </a:path>
              </a:pathLst>
            </a:custGeom>
            <a:solidFill>
              <a:srgbClr val="ECEFF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581399" y="2479869"/>
            <a:ext cx="14862553" cy="903020"/>
            <a:chOff x="0" y="0"/>
            <a:chExt cx="19816737" cy="12040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816741" cy="1204033"/>
            </a:xfrm>
            <a:custGeom>
              <a:avLst/>
              <a:gdLst/>
              <a:ahLst/>
              <a:cxnLst/>
              <a:rect r="r" b="b" t="t" l="l"/>
              <a:pathLst>
                <a:path h="1204033" w="19816741">
                  <a:moveTo>
                    <a:pt x="0" y="0"/>
                  </a:moveTo>
                  <a:lnTo>
                    <a:pt x="19816741" y="0"/>
                  </a:lnTo>
                  <a:lnTo>
                    <a:pt x="19816741" y="1204033"/>
                  </a:lnTo>
                  <a:lnTo>
                    <a:pt x="0" y="12040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3117" r="0" b="-23827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9816737" cy="12135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4"/>
                </a:lnSpc>
              </a:pPr>
              <a:r>
                <a:rPr lang="en-US" sz="2599" i="true">
                  <a:solidFill>
                    <a:srgbClr val="191E3A"/>
                  </a:solidFill>
                  <a:latin typeface="DM Sans Italics"/>
                  <a:ea typeface="DM Sans Italics"/>
                  <a:cs typeface="DM Sans Italics"/>
                  <a:sym typeface="DM Sans Italics"/>
                </a:rPr>
                <a:t>A short pilot run selects the </a:t>
              </a:r>
              <a:r>
                <a:rPr lang="en-US" b="true" sz="2599" i="true">
                  <a:solidFill>
                    <a:srgbClr val="191E3A"/>
                  </a:solidFill>
                  <a:latin typeface="DM Sans Bold Italics"/>
                  <a:ea typeface="DM Sans Bold Italics"/>
                  <a:cs typeface="DM Sans Bold Italics"/>
                  <a:sym typeface="DM Sans Bold Italics"/>
                </a:rPr>
                <a:t>hardware budget</a:t>
              </a:r>
              <a:r>
                <a:rPr lang="en-US" sz="2599" i="true">
                  <a:solidFill>
                    <a:srgbClr val="191E3A"/>
                  </a:solidFill>
                  <a:latin typeface="DM Sans Italics"/>
                  <a:ea typeface="DM Sans Italics"/>
                  <a:cs typeface="DM Sans Italics"/>
                  <a:sym typeface="DM Sans Italics"/>
                </a:rPr>
                <a:t> before the full experiment, so results are statistically reliable and comparable.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217673" y="9384535"/>
            <a:ext cx="2573750" cy="671065"/>
            <a:chOff x="0" y="0"/>
            <a:chExt cx="3431667" cy="894753"/>
          </a:xfrm>
        </p:grpSpPr>
        <p:sp>
          <p:nvSpPr>
            <p:cNvPr name="Freeform 15" id="15" descr="Picture 10"/>
            <p:cNvSpPr/>
            <p:nvPr/>
          </p:nvSpPr>
          <p:spPr>
            <a:xfrm flipH="false" flipV="false" rot="0">
              <a:off x="0" y="0"/>
              <a:ext cx="3431667" cy="894715"/>
            </a:xfrm>
            <a:custGeom>
              <a:avLst/>
              <a:gdLst/>
              <a:ahLst/>
              <a:cxnLst/>
              <a:rect r="r" b="b" t="t" l="l"/>
              <a:pathLst>
                <a:path h="894715" w="3431667">
                  <a:moveTo>
                    <a:pt x="0" y="0"/>
                  </a:moveTo>
                  <a:lnTo>
                    <a:pt x="3431667" y="0"/>
                  </a:lnTo>
                  <a:lnTo>
                    <a:pt x="3431667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53" t="0" r="-753" b="-4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430212" y="9366247"/>
            <a:ext cx="1388688" cy="671065"/>
            <a:chOff x="0" y="0"/>
            <a:chExt cx="1851584" cy="894753"/>
          </a:xfrm>
        </p:grpSpPr>
        <p:sp>
          <p:nvSpPr>
            <p:cNvPr name="Freeform 17" id="17" descr="Picture 11"/>
            <p:cNvSpPr/>
            <p:nvPr/>
          </p:nvSpPr>
          <p:spPr>
            <a:xfrm flipH="false" flipV="false" rot="0">
              <a:off x="0" y="0"/>
              <a:ext cx="1851533" cy="894715"/>
            </a:xfrm>
            <a:custGeom>
              <a:avLst/>
              <a:gdLst/>
              <a:ahLst/>
              <a:cxnLst/>
              <a:rect r="r" b="b" t="t" l="l"/>
              <a:pathLst>
                <a:path h="894715" w="1851533">
                  <a:moveTo>
                    <a:pt x="0" y="0"/>
                  </a:moveTo>
                  <a:lnTo>
                    <a:pt x="1851533" y="0"/>
                  </a:lnTo>
                  <a:lnTo>
                    <a:pt x="1851533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79" t="0" r="-382" b="-4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2233927" y="3982964"/>
            <a:ext cx="14722574" cy="345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shots</a:t>
            </a:r>
            <a:r>
              <a:rPr lang="en-US" sz="2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– repetitions of one circuit per evaluation;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average over shots to fight </a:t>
            </a:r>
            <a:r>
              <a:rPr lang="en-US" sz="279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quantum measurement noise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repeats</a:t>
            </a:r>
            <a:r>
              <a:rPr lang="en-US" sz="2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– independent re-runs of that evaluation;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average over repeats to reduce </a:t>
            </a:r>
            <a:r>
              <a:rPr lang="en-US" sz="279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IQM SPARK callibration drift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046792" y="6777019"/>
            <a:ext cx="4102271" cy="1945464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402377" y="6900101"/>
            <a:ext cx="3483095" cy="1139908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355485" y="6707029"/>
            <a:ext cx="4869180" cy="2079363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577118" y="8024675"/>
            <a:ext cx="9738360" cy="244952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546994" y="7890819"/>
            <a:ext cx="6117064" cy="2003472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704337" cy="10299697"/>
            <a:chOff x="0" y="0"/>
            <a:chExt cx="2272449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241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272411">
                  <a:moveTo>
                    <a:pt x="0" y="0"/>
                  </a:moveTo>
                  <a:lnTo>
                    <a:pt x="2272411" y="0"/>
                  </a:lnTo>
                  <a:lnTo>
                    <a:pt x="227241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243" y="377695"/>
            <a:ext cx="1311145" cy="1311145"/>
            <a:chOff x="0" y="0"/>
            <a:chExt cx="1748193" cy="1748193"/>
          </a:xfrm>
        </p:grpSpPr>
        <p:sp>
          <p:nvSpPr>
            <p:cNvPr name="Freeform 5" id="5" descr="Picture 2"/>
            <p:cNvSpPr/>
            <p:nvPr/>
          </p:nvSpPr>
          <p:spPr>
            <a:xfrm flipH="false" flipV="false" rot="0">
              <a:off x="0" y="0"/>
              <a:ext cx="1748155" cy="1748155"/>
            </a:xfrm>
            <a:custGeom>
              <a:avLst/>
              <a:gdLst/>
              <a:ahLst/>
              <a:cxnLst/>
              <a:rect r="r" b="b" t="t" l="l"/>
              <a:pathLst>
                <a:path h="1748155" w="1748155">
                  <a:moveTo>
                    <a:pt x="0" y="0"/>
                  </a:moveTo>
                  <a:lnTo>
                    <a:pt x="1748155" y="0"/>
                  </a:lnTo>
                  <a:lnTo>
                    <a:pt x="1748155" y="1748155"/>
                  </a:lnTo>
                  <a:lnTo>
                    <a:pt x="0" y="174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" b="-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39367" y="1812922"/>
            <a:ext cx="1612897" cy="6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Axion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Student Research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15878" y="9576940"/>
            <a:ext cx="170433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2/ 16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55759" y="1146172"/>
            <a:ext cx="4416028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Meyer-W</a:t>
            </a: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allach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053979" y="2427218"/>
            <a:ext cx="15737444" cy="1428264"/>
            <a:chOff x="0" y="0"/>
            <a:chExt cx="20983259" cy="1904352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20983259" cy="1904352"/>
              <a:chOff x="0" y="0"/>
              <a:chExt cx="20983259" cy="190435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0983347" cy="1904441"/>
              </a:xfrm>
              <a:custGeom>
                <a:avLst/>
                <a:gdLst/>
                <a:ahLst/>
                <a:cxnLst/>
                <a:rect r="r" b="b" t="t" l="l"/>
                <a:pathLst>
                  <a:path h="1904441" w="20983347">
                    <a:moveTo>
                      <a:pt x="0" y="209545"/>
                    </a:moveTo>
                    <a:cubicBezTo>
                      <a:pt x="0" y="93718"/>
                      <a:pt x="61537" y="0"/>
                      <a:pt x="137590" y="0"/>
                    </a:cubicBezTo>
                    <a:lnTo>
                      <a:pt x="20845759" y="0"/>
                    </a:lnTo>
                    <a:cubicBezTo>
                      <a:pt x="20921684" y="0"/>
                      <a:pt x="20983347" y="93718"/>
                      <a:pt x="20983347" y="209545"/>
                    </a:cubicBezTo>
                    <a:lnTo>
                      <a:pt x="20983347" y="1694944"/>
                    </a:lnTo>
                    <a:cubicBezTo>
                      <a:pt x="20983347" y="1810575"/>
                      <a:pt x="20921813" y="1904441"/>
                      <a:pt x="20845759" y="1904441"/>
                    </a:cubicBezTo>
                    <a:lnTo>
                      <a:pt x="137590" y="1904441"/>
                    </a:lnTo>
                    <a:cubicBezTo>
                      <a:pt x="61537" y="1904293"/>
                      <a:pt x="0" y="1810575"/>
                      <a:pt x="0" y="1694944"/>
                    </a:cubicBezTo>
                    <a:close/>
                  </a:path>
                </a:pathLst>
              </a:custGeom>
              <a:solidFill>
                <a:srgbClr val="ECEFF8"/>
              </a:solid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306800" y="350162"/>
              <a:ext cx="17255788" cy="1204028"/>
              <a:chOff x="0" y="0"/>
              <a:chExt cx="15684578" cy="1094397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5684582" cy="1094402"/>
              </a:xfrm>
              <a:custGeom>
                <a:avLst/>
                <a:gdLst/>
                <a:ahLst/>
                <a:cxnLst/>
                <a:rect r="r" b="b" t="t" l="l"/>
                <a:pathLst>
                  <a:path h="1094402" w="15684582">
                    <a:moveTo>
                      <a:pt x="0" y="0"/>
                    </a:moveTo>
                    <a:lnTo>
                      <a:pt x="15684582" y="0"/>
                    </a:lnTo>
                    <a:lnTo>
                      <a:pt x="15684582" y="1094402"/>
                    </a:lnTo>
                    <a:lnTo>
                      <a:pt x="0" y="109440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33481" r="-26345" b="-272163"/>
                </a:stretch>
              </a:blip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9525"/>
                <a:ext cx="15684578" cy="110392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44"/>
                  </a:lnSpc>
                </a:pPr>
                <a:r>
                  <a:rPr lang="en-US" sz="2600" i="true">
                    <a:solidFill>
                      <a:srgbClr val="191E3A"/>
                    </a:solidFill>
                    <a:latin typeface="DM Sans Italics"/>
                    <a:ea typeface="DM Sans Italics"/>
                    <a:cs typeface="DM Sans Italics"/>
                    <a:sym typeface="DM Sans Italics"/>
                  </a:rPr>
                  <a:t>Meye</a:t>
                </a:r>
                <a:r>
                  <a:rPr lang="en-US" sz="2600" i="true">
                    <a:solidFill>
                      <a:srgbClr val="191E3A"/>
                    </a:solidFill>
                    <a:latin typeface="DM Sans Italics"/>
                    <a:ea typeface="DM Sans Italics"/>
                    <a:cs typeface="DM Sans Italics"/>
                    <a:sym typeface="DM Sans Italics"/>
                  </a:rPr>
                  <a:t>r-Wallach gives a hardware-cheap measure of global entanglement from reduced states matrices.</a:t>
                </a: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15217673" y="9384535"/>
            <a:ext cx="2573750" cy="671065"/>
            <a:chOff x="0" y="0"/>
            <a:chExt cx="3431667" cy="894753"/>
          </a:xfrm>
        </p:grpSpPr>
        <p:sp>
          <p:nvSpPr>
            <p:cNvPr name="Freeform 16" id="16" descr="Picture 10"/>
            <p:cNvSpPr/>
            <p:nvPr/>
          </p:nvSpPr>
          <p:spPr>
            <a:xfrm flipH="false" flipV="false" rot="0">
              <a:off x="0" y="0"/>
              <a:ext cx="3431667" cy="894715"/>
            </a:xfrm>
            <a:custGeom>
              <a:avLst/>
              <a:gdLst/>
              <a:ahLst/>
              <a:cxnLst/>
              <a:rect r="r" b="b" t="t" l="l"/>
              <a:pathLst>
                <a:path h="894715" w="3431667">
                  <a:moveTo>
                    <a:pt x="0" y="0"/>
                  </a:moveTo>
                  <a:lnTo>
                    <a:pt x="3431667" y="0"/>
                  </a:lnTo>
                  <a:lnTo>
                    <a:pt x="3431667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53" t="0" r="-753" b="-4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430212" y="9366247"/>
            <a:ext cx="1388688" cy="671065"/>
            <a:chOff x="0" y="0"/>
            <a:chExt cx="1851584" cy="894753"/>
          </a:xfrm>
        </p:grpSpPr>
        <p:sp>
          <p:nvSpPr>
            <p:cNvPr name="Freeform 18" id="18" descr="Picture 11"/>
            <p:cNvSpPr/>
            <p:nvPr/>
          </p:nvSpPr>
          <p:spPr>
            <a:xfrm flipH="false" flipV="false" rot="0">
              <a:off x="0" y="0"/>
              <a:ext cx="1851533" cy="894715"/>
            </a:xfrm>
            <a:custGeom>
              <a:avLst/>
              <a:gdLst/>
              <a:ahLst/>
              <a:cxnLst/>
              <a:rect r="r" b="b" t="t" l="l"/>
              <a:pathLst>
                <a:path h="894715" w="1851533">
                  <a:moveTo>
                    <a:pt x="0" y="0"/>
                  </a:moveTo>
                  <a:lnTo>
                    <a:pt x="1851533" y="0"/>
                  </a:lnTo>
                  <a:lnTo>
                    <a:pt x="1851533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79" t="0" r="-382" b="-4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2053979" y="4484131"/>
            <a:ext cx="13312090" cy="122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4" indent="-280672" lvl="1">
              <a:lnSpc>
                <a:spcPts val="3244"/>
              </a:lnSpc>
              <a:spcBef>
                <a:spcPct val="0"/>
              </a:spcBef>
              <a:buAutoNum type="arabicPeriod" startAt="1"/>
            </a:pPr>
            <a:r>
              <a:rPr lang="en-US" sz="2600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Sample N random parameter vectors</a:t>
            </a:r>
          </a:p>
          <a:p>
            <a:pPr algn="l">
              <a:lnSpc>
                <a:spcPts val="3244"/>
              </a:lnSpc>
              <a:spcBef>
                <a:spcPct val="0"/>
              </a:spcBef>
            </a:pPr>
          </a:p>
          <a:p>
            <a:pPr algn="l">
              <a:lnSpc>
                <a:spcPts val="3244"/>
              </a:lnSpc>
              <a:spcBef>
                <a:spcPct val="0"/>
              </a:spcBef>
            </a:pP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631109" y="5287717"/>
            <a:ext cx="5025781" cy="1443096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704337" cy="10299697"/>
            <a:chOff x="0" y="0"/>
            <a:chExt cx="2272449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241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272411">
                  <a:moveTo>
                    <a:pt x="0" y="0"/>
                  </a:moveTo>
                  <a:lnTo>
                    <a:pt x="2272411" y="0"/>
                  </a:lnTo>
                  <a:lnTo>
                    <a:pt x="227241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243" y="377695"/>
            <a:ext cx="1311145" cy="1311145"/>
            <a:chOff x="0" y="0"/>
            <a:chExt cx="1748193" cy="1748193"/>
          </a:xfrm>
        </p:grpSpPr>
        <p:sp>
          <p:nvSpPr>
            <p:cNvPr name="Freeform 5" id="5" descr="Picture 2"/>
            <p:cNvSpPr/>
            <p:nvPr/>
          </p:nvSpPr>
          <p:spPr>
            <a:xfrm flipH="false" flipV="false" rot="0">
              <a:off x="0" y="0"/>
              <a:ext cx="1748155" cy="1748155"/>
            </a:xfrm>
            <a:custGeom>
              <a:avLst/>
              <a:gdLst/>
              <a:ahLst/>
              <a:cxnLst/>
              <a:rect r="r" b="b" t="t" l="l"/>
              <a:pathLst>
                <a:path h="1748155" w="1748155">
                  <a:moveTo>
                    <a:pt x="0" y="0"/>
                  </a:moveTo>
                  <a:lnTo>
                    <a:pt x="1748155" y="0"/>
                  </a:lnTo>
                  <a:lnTo>
                    <a:pt x="1748155" y="1748155"/>
                  </a:lnTo>
                  <a:lnTo>
                    <a:pt x="0" y="174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" b="-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39367" y="1812922"/>
            <a:ext cx="1612897" cy="6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Axion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Student Research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15878" y="9576940"/>
            <a:ext cx="170433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2/ 16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55759" y="1146172"/>
            <a:ext cx="4416028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Meyer-W</a:t>
            </a: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allach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053979" y="2427218"/>
            <a:ext cx="15737444" cy="1428264"/>
            <a:chOff x="0" y="0"/>
            <a:chExt cx="20983259" cy="1904352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20983259" cy="1904352"/>
              <a:chOff x="0" y="0"/>
              <a:chExt cx="20983259" cy="190435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0983347" cy="1904441"/>
              </a:xfrm>
              <a:custGeom>
                <a:avLst/>
                <a:gdLst/>
                <a:ahLst/>
                <a:cxnLst/>
                <a:rect r="r" b="b" t="t" l="l"/>
                <a:pathLst>
                  <a:path h="1904441" w="20983347">
                    <a:moveTo>
                      <a:pt x="0" y="209545"/>
                    </a:moveTo>
                    <a:cubicBezTo>
                      <a:pt x="0" y="93718"/>
                      <a:pt x="61537" y="0"/>
                      <a:pt x="137590" y="0"/>
                    </a:cubicBezTo>
                    <a:lnTo>
                      <a:pt x="20845759" y="0"/>
                    </a:lnTo>
                    <a:cubicBezTo>
                      <a:pt x="20921684" y="0"/>
                      <a:pt x="20983347" y="93718"/>
                      <a:pt x="20983347" y="209545"/>
                    </a:cubicBezTo>
                    <a:lnTo>
                      <a:pt x="20983347" y="1694944"/>
                    </a:lnTo>
                    <a:cubicBezTo>
                      <a:pt x="20983347" y="1810575"/>
                      <a:pt x="20921813" y="1904441"/>
                      <a:pt x="20845759" y="1904441"/>
                    </a:cubicBezTo>
                    <a:lnTo>
                      <a:pt x="137590" y="1904441"/>
                    </a:lnTo>
                    <a:cubicBezTo>
                      <a:pt x="61537" y="1904293"/>
                      <a:pt x="0" y="1810575"/>
                      <a:pt x="0" y="1694944"/>
                    </a:cubicBezTo>
                    <a:close/>
                  </a:path>
                </a:pathLst>
              </a:custGeom>
              <a:solidFill>
                <a:srgbClr val="ECEFF8"/>
              </a:solid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306800" y="350162"/>
              <a:ext cx="17255788" cy="1204028"/>
              <a:chOff x="0" y="0"/>
              <a:chExt cx="15684578" cy="1094397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5684582" cy="1094402"/>
              </a:xfrm>
              <a:custGeom>
                <a:avLst/>
                <a:gdLst/>
                <a:ahLst/>
                <a:cxnLst/>
                <a:rect r="r" b="b" t="t" l="l"/>
                <a:pathLst>
                  <a:path h="1094402" w="15684582">
                    <a:moveTo>
                      <a:pt x="0" y="0"/>
                    </a:moveTo>
                    <a:lnTo>
                      <a:pt x="15684582" y="0"/>
                    </a:lnTo>
                    <a:lnTo>
                      <a:pt x="15684582" y="1094402"/>
                    </a:lnTo>
                    <a:lnTo>
                      <a:pt x="0" y="109440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33481" r="-26345" b="-272163"/>
                </a:stretch>
              </a:blip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9525"/>
                <a:ext cx="15684578" cy="110392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44"/>
                  </a:lnSpc>
                </a:pPr>
                <a:r>
                  <a:rPr lang="en-US" sz="2600" i="true">
                    <a:solidFill>
                      <a:srgbClr val="191E3A"/>
                    </a:solidFill>
                    <a:latin typeface="DM Sans Italics"/>
                    <a:ea typeface="DM Sans Italics"/>
                    <a:cs typeface="DM Sans Italics"/>
                    <a:sym typeface="DM Sans Italics"/>
                  </a:rPr>
                  <a:t>Meye</a:t>
                </a:r>
                <a:r>
                  <a:rPr lang="en-US" sz="2600" i="true">
                    <a:solidFill>
                      <a:srgbClr val="191E3A"/>
                    </a:solidFill>
                    <a:latin typeface="DM Sans Italics"/>
                    <a:ea typeface="DM Sans Italics"/>
                    <a:cs typeface="DM Sans Italics"/>
                    <a:sym typeface="DM Sans Italics"/>
                  </a:rPr>
                  <a:t>r-Wallach gives a hardware-cheap measure of global entanglement from reduced states matrices. </a:t>
                </a: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15217673" y="9384535"/>
            <a:ext cx="2573750" cy="671065"/>
            <a:chOff x="0" y="0"/>
            <a:chExt cx="3431667" cy="894753"/>
          </a:xfrm>
        </p:grpSpPr>
        <p:sp>
          <p:nvSpPr>
            <p:cNvPr name="Freeform 16" id="16" descr="Picture 10"/>
            <p:cNvSpPr/>
            <p:nvPr/>
          </p:nvSpPr>
          <p:spPr>
            <a:xfrm flipH="false" flipV="false" rot="0">
              <a:off x="0" y="0"/>
              <a:ext cx="3431667" cy="894715"/>
            </a:xfrm>
            <a:custGeom>
              <a:avLst/>
              <a:gdLst/>
              <a:ahLst/>
              <a:cxnLst/>
              <a:rect r="r" b="b" t="t" l="l"/>
              <a:pathLst>
                <a:path h="894715" w="3431667">
                  <a:moveTo>
                    <a:pt x="0" y="0"/>
                  </a:moveTo>
                  <a:lnTo>
                    <a:pt x="3431667" y="0"/>
                  </a:lnTo>
                  <a:lnTo>
                    <a:pt x="3431667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53" t="0" r="-753" b="-4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430212" y="9366247"/>
            <a:ext cx="1388688" cy="671065"/>
            <a:chOff x="0" y="0"/>
            <a:chExt cx="1851584" cy="894753"/>
          </a:xfrm>
        </p:grpSpPr>
        <p:sp>
          <p:nvSpPr>
            <p:cNvPr name="Freeform 18" id="18" descr="Picture 11"/>
            <p:cNvSpPr/>
            <p:nvPr/>
          </p:nvSpPr>
          <p:spPr>
            <a:xfrm flipH="false" flipV="false" rot="0">
              <a:off x="0" y="0"/>
              <a:ext cx="1851533" cy="894715"/>
            </a:xfrm>
            <a:custGeom>
              <a:avLst/>
              <a:gdLst/>
              <a:ahLst/>
              <a:cxnLst/>
              <a:rect r="r" b="b" t="t" l="l"/>
              <a:pathLst>
                <a:path h="894715" w="1851533">
                  <a:moveTo>
                    <a:pt x="0" y="0"/>
                  </a:moveTo>
                  <a:lnTo>
                    <a:pt x="1851533" y="0"/>
                  </a:lnTo>
                  <a:lnTo>
                    <a:pt x="1851533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79" t="0" r="-382" b="-4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2053979" y="4484131"/>
            <a:ext cx="13312090" cy="245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4" indent="-280672" lvl="1">
              <a:lnSpc>
                <a:spcPts val="3244"/>
              </a:lnSpc>
              <a:spcBef>
                <a:spcPct val="0"/>
              </a:spcBef>
              <a:buAutoNum type="arabicPeriod" startAt="1"/>
            </a:pPr>
            <a:r>
              <a:rPr lang="en-US" sz="2600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Sample N random parameter vectors</a:t>
            </a:r>
          </a:p>
          <a:p>
            <a:pPr algn="l" marL="561344" indent="-280672" lvl="1">
              <a:lnSpc>
                <a:spcPts val="3244"/>
              </a:lnSpc>
              <a:spcBef>
                <a:spcPct val="0"/>
              </a:spcBef>
              <a:buAutoNum type="arabicPeriod" startAt="1"/>
            </a:pPr>
            <a:r>
              <a:rPr lang="en-US" sz="2600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Prepare N states on IQM Spark</a:t>
            </a:r>
          </a:p>
          <a:p>
            <a:pPr algn="l">
              <a:lnSpc>
                <a:spcPts val="3244"/>
              </a:lnSpc>
              <a:spcBef>
                <a:spcPct val="0"/>
              </a:spcBef>
            </a:pPr>
          </a:p>
          <a:p>
            <a:pPr algn="l">
              <a:lnSpc>
                <a:spcPts val="3244"/>
              </a:lnSpc>
              <a:spcBef>
                <a:spcPct val="0"/>
              </a:spcBef>
            </a:pPr>
          </a:p>
          <a:p>
            <a:pPr algn="l">
              <a:lnSpc>
                <a:spcPts val="3244"/>
              </a:lnSpc>
              <a:spcBef>
                <a:spcPct val="0"/>
              </a:spcBef>
            </a:pPr>
          </a:p>
          <a:p>
            <a:pPr algn="l">
              <a:lnSpc>
                <a:spcPts val="3244"/>
              </a:lnSpc>
              <a:spcBef>
                <a:spcPct val="0"/>
              </a:spcBef>
            </a:pP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714395" y="5501377"/>
            <a:ext cx="4859210" cy="1417688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704337" cy="10299697"/>
            <a:chOff x="0" y="0"/>
            <a:chExt cx="2272449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241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272411">
                  <a:moveTo>
                    <a:pt x="0" y="0"/>
                  </a:moveTo>
                  <a:lnTo>
                    <a:pt x="2272411" y="0"/>
                  </a:lnTo>
                  <a:lnTo>
                    <a:pt x="227241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243" y="377695"/>
            <a:ext cx="1311145" cy="1311145"/>
            <a:chOff x="0" y="0"/>
            <a:chExt cx="1748193" cy="1748193"/>
          </a:xfrm>
        </p:grpSpPr>
        <p:sp>
          <p:nvSpPr>
            <p:cNvPr name="Freeform 5" id="5" descr="Picture 2"/>
            <p:cNvSpPr/>
            <p:nvPr/>
          </p:nvSpPr>
          <p:spPr>
            <a:xfrm flipH="false" flipV="false" rot="0">
              <a:off x="0" y="0"/>
              <a:ext cx="1748155" cy="1748155"/>
            </a:xfrm>
            <a:custGeom>
              <a:avLst/>
              <a:gdLst/>
              <a:ahLst/>
              <a:cxnLst/>
              <a:rect r="r" b="b" t="t" l="l"/>
              <a:pathLst>
                <a:path h="1748155" w="1748155">
                  <a:moveTo>
                    <a:pt x="0" y="0"/>
                  </a:moveTo>
                  <a:lnTo>
                    <a:pt x="1748155" y="0"/>
                  </a:lnTo>
                  <a:lnTo>
                    <a:pt x="1748155" y="1748155"/>
                  </a:lnTo>
                  <a:lnTo>
                    <a:pt x="0" y="174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" b="-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39367" y="1812922"/>
            <a:ext cx="1612897" cy="6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Axion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Student Research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15878" y="9576940"/>
            <a:ext cx="170433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2/ 16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55759" y="1146172"/>
            <a:ext cx="4416028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Meyer-W</a:t>
            </a: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allach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053979" y="2427218"/>
            <a:ext cx="15737444" cy="1428264"/>
            <a:chOff x="0" y="0"/>
            <a:chExt cx="20983259" cy="1904352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20983259" cy="1904352"/>
              <a:chOff x="0" y="0"/>
              <a:chExt cx="20983259" cy="190435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0983347" cy="1904441"/>
              </a:xfrm>
              <a:custGeom>
                <a:avLst/>
                <a:gdLst/>
                <a:ahLst/>
                <a:cxnLst/>
                <a:rect r="r" b="b" t="t" l="l"/>
                <a:pathLst>
                  <a:path h="1904441" w="20983347">
                    <a:moveTo>
                      <a:pt x="0" y="209545"/>
                    </a:moveTo>
                    <a:cubicBezTo>
                      <a:pt x="0" y="93718"/>
                      <a:pt x="61537" y="0"/>
                      <a:pt x="137590" y="0"/>
                    </a:cubicBezTo>
                    <a:lnTo>
                      <a:pt x="20845759" y="0"/>
                    </a:lnTo>
                    <a:cubicBezTo>
                      <a:pt x="20921684" y="0"/>
                      <a:pt x="20983347" y="93718"/>
                      <a:pt x="20983347" y="209545"/>
                    </a:cubicBezTo>
                    <a:lnTo>
                      <a:pt x="20983347" y="1694944"/>
                    </a:lnTo>
                    <a:cubicBezTo>
                      <a:pt x="20983347" y="1810575"/>
                      <a:pt x="20921813" y="1904441"/>
                      <a:pt x="20845759" y="1904441"/>
                    </a:cubicBezTo>
                    <a:lnTo>
                      <a:pt x="137590" y="1904441"/>
                    </a:lnTo>
                    <a:cubicBezTo>
                      <a:pt x="61537" y="1904293"/>
                      <a:pt x="0" y="1810575"/>
                      <a:pt x="0" y="1694944"/>
                    </a:cubicBezTo>
                    <a:close/>
                  </a:path>
                </a:pathLst>
              </a:custGeom>
              <a:solidFill>
                <a:srgbClr val="ECEFF8"/>
              </a:solid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306800" y="350162"/>
              <a:ext cx="17255788" cy="1204028"/>
              <a:chOff x="0" y="0"/>
              <a:chExt cx="15684578" cy="1094397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5684582" cy="1094402"/>
              </a:xfrm>
              <a:custGeom>
                <a:avLst/>
                <a:gdLst/>
                <a:ahLst/>
                <a:cxnLst/>
                <a:rect r="r" b="b" t="t" l="l"/>
                <a:pathLst>
                  <a:path h="1094402" w="15684582">
                    <a:moveTo>
                      <a:pt x="0" y="0"/>
                    </a:moveTo>
                    <a:lnTo>
                      <a:pt x="15684582" y="0"/>
                    </a:lnTo>
                    <a:lnTo>
                      <a:pt x="15684582" y="1094402"/>
                    </a:lnTo>
                    <a:lnTo>
                      <a:pt x="0" y="109440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33481" r="-26345" b="-272163"/>
                </a:stretch>
              </a:blip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9525"/>
                <a:ext cx="15684578" cy="110392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44"/>
                  </a:lnSpc>
                </a:pPr>
                <a:r>
                  <a:rPr lang="en-US" sz="2600" i="true">
                    <a:solidFill>
                      <a:srgbClr val="191E3A"/>
                    </a:solidFill>
                    <a:latin typeface="DM Sans Italics"/>
                    <a:ea typeface="DM Sans Italics"/>
                    <a:cs typeface="DM Sans Italics"/>
                    <a:sym typeface="DM Sans Italics"/>
                  </a:rPr>
                  <a:t>Meye</a:t>
                </a:r>
                <a:r>
                  <a:rPr lang="en-US" sz="2600" i="true">
                    <a:solidFill>
                      <a:srgbClr val="191E3A"/>
                    </a:solidFill>
                    <a:latin typeface="DM Sans Italics"/>
                    <a:ea typeface="DM Sans Italics"/>
                    <a:cs typeface="DM Sans Italics"/>
                    <a:sym typeface="DM Sans Italics"/>
                  </a:rPr>
                  <a:t>r-Wallach gives a hardware-cheap measure of global entanglement from reduced states matrices.</a:t>
                </a: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15217673" y="9384535"/>
            <a:ext cx="2573750" cy="671065"/>
            <a:chOff x="0" y="0"/>
            <a:chExt cx="3431667" cy="894753"/>
          </a:xfrm>
        </p:grpSpPr>
        <p:sp>
          <p:nvSpPr>
            <p:cNvPr name="Freeform 16" id="16" descr="Picture 10"/>
            <p:cNvSpPr/>
            <p:nvPr/>
          </p:nvSpPr>
          <p:spPr>
            <a:xfrm flipH="false" flipV="false" rot="0">
              <a:off x="0" y="0"/>
              <a:ext cx="3431667" cy="894715"/>
            </a:xfrm>
            <a:custGeom>
              <a:avLst/>
              <a:gdLst/>
              <a:ahLst/>
              <a:cxnLst/>
              <a:rect r="r" b="b" t="t" l="l"/>
              <a:pathLst>
                <a:path h="894715" w="3431667">
                  <a:moveTo>
                    <a:pt x="0" y="0"/>
                  </a:moveTo>
                  <a:lnTo>
                    <a:pt x="3431667" y="0"/>
                  </a:lnTo>
                  <a:lnTo>
                    <a:pt x="3431667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53" t="0" r="-753" b="-4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430212" y="9366247"/>
            <a:ext cx="1388688" cy="671065"/>
            <a:chOff x="0" y="0"/>
            <a:chExt cx="1851584" cy="894753"/>
          </a:xfrm>
        </p:grpSpPr>
        <p:sp>
          <p:nvSpPr>
            <p:cNvPr name="Freeform 18" id="18" descr="Picture 11"/>
            <p:cNvSpPr/>
            <p:nvPr/>
          </p:nvSpPr>
          <p:spPr>
            <a:xfrm flipH="false" flipV="false" rot="0">
              <a:off x="0" y="0"/>
              <a:ext cx="1851533" cy="894715"/>
            </a:xfrm>
            <a:custGeom>
              <a:avLst/>
              <a:gdLst/>
              <a:ahLst/>
              <a:cxnLst/>
              <a:rect r="r" b="b" t="t" l="l"/>
              <a:pathLst>
                <a:path h="894715" w="1851533">
                  <a:moveTo>
                    <a:pt x="0" y="0"/>
                  </a:moveTo>
                  <a:lnTo>
                    <a:pt x="1851533" y="0"/>
                  </a:lnTo>
                  <a:lnTo>
                    <a:pt x="1851533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79" t="0" r="-382" b="-4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2053979" y="4484131"/>
            <a:ext cx="13312090" cy="245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4" indent="-280672" lvl="1">
              <a:lnSpc>
                <a:spcPts val="3244"/>
              </a:lnSpc>
              <a:spcBef>
                <a:spcPct val="0"/>
              </a:spcBef>
              <a:buAutoNum type="arabicPeriod" startAt="1"/>
            </a:pPr>
            <a:r>
              <a:rPr lang="en-US" sz="2600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Sample N random parameter vectors</a:t>
            </a:r>
          </a:p>
          <a:p>
            <a:pPr algn="l" marL="561344" indent="-280672" lvl="1">
              <a:lnSpc>
                <a:spcPts val="3244"/>
              </a:lnSpc>
              <a:spcBef>
                <a:spcPct val="0"/>
              </a:spcBef>
              <a:buAutoNum type="arabicPeriod" startAt="1"/>
            </a:pPr>
            <a:r>
              <a:rPr lang="en-US" sz="2600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Prepare N states on IQM Spark</a:t>
            </a:r>
          </a:p>
          <a:p>
            <a:pPr algn="l" marL="561344" indent="-280672" lvl="1">
              <a:lnSpc>
                <a:spcPts val="3244"/>
              </a:lnSpc>
              <a:spcBef>
                <a:spcPct val="0"/>
              </a:spcBef>
              <a:buAutoNum type="arabicPeriod" startAt="1"/>
            </a:pPr>
            <a:r>
              <a:rPr lang="en-US" sz="2600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Reconstruct reduced density matrices </a:t>
            </a:r>
          </a:p>
          <a:p>
            <a:pPr algn="l">
              <a:lnSpc>
                <a:spcPts val="3244"/>
              </a:lnSpc>
              <a:spcBef>
                <a:spcPct val="0"/>
              </a:spcBef>
            </a:pPr>
          </a:p>
          <a:p>
            <a:pPr algn="l">
              <a:lnSpc>
                <a:spcPts val="3244"/>
              </a:lnSpc>
              <a:spcBef>
                <a:spcPct val="0"/>
              </a:spcBef>
            </a:pPr>
          </a:p>
          <a:p>
            <a:pPr algn="l">
              <a:lnSpc>
                <a:spcPts val="3244"/>
              </a:lnSpc>
              <a:spcBef>
                <a:spcPct val="0"/>
              </a:spcBef>
            </a:pPr>
          </a:p>
        </p:txBody>
      </p:sp>
      <p:grpSp>
        <p:nvGrpSpPr>
          <p:cNvPr name="Group 20" id="20"/>
          <p:cNvGrpSpPr/>
          <p:nvPr/>
        </p:nvGrpSpPr>
        <p:grpSpPr>
          <a:xfrm rot="0">
            <a:off x="4871416" y="6363951"/>
            <a:ext cx="9507914" cy="1142612"/>
            <a:chOff x="0" y="0"/>
            <a:chExt cx="8454352" cy="1016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454390" cy="1016000"/>
            </a:xfrm>
            <a:custGeom>
              <a:avLst/>
              <a:gdLst/>
              <a:ahLst/>
              <a:cxnLst/>
              <a:rect r="r" b="b" t="t" l="l"/>
              <a:pathLst>
                <a:path h="1016000" w="8454390">
                  <a:moveTo>
                    <a:pt x="0" y="0"/>
                  </a:moveTo>
                  <a:lnTo>
                    <a:pt x="8454390" y="0"/>
                  </a:lnTo>
                  <a:lnTo>
                    <a:pt x="8454390" y="1016000"/>
                  </a:lnTo>
                  <a:lnTo>
                    <a:pt x="0" y="10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43929" b="-1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704337" cy="10299697"/>
            <a:chOff x="0" y="0"/>
            <a:chExt cx="2272449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241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272411">
                  <a:moveTo>
                    <a:pt x="0" y="0"/>
                  </a:moveTo>
                  <a:lnTo>
                    <a:pt x="2272411" y="0"/>
                  </a:lnTo>
                  <a:lnTo>
                    <a:pt x="227241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243" y="377695"/>
            <a:ext cx="1311145" cy="1311145"/>
            <a:chOff x="0" y="0"/>
            <a:chExt cx="1748193" cy="1748193"/>
          </a:xfrm>
        </p:grpSpPr>
        <p:sp>
          <p:nvSpPr>
            <p:cNvPr name="Freeform 5" id="5" descr="Picture 2"/>
            <p:cNvSpPr/>
            <p:nvPr/>
          </p:nvSpPr>
          <p:spPr>
            <a:xfrm flipH="false" flipV="false" rot="0">
              <a:off x="0" y="0"/>
              <a:ext cx="1748155" cy="1748155"/>
            </a:xfrm>
            <a:custGeom>
              <a:avLst/>
              <a:gdLst/>
              <a:ahLst/>
              <a:cxnLst/>
              <a:rect r="r" b="b" t="t" l="l"/>
              <a:pathLst>
                <a:path h="1748155" w="1748155">
                  <a:moveTo>
                    <a:pt x="0" y="0"/>
                  </a:moveTo>
                  <a:lnTo>
                    <a:pt x="1748155" y="0"/>
                  </a:lnTo>
                  <a:lnTo>
                    <a:pt x="1748155" y="1748155"/>
                  </a:lnTo>
                  <a:lnTo>
                    <a:pt x="0" y="174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" b="-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39367" y="1812922"/>
            <a:ext cx="1612897" cy="6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Axion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Student Research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15878" y="9576940"/>
            <a:ext cx="170433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2/ 16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55759" y="1146172"/>
            <a:ext cx="4416028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Meyer-W</a:t>
            </a: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allach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053979" y="2427218"/>
            <a:ext cx="15737444" cy="1428264"/>
            <a:chOff x="0" y="0"/>
            <a:chExt cx="20983259" cy="1904352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20983259" cy="1904352"/>
              <a:chOff x="0" y="0"/>
              <a:chExt cx="20983259" cy="190435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0983347" cy="1904441"/>
              </a:xfrm>
              <a:custGeom>
                <a:avLst/>
                <a:gdLst/>
                <a:ahLst/>
                <a:cxnLst/>
                <a:rect r="r" b="b" t="t" l="l"/>
                <a:pathLst>
                  <a:path h="1904441" w="20983347">
                    <a:moveTo>
                      <a:pt x="0" y="209545"/>
                    </a:moveTo>
                    <a:cubicBezTo>
                      <a:pt x="0" y="93718"/>
                      <a:pt x="61537" y="0"/>
                      <a:pt x="137590" y="0"/>
                    </a:cubicBezTo>
                    <a:lnTo>
                      <a:pt x="20845759" y="0"/>
                    </a:lnTo>
                    <a:cubicBezTo>
                      <a:pt x="20921684" y="0"/>
                      <a:pt x="20983347" y="93718"/>
                      <a:pt x="20983347" y="209545"/>
                    </a:cubicBezTo>
                    <a:lnTo>
                      <a:pt x="20983347" y="1694944"/>
                    </a:lnTo>
                    <a:cubicBezTo>
                      <a:pt x="20983347" y="1810575"/>
                      <a:pt x="20921813" y="1904441"/>
                      <a:pt x="20845759" y="1904441"/>
                    </a:cubicBezTo>
                    <a:lnTo>
                      <a:pt x="137590" y="1904441"/>
                    </a:lnTo>
                    <a:cubicBezTo>
                      <a:pt x="61537" y="1904293"/>
                      <a:pt x="0" y="1810575"/>
                      <a:pt x="0" y="1694944"/>
                    </a:cubicBezTo>
                    <a:close/>
                  </a:path>
                </a:pathLst>
              </a:custGeom>
              <a:solidFill>
                <a:srgbClr val="ECEFF8"/>
              </a:solid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306800" y="350162"/>
              <a:ext cx="17255788" cy="1204028"/>
              <a:chOff x="0" y="0"/>
              <a:chExt cx="15684578" cy="1094397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5684582" cy="1094402"/>
              </a:xfrm>
              <a:custGeom>
                <a:avLst/>
                <a:gdLst/>
                <a:ahLst/>
                <a:cxnLst/>
                <a:rect r="r" b="b" t="t" l="l"/>
                <a:pathLst>
                  <a:path h="1094402" w="15684582">
                    <a:moveTo>
                      <a:pt x="0" y="0"/>
                    </a:moveTo>
                    <a:lnTo>
                      <a:pt x="15684582" y="0"/>
                    </a:lnTo>
                    <a:lnTo>
                      <a:pt x="15684582" y="1094402"/>
                    </a:lnTo>
                    <a:lnTo>
                      <a:pt x="0" y="109440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33481" r="-26345" b="-272163"/>
                </a:stretch>
              </a:blip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9525"/>
                <a:ext cx="15684578" cy="110392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44"/>
                  </a:lnSpc>
                </a:pPr>
                <a:r>
                  <a:rPr lang="en-US" sz="2600" i="true">
                    <a:solidFill>
                      <a:srgbClr val="191E3A"/>
                    </a:solidFill>
                    <a:latin typeface="DM Sans Italics"/>
                    <a:ea typeface="DM Sans Italics"/>
                    <a:cs typeface="DM Sans Italics"/>
                    <a:sym typeface="DM Sans Italics"/>
                  </a:rPr>
                  <a:t>Meye</a:t>
                </a:r>
                <a:r>
                  <a:rPr lang="en-US" sz="2600" i="true">
                    <a:solidFill>
                      <a:srgbClr val="191E3A"/>
                    </a:solidFill>
                    <a:latin typeface="DM Sans Italics"/>
                    <a:ea typeface="DM Sans Italics"/>
                    <a:cs typeface="DM Sans Italics"/>
                    <a:sym typeface="DM Sans Italics"/>
                  </a:rPr>
                  <a:t>r-Wallach gives a hardware-cheap measure of global entanglement from reduced states matrices.</a:t>
                </a: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15217673" y="9384535"/>
            <a:ext cx="2573750" cy="671065"/>
            <a:chOff x="0" y="0"/>
            <a:chExt cx="3431667" cy="894753"/>
          </a:xfrm>
        </p:grpSpPr>
        <p:sp>
          <p:nvSpPr>
            <p:cNvPr name="Freeform 16" id="16" descr="Picture 10"/>
            <p:cNvSpPr/>
            <p:nvPr/>
          </p:nvSpPr>
          <p:spPr>
            <a:xfrm flipH="false" flipV="false" rot="0">
              <a:off x="0" y="0"/>
              <a:ext cx="3431667" cy="894715"/>
            </a:xfrm>
            <a:custGeom>
              <a:avLst/>
              <a:gdLst/>
              <a:ahLst/>
              <a:cxnLst/>
              <a:rect r="r" b="b" t="t" l="l"/>
              <a:pathLst>
                <a:path h="894715" w="3431667">
                  <a:moveTo>
                    <a:pt x="0" y="0"/>
                  </a:moveTo>
                  <a:lnTo>
                    <a:pt x="3431667" y="0"/>
                  </a:lnTo>
                  <a:lnTo>
                    <a:pt x="3431667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53" t="0" r="-753" b="-4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430212" y="9366247"/>
            <a:ext cx="1388688" cy="671065"/>
            <a:chOff x="0" y="0"/>
            <a:chExt cx="1851584" cy="894753"/>
          </a:xfrm>
        </p:grpSpPr>
        <p:sp>
          <p:nvSpPr>
            <p:cNvPr name="Freeform 18" id="18" descr="Picture 11"/>
            <p:cNvSpPr/>
            <p:nvPr/>
          </p:nvSpPr>
          <p:spPr>
            <a:xfrm flipH="false" flipV="false" rot="0">
              <a:off x="0" y="0"/>
              <a:ext cx="1851533" cy="894715"/>
            </a:xfrm>
            <a:custGeom>
              <a:avLst/>
              <a:gdLst/>
              <a:ahLst/>
              <a:cxnLst/>
              <a:rect r="r" b="b" t="t" l="l"/>
              <a:pathLst>
                <a:path h="894715" w="1851533">
                  <a:moveTo>
                    <a:pt x="0" y="0"/>
                  </a:moveTo>
                  <a:lnTo>
                    <a:pt x="1851533" y="0"/>
                  </a:lnTo>
                  <a:lnTo>
                    <a:pt x="1851533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79" t="0" r="-382" b="-4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2053979" y="4484131"/>
            <a:ext cx="13312090" cy="2860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4" indent="-280672" lvl="1">
              <a:lnSpc>
                <a:spcPts val="3244"/>
              </a:lnSpc>
              <a:spcBef>
                <a:spcPct val="0"/>
              </a:spcBef>
              <a:buAutoNum type="arabicPeriod" startAt="1"/>
            </a:pPr>
            <a:r>
              <a:rPr lang="en-US" sz="2600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Sample N random parameter vectors</a:t>
            </a:r>
          </a:p>
          <a:p>
            <a:pPr algn="l" marL="561344" indent="-280672" lvl="1">
              <a:lnSpc>
                <a:spcPts val="3244"/>
              </a:lnSpc>
              <a:spcBef>
                <a:spcPct val="0"/>
              </a:spcBef>
              <a:buAutoNum type="arabicPeriod" startAt="1"/>
            </a:pPr>
            <a:r>
              <a:rPr lang="en-US" sz="2600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Prepare N states on IQM Spark</a:t>
            </a:r>
          </a:p>
          <a:p>
            <a:pPr algn="l" marL="561344" indent="-280672" lvl="1">
              <a:lnSpc>
                <a:spcPts val="3244"/>
              </a:lnSpc>
              <a:spcBef>
                <a:spcPct val="0"/>
              </a:spcBef>
              <a:buAutoNum type="arabicPeriod" startAt="1"/>
            </a:pPr>
            <a:r>
              <a:rPr lang="en-US" sz="2600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Reconstruct reduced density matrices </a:t>
            </a:r>
          </a:p>
          <a:p>
            <a:pPr algn="l" marL="561344" indent="-280672" lvl="1">
              <a:lnSpc>
                <a:spcPts val="3244"/>
              </a:lnSpc>
              <a:spcBef>
                <a:spcPct val="0"/>
              </a:spcBef>
              <a:buAutoNum type="arabicPeriod" startAt="1"/>
            </a:pPr>
            <a:r>
              <a:rPr lang="en-US" sz="2600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Compute Meyer-Wallach score</a:t>
            </a:r>
          </a:p>
          <a:p>
            <a:pPr algn="l">
              <a:lnSpc>
                <a:spcPts val="3244"/>
              </a:lnSpc>
              <a:spcBef>
                <a:spcPct val="0"/>
              </a:spcBef>
            </a:pPr>
          </a:p>
          <a:p>
            <a:pPr algn="l">
              <a:lnSpc>
                <a:spcPts val="3244"/>
              </a:lnSpc>
              <a:spcBef>
                <a:spcPct val="0"/>
              </a:spcBef>
            </a:pPr>
          </a:p>
          <a:p>
            <a:pPr algn="l">
              <a:lnSpc>
                <a:spcPts val="3244"/>
              </a:lnSpc>
              <a:spcBef>
                <a:spcPct val="0"/>
              </a:spcBef>
            </a:pPr>
          </a:p>
        </p:txBody>
      </p:sp>
      <p:grpSp>
        <p:nvGrpSpPr>
          <p:cNvPr name="Group 20" id="20"/>
          <p:cNvGrpSpPr/>
          <p:nvPr/>
        </p:nvGrpSpPr>
        <p:grpSpPr>
          <a:xfrm rot="0">
            <a:off x="6102209" y="6569527"/>
            <a:ext cx="7008226" cy="1550610"/>
            <a:chOff x="0" y="0"/>
            <a:chExt cx="6887959" cy="1524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887972" cy="1524000"/>
            </a:xfrm>
            <a:custGeom>
              <a:avLst/>
              <a:gdLst/>
              <a:ahLst/>
              <a:cxnLst/>
              <a:rect r="r" b="b" t="t" l="l"/>
              <a:pathLst>
                <a:path h="1524000" w="6887972">
                  <a:moveTo>
                    <a:pt x="0" y="0"/>
                  </a:moveTo>
                  <a:lnTo>
                    <a:pt x="6887972" y="0"/>
                  </a:lnTo>
                  <a:lnTo>
                    <a:pt x="6887972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36010" b="-1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704337" cy="10299697"/>
            <a:chOff x="0" y="0"/>
            <a:chExt cx="2272449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241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272411">
                  <a:moveTo>
                    <a:pt x="0" y="0"/>
                  </a:moveTo>
                  <a:lnTo>
                    <a:pt x="2272411" y="0"/>
                  </a:lnTo>
                  <a:lnTo>
                    <a:pt x="227241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243" y="377695"/>
            <a:ext cx="1311145" cy="1311145"/>
            <a:chOff x="0" y="0"/>
            <a:chExt cx="1748193" cy="1748193"/>
          </a:xfrm>
        </p:grpSpPr>
        <p:sp>
          <p:nvSpPr>
            <p:cNvPr name="Freeform 5" id="5" descr="Picture 2"/>
            <p:cNvSpPr/>
            <p:nvPr/>
          </p:nvSpPr>
          <p:spPr>
            <a:xfrm flipH="false" flipV="false" rot="0">
              <a:off x="0" y="0"/>
              <a:ext cx="1748155" cy="1748155"/>
            </a:xfrm>
            <a:custGeom>
              <a:avLst/>
              <a:gdLst/>
              <a:ahLst/>
              <a:cxnLst/>
              <a:rect r="r" b="b" t="t" l="l"/>
              <a:pathLst>
                <a:path h="1748155" w="1748155">
                  <a:moveTo>
                    <a:pt x="0" y="0"/>
                  </a:moveTo>
                  <a:lnTo>
                    <a:pt x="1748155" y="0"/>
                  </a:lnTo>
                  <a:lnTo>
                    <a:pt x="1748155" y="1748155"/>
                  </a:lnTo>
                  <a:lnTo>
                    <a:pt x="0" y="174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" b="-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39367" y="1812922"/>
            <a:ext cx="1612897" cy="6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Axion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Student Research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15878" y="9576940"/>
            <a:ext cx="170433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2/ 16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55759" y="1146172"/>
            <a:ext cx="4416028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Meyer-W</a:t>
            </a: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allach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053979" y="2427218"/>
            <a:ext cx="15737444" cy="1428264"/>
            <a:chOff x="0" y="0"/>
            <a:chExt cx="20983259" cy="1904352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20983259" cy="1904352"/>
              <a:chOff x="0" y="0"/>
              <a:chExt cx="20983259" cy="190435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0983347" cy="1904441"/>
              </a:xfrm>
              <a:custGeom>
                <a:avLst/>
                <a:gdLst/>
                <a:ahLst/>
                <a:cxnLst/>
                <a:rect r="r" b="b" t="t" l="l"/>
                <a:pathLst>
                  <a:path h="1904441" w="20983347">
                    <a:moveTo>
                      <a:pt x="0" y="209545"/>
                    </a:moveTo>
                    <a:cubicBezTo>
                      <a:pt x="0" y="93718"/>
                      <a:pt x="61537" y="0"/>
                      <a:pt x="137590" y="0"/>
                    </a:cubicBezTo>
                    <a:lnTo>
                      <a:pt x="20845759" y="0"/>
                    </a:lnTo>
                    <a:cubicBezTo>
                      <a:pt x="20921684" y="0"/>
                      <a:pt x="20983347" y="93718"/>
                      <a:pt x="20983347" y="209545"/>
                    </a:cubicBezTo>
                    <a:lnTo>
                      <a:pt x="20983347" y="1694944"/>
                    </a:lnTo>
                    <a:cubicBezTo>
                      <a:pt x="20983347" y="1810575"/>
                      <a:pt x="20921813" y="1904441"/>
                      <a:pt x="20845759" y="1904441"/>
                    </a:cubicBezTo>
                    <a:lnTo>
                      <a:pt x="137590" y="1904441"/>
                    </a:lnTo>
                    <a:cubicBezTo>
                      <a:pt x="61537" y="1904293"/>
                      <a:pt x="0" y="1810575"/>
                      <a:pt x="0" y="1694944"/>
                    </a:cubicBezTo>
                    <a:close/>
                  </a:path>
                </a:pathLst>
              </a:custGeom>
              <a:solidFill>
                <a:srgbClr val="ECEFF8"/>
              </a:solid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306800" y="350162"/>
              <a:ext cx="17255788" cy="1204028"/>
              <a:chOff x="0" y="0"/>
              <a:chExt cx="15684578" cy="1094397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5684582" cy="1094402"/>
              </a:xfrm>
              <a:custGeom>
                <a:avLst/>
                <a:gdLst/>
                <a:ahLst/>
                <a:cxnLst/>
                <a:rect r="r" b="b" t="t" l="l"/>
                <a:pathLst>
                  <a:path h="1094402" w="15684582">
                    <a:moveTo>
                      <a:pt x="0" y="0"/>
                    </a:moveTo>
                    <a:lnTo>
                      <a:pt x="15684582" y="0"/>
                    </a:lnTo>
                    <a:lnTo>
                      <a:pt x="15684582" y="1094402"/>
                    </a:lnTo>
                    <a:lnTo>
                      <a:pt x="0" y="109440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33481" r="-26345" b="-272163"/>
                </a:stretch>
              </a:blip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9525"/>
                <a:ext cx="15684578" cy="110392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44"/>
                  </a:lnSpc>
                </a:pPr>
                <a:r>
                  <a:rPr lang="en-US" sz="2600" i="true">
                    <a:solidFill>
                      <a:srgbClr val="191E3A"/>
                    </a:solidFill>
                    <a:latin typeface="DM Sans Italics"/>
                    <a:ea typeface="DM Sans Italics"/>
                    <a:cs typeface="DM Sans Italics"/>
                    <a:sym typeface="DM Sans Italics"/>
                  </a:rPr>
                  <a:t>Meye</a:t>
                </a:r>
                <a:r>
                  <a:rPr lang="en-US" sz="2600" i="true">
                    <a:solidFill>
                      <a:srgbClr val="191E3A"/>
                    </a:solidFill>
                    <a:latin typeface="DM Sans Italics"/>
                    <a:ea typeface="DM Sans Italics"/>
                    <a:cs typeface="DM Sans Italics"/>
                    <a:sym typeface="DM Sans Italics"/>
                  </a:rPr>
                  <a:t>r-Wallach gives a hardware-cheap measure of global entanglement from reduced states matrices.</a:t>
                </a: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15217673" y="9384535"/>
            <a:ext cx="2573750" cy="671065"/>
            <a:chOff x="0" y="0"/>
            <a:chExt cx="3431667" cy="894753"/>
          </a:xfrm>
        </p:grpSpPr>
        <p:sp>
          <p:nvSpPr>
            <p:cNvPr name="Freeform 16" id="16" descr="Picture 10"/>
            <p:cNvSpPr/>
            <p:nvPr/>
          </p:nvSpPr>
          <p:spPr>
            <a:xfrm flipH="false" flipV="false" rot="0">
              <a:off x="0" y="0"/>
              <a:ext cx="3431667" cy="894715"/>
            </a:xfrm>
            <a:custGeom>
              <a:avLst/>
              <a:gdLst/>
              <a:ahLst/>
              <a:cxnLst/>
              <a:rect r="r" b="b" t="t" l="l"/>
              <a:pathLst>
                <a:path h="894715" w="3431667">
                  <a:moveTo>
                    <a:pt x="0" y="0"/>
                  </a:moveTo>
                  <a:lnTo>
                    <a:pt x="3431667" y="0"/>
                  </a:lnTo>
                  <a:lnTo>
                    <a:pt x="3431667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53" t="0" r="-753" b="-4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430212" y="9366247"/>
            <a:ext cx="1388688" cy="671065"/>
            <a:chOff x="0" y="0"/>
            <a:chExt cx="1851584" cy="894753"/>
          </a:xfrm>
        </p:grpSpPr>
        <p:sp>
          <p:nvSpPr>
            <p:cNvPr name="Freeform 18" id="18" descr="Picture 11"/>
            <p:cNvSpPr/>
            <p:nvPr/>
          </p:nvSpPr>
          <p:spPr>
            <a:xfrm flipH="false" flipV="false" rot="0">
              <a:off x="0" y="0"/>
              <a:ext cx="1851533" cy="894715"/>
            </a:xfrm>
            <a:custGeom>
              <a:avLst/>
              <a:gdLst/>
              <a:ahLst/>
              <a:cxnLst/>
              <a:rect r="r" b="b" t="t" l="l"/>
              <a:pathLst>
                <a:path h="894715" w="1851533">
                  <a:moveTo>
                    <a:pt x="0" y="0"/>
                  </a:moveTo>
                  <a:lnTo>
                    <a:pt x="1851533" y="0"/>
                  </a:lnTo>
                  <a:lnTo>
                    <a:pt x="1851533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79" t="0" r="-382" b="-4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2053979" y="4484131"/>
            <a:ext cx="13312090" cy="2860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4" indent="-280672" lvl="1">
              <a:lnSpc>
                <a:spcPts val="3244"/>
              </a:lnSpc>
              <a:spcBef>
                <a:spcPct val="0"/>
              </a:spcBef>
              <a:buAutoNum type="arabicPeriod" startAt="1"/>
            </a:pPr>
            <a:r>
              <a:rPr lang="en-US" sz="2600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Sample N random parameter vectors</a:t>
            </a:r>
          </a:p>
          <a:p>
            <a:pPr algn="l" marL="561344" indent="-280672" lvl="1">
              <a:lnSpc>
                <a:spcPts val="3244"/>
              </a:lnSpc>
              <a:spcBef>
                <a:spcPct val="0"/>
              </a:spcBef>
              <a:buAutoNum type="arabicPeriod" startAt="1"/>
            </a:pPr>
            <a:r>
              <a:rPr lang="en-US" sz="2600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Prepare N states on IQM Spark</a:t>
            </a:r>
          </a:p>
          <a:p>
            <a:pPr algn="l" marL="561344" indent="-280672" lvl="1">
              <a:lnSpc>
                <a:spcPts val="3244"/>
              </a:lnSpc>
              <a:spcBef>
                <a:spcPct val="0"/>
              </a:spcBef>
              <a:buAutoNum type="arabicPeriod" startAt="1"/>
            </a:pPr>
            <a:r>
              <a:rPr lang="en-US" sz="2600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Reconstruct reduced density matrices </a:t>
            </a:r>
          </a:p>
          <a:p>
            <a:pPr algn="l" marL="561344" indent="-280672" lvl="1">
              <a:lnSpc>
                <a:spcPts val="3244"/>
              </a:lnSpc>
              <a:spcBef>
                <a:spcPct val="0"/>
              </a:spcBef>
              <a:buAutoNum type="arabicPeriod" startAt="1"/>
            </a:pPr>
            <a:r>
              <a:rPr lang="en-US" sz="2600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Compute Meyer-Wallach score</a:t>
            </a:r>
          </a:p>
          <a:p>
            <a:pPr algn="l">
              <a:lnSpc>
                <a:spcPts val="3244"/>
              </a:lnSpc>
              <a:spcBef>
                <a:spcPct val="0"/>
              </a:spcBef>
            </a:pPr>
          </a:p>
          <a:p>
            <a:pPr algn="l">
              <a:lnSpc>
                <a:spcPts val="3244"/>
              </a:lnSpc>
              <a:spcBef>
                <a:spcPct val="0"/>
              </a:spcBef>
            </a:pPr>
          </a:p>
          <a:p>
            <a:pPr algn="l">
              <a:lnSpc>
                <a:spcPts val="3244"/>
              </a:lnSpc>
              <a:spcBef>
                <a:spcPct val="0"/>
              </a:spcBef>
            </a:pPr>
          </a:p>
        </p:txBody>
      </p:sp>
      <p:grpSp>
        <p:nvGrpSpPr>
          <p:cNvPr name="Group 20" id="20"/>
          <p:cNvGrpSpPr/>
          <p:nvPr/>
        </p:nvGrpSpPr>
        <p:grpSpPr>
          <a:xfrm rot="0">
            <a:off x="6501567" y="6674458"/>
            <a:ext cx="6247611" cy="1340747"/>
            <a:chOff x="0" y="0"/>
            <a:chExt cx="6514059" cy="139792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514084" cy="1397889"/>
            </a:xfrm>
            <a:custGeom>
              <a:avLst/>
              <a:gdLst/>
              <a:ahLst/>
              <a:cxnLst/>
              <a:rect r="r" b="b" t="t" l="l"/>
              <a:pathLst>
                <a:path h="1397889" w="6514084">
                  <a:moveTo>
                    <a:pt x="0" y="0"/>
                  </a:moveTo>
                  <a:lnTo>
                    <a:pt x="6514084" y="0"/>
                  </a:lnTo>
                  <a:lnTo>
                    <a:pt x="6514084" y="1397889"/>
                  </a:lnTo>
                  <a:lnTo>
                    <a:pt x="0" y="13978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28908" b="-2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704337" cy="10299697"/>
            <a:chOff x="0" y="0"/>
            <a:chExt cx="2272449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241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272411">
                  <a:moveTo>
                    <a:pt x="0" y="0"/>
                  </a:moveTo>
                  <a:lnTo>
                    <a:pt x="2272411" y="0"/>
                  </a:lnTo>
                  <a:lnTo>
                    <a:pt x="227241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243" y="377695"/>
            <a:ext cx="1311145" cy="1311145"/>
            <a:chOff x="0" y="0"/>
            <a:chExt cx="1748193" cy="1748193"/>
          </a:xfrm>
        </p:grpSpPr>
        <p:sp>
          <p:nvSpPr>
            <p:cNvPr name="Freeform 5" id="5" descr="Picture 2"/>
            <p:cNvSpPr/>
            <p:nvPr/>
          </p:nvSpPr>
          <p:spPr>
            <a:xfrm flipH="false" flipV="false" rot="0">
              <a:off x="0" y="0"/>
              <a:ext cx="1748155" cy="1748155"/>
            </a:xfrm>
            <a:custGeom>
              <a:avLst/>
              <a:gdLst/>
              <a:ahLst/>
              <a:cxnLst/>
              <a:rect r="r" b="b" t="t" l="l"/>
              <a:pathLst>
                <a:path h="1748155" w="1748155">
                  <a:moveTo>
                    <a:pt x="0" y="0"/>
                  </a:moveTo>
                  <a:lnTo>
                    <a:pt x="1748155" y="0"/>
                  </a:lnTo>
                  <a:lnTo>
                    <a:pt x="1748155" y="1748155"/>
                  </a:lnTo>
                  <a:lnTo>
                    <a:pt x="0" y="174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499355" y="2202179"/>
            <a:ext cx="14862553" cy="721294"/>
            <a:chOff x="0" y="0"/>
            <a:chExt cx="19816737" cy="9617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816741" cy="961731"/>
            </a:xfrm>
            <a:custGeom>
              <a:avLst/>
              <a:gdLst/>
              <a:ahLst/>
              <a:cxnLst/>
              <a:rect r="r" b="b" t="t" l="l"/>
              <a:pathLst>
                <a:path h="961731" w="19816741">
                  <a:moveTo>
                    <a:pt x="0" y="0"/>
                  </a:moveTo>
                  <a:lnTo>
                    <a:pt x="19816741" y="0"/>
                  </a:lnTo>
                  <a:lnTo>
                    <a:pt x="19816741" y="961731"/>
                  </a:lnTo>
                  <a:lnTo>
                    <a:pt x="0" y="9617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9486" r="0" b="-32350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9816737" cy="971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9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217673" y="9384535"/>
            <a:ext cx="2573750" cy="671065"/>
            <a:chOff x="0" y="0"/>
            <a:chExt cx="3431667" cy="894753"/>
          </a:xfrm>
        </p:grpSpPr>
        <p:sp>
          <p:nvSpPr>
            <p:cNvPr name="Freeform 10" id="10" descr="Picture 10"/>
            <p:cNvSpPr/>
            <p:nvPr/>
          </p:nvSpPr>
          <p:spPr>
            <a:xfrm flipH="false" flipV="false" rot="0">
              <a:off x="0" y="0"/>
              <a:ext cx="3431667" cy="894715"/>
            </a:xfrm>
            <a:custGeom>
              <a:avLst/>
              <a:gdLst/>
              <a:ahLst/>
              <a:cxnLst/>
              <a:rect r="r" b="b" t="t" l="l"/>
              <a:pathLst>
                <a:path h="894715" w="3431667">
                  <a:moveTo>
                    <a:pt x="0" y="0"/>
                  </a:moveTo>
                  <a:lnTo>
                    <a:pt x="3431667" y="0"/>
                  </a:lnTo>
                  <a:lnTo>
                    <a:pt x="3431667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53" t="0" r="-753" b="-4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430212" y="9366247"/>
            <a:ext cx="1388688" cy="671065"/>
            <a:chOff x="0" y="0"/>
            <a:chExt cx="1851584" cy="894753"/>
          </a:xfrm>
        </p:grpSpPr>
        <p:sp>
          <p:nvSpPr>
            <p:cNvPr name="Freeform 12" id="12" descr="Picture 11"/>
            <p:cNvSpPr/>
            <p:nvPr/>
          </p:nvSpPr>
          <p:spPr>
            <a:xfrm flipH="false" flipV="false" rot="0">
              <a:off x="0" y="0"/>
              <a:ext cx="1851533" cy="894715"/>
            </a:xfrm>
            <a:custGeom>
              <a:avLst/>
              <a:gdLst/>
              <a:ahLst/>
              <a:cxnLst/>
              <a:rect r="r" b="b" t="t" l="l"/>
              <a:pathLst>
                <a:path h="894715" w="1851533">
                  <a:moveTo>
                    <a:pt x="0" y="0"/>
                  </a:moveTo>
                  <a:lnTo>
                    <a:pt x="1851533" y="0"/>
                  </a:lnTo>
                  <a:lnTo>
                    <a:pt x="1851533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79" t="0" r="-382" b="-4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151883" y="2427218"/>
            <a:ext cx="15557497" cy="948403"/>
            <a:chOff x="0" y="0"/>
            <a:chExt cx="20743329" cy="1264538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20743329" cy="1264538"/>
              <a:chOff x="0" y="0"/>
              <a:chExt cx="20743329" cy="1264538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0743418" cy="1264627"/>
              </a:xfrm>
              <a:custGeom>
                <a:avLst/>
                <a:gdLst/>
                <a:ahLst/>
                <a:cxnLst/>
                <a:rect r="r" b="b" t="t" l="l"/>
                <a:pathLst>
                  <a:path h="1264627" w="20743418">
                    <a:moveTo>
                      <a:pt x="0" y="139143"/>
                    </a:moveTo>
                    <a:cubicBezTo>
                      <a:pt x="0" y="62231"/>
                      <a:pt x="60833" y="0"/>
                      <a:pt x="136017" y="0"/>
                    </a:cubicBezTo>
                    <a:lnTo>
                      <a:pt x="20607401" y="0"/>
                    </a:lnTo>
                    <a:cubicBezTo>
                      <a:pt x="20682458" y="0"/>
                      <a:pt x="20743418" y="62231"/>
                      <a:pt x="20743418" y="139143"/>
                    </a:cubicBezTo>
                    <a:lnTo>
                      <a:pt x="20743418" y="1125486"/>
                    </a:lnTo>
                    <a:cubicBezTo>
                      <a:pt x="20743418" y="1202268"/>
                      <a:pt x="20682586" y="1264627"/>
                      <a:pt x="20607401" y="1264627"/>
                    </a:cubicBezTo>
                    <a:lnTo>
                      <a:pt x="136017" y="1264627"/>
                    </a:lnTo>
                    <a:cubicBezTo>
                      <a:pt x="60833" y="1264499"/>
                      <a:pt x="0" y="1202268"/>
                      <a:pt x="0" y="1125486"/>
                    </a:cubicBezTo>
                    <a:close/>
                  </a:path>
                </a:pathLst>
              </a:custGeom>
              <a:solidFill>
                <a:srgbClr val="ECEFF8"/>
              </a:solidFill>
            </p:spPr>
          </p:sp>
        </p:grpSp>
        <p:grpSp>
          <p:nvGrpSpPr>
            <p:cNvPr name="Group 16" id="16"/>
            <p:cNvGrpSpPr/>
            <p:nvPr/>
          </p:nvGrpSpPr>
          <p:grpSpPr>
            <a:xfrm rot="0">
              <a:off x="238777" y="151406"/>
              <a:ext cx="19816737" cy="961725"/>
              <a:chOff x="0" y="0"/>
              <a:chExt cx="19816737" cy="961725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9816741" cy="961731"/>
              </a:xfrm>
              <a:custGeom>
                <a:avLst/>
                <a:gdLst/>
                <a:ahLst/>
                <a:cxnLst/>
                <a:rect r="r" b="b" t="t" l="l"/>
                <a:pathLst>
                  <a:path h="961731" w="19816741">
                    <a:moveTo>
                      <a:pt x="0" y="0"/>
                    </a:moveTo>
                    <a:lnTo>
                      <a:pt x="19816741" y="0"/>
                    </a:lnTo>
                    <a:lnTo>
                      <a:pt x="19816741" y="961731"/>
                    </a:lnTo>
                    <a:lnTo>
                      <a:pt x="0" y="961731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79486" r="0" b="-323503"/>
                </a:stretch>
              </a:blip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9525"/>
                <a:ext cx="19816737" cy="97125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44"/>
                  </a:lnSpc>
                </a:pPr>
                <a:r>
                  <a:rPr lang="en-US" sz="2600" i="true">
                    <a:solidFill>
                      <a:srgbClr val="191E3A"/>
                    </a:solidFill>
                    <a:latin typeface="DM Sans Italics"/>
                    <a:ea typeface="DM Sans Italics"/>
                    <a:cs typeface="DM Sans Italics"/>
                    <a:sym typeface="DM Sans Italics"/>
                  </a:rPr>
                  <a:t>Simulator-based test suggests a difference, that is not present/observable on QPU</a:t>
                </a:r>
              </a:p>
            </p:txBody>
          </p:sp>
        </p:grpSp>
      </p:grpSp>
      <p:sp>
        <p:nvSpPr>
          <p:cNvPr name="Freeform 19" id="19"/>
          <p:cNvSpPr/>
          <p:nvPr/>
        </p:nvSpPr>
        <p:spPr>
          <a:xfrm flipH="false" flipV="false" rot="0">
            <a:off x="2053175" y="3756621"/>
            <a:ext cx="7545351" cy="4579085"/>
          </a:xfrm>
          <a:custGeom>
            <a:avLst/>
            <a:gdLst/>
            <a:ahLst/>
            <a:cxnLst/>
            <a:rect r="r" b="b" t="t" l="l"/>
            <a:pathLst>
              <a:path h="4579085" w="7545351">
                <a:moveTo>
                  <a:pt x="0" y="0"/>
                </a:moveTo>
                <a:lnTo>
                  <a:pt x="7545351" y="0"/>
                </a:lnTo>
                <a:lnTo>
                  <a:pt x="7545351" y="4579085"/>
                </a:lnTo>
                <a:lnTo>
                  <a:pt x="0" y="45790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0253332" y="3832541"/>
            <a:ext cx="7456048" cy="4624638"/>
          </a:xfrm>
          <a:custGeom>
            <a:avLst/>
            <a:gdLst/>
            <a:ahLst/>
            <a:cxnLst/>
            <a:rect r="r" b="b" t="t" l="l"/>
            <a:pathLst>
              <a:path h="4624638" w="7456048">
                <a:moveTo>
                  <a:pt x="0" y="0"/>
                </a:moveTo>
                <a:lnTo>
                  <a:pt x="7456048" y="0"/>
                </a:lnTo>
                <a:lnTo>
                  <a:pt x="7456048" y="4624638"/>
                </a:lnTo>
                <a:lnTo>
                  <a:pt x="0" y="462463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9367" y="1812922"/>
            <a:ext cx="1612897" cy="6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Axion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Student Research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-6353" y="9567415"/>
            <a:ext cx="170433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13 / 16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151883" y="1184272"/>
            <a:ext cx="6958757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Meyer-Wallach - Results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267288" y="8555436"/>
            <a:ext cx="10716169" cy="399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5"/>
              </a:lnSpc>
            </a:pPr>
            <a:r>
              <a:rPr lang="en-US" sz="2599" i="true">
                <a:solidFill>
                  <a:srgbClr val="191E3A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Hardware                                                                    Simulator</a:t>
            </a:r>
          </a:p>
        </p:txBody>
      </p:sp>
    </p:spTree>
  </p:cSld>
  <p:clrMapOvr>
    <a:masterClrMapping/>
  </p:clrMapOvr>
  <p:transition spd="fast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704337" cy="10299697"/>
            <a:chOff x="0" y="0"/>
            <a:chExt cx="2272449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241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272411">
                  <a:moveTo>
                    <a:pt x="0" y="0"/>
                  </a:moveTo>
                  <a:lnTo>
                    <a:pt x="2272411" y="0"/>
                  </a:lnTo>
                  <a:lnTo>
                    <a:pt x="227241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243" y="377695"/>
            <a:ext cx="1311145" cy="1311145"/>
            <a:chOff x="0" y="0"/>
            <a:chExt cx="1748193" cy="1748193"/>
          </a:xfrm>
        </p:grpSpPr>
        <p:sp>
          <p:nvSpPr>
            <p:cNvPr name="Freeform 5" id="5" descr="Picture 2"/>
            <p:cNvSpPr/>
            <p:nvPr/>
          </p:nvSpPr>
          <p:spPr>
            <a:xfrm flipH="false" flipV="false" rot="0">
              <a:off x="0" y="0"/>
              <a:ext cx="1748155" cy="1748155"/>
            </a:xfrm>
            <a:custGeom>
              <a:avLst/>
              <a:gdLst/>
              <a:ahLst/>
              <a:cxnLst/>
              <a:rect r="r" b="b" t="t" l="l"/>
              <a:pathLst>
                <a:path h="1748155" w="1748155">
                  <a:moveTo>
                    <a:pt x="0" y="0"/>
                  </a:moveTo>
                  <a:lnTo>
                    <a:pt x="1748155" y="0"/>
                  </a:lnTo>
                  <a:lnTo>
                    <a:pt x="1748155" y="1748155"/>
                  </a:lnTo>
                  <a:lnTo>
                    <a:pt x="0" y="174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" b="-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39367" y="1812922"/>
            <a:ext cx="1612897" cy="6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Axion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Student Research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6353" y="9567415"/>
            <a:ext cx="170433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09</a:t>
            </a: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/ 16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18445" y="1184272"/>
            <a:ext cx="3874145" cy="638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E</a:t>
            </a: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xpressibility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5217673" y="9384535"/>
            <a:ext cx="2573750" cy="671065"/>
            <a:chOff x="0" y="0"/>
            <a:chExt cx="3431667" cy="894753"/>
          </a:xfrm>
        </p:grpSpPr>
        <p:sp>
          <p:nvSpPr>
            <p:cNvPr name="Freeform 10" id="10" descr="Picture 10"/>
            <p:cNvSpPr/>
            <p:nvPr/>
          </p:nvSpPr>
          <p:spPr>
            <a:xfrm flipH="false" flipV="false" rot="0">
              <a:off x="0" y="0"/>
              <a:ext cx="3431667" cy="894715"/>
            </a:xfrm>
            <a:custGeom>
              <a:avLst/>
              <a:gdLst/>
              <a:ahLst/>
              <a:cxnLst/>
              <a:rect r="r" b="b" t="t" l="l"/>
              <a:pathLst>
                <a:path h="894715" w="3431667">
                  <a:moveTo>
                    <a:pt x="0" y="0"/>
                  </a:moveTo>
                  <a:lnTo>
                    <a:pt x="3431667" y="0"/>
                  </a:lnTo>
                  <a:lnTo>
                    <a:pt x="3431667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3" t="0" r="-753" b="-4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430212" y="9366247"/>
            <a:ext cx="1388688" cy="671065"/>
            <a:chOff x="0" y="0"/>
            <a:chExt cx="1851584" cy="894753"/>
          </a:xfrm>
        </p:grpSpPr>
        <p:sp>
          <p:nvSpPr>
            <p:cNvPr name="Freeform 12" id="12" descr="Picture 11"/>
            <p:cNvSpPr/>
            <p:nvPr/>
          </p:nvSpPr>
          <p:spPr>
            <a:xfrm flipH="false" flipV="false" rot="0">
              <a:off x="0" y="0"/>
              <a:ext cx="1851533" cy="894715"/>
            </a:xfrm>
            <a:custGeom>
              <a:avLst/>
              <a:gdLst/>
              <a:ahLst/>
              <a:cxnLst/>
              <a:rect r="r" b="b" t="t" l="l"/>
              <a:pathLst>
                <a:path h="894715" w="1851533">
                  <a:moveTo>
                    <a:pt x="0" y="0"/>
                  </a:moveTo>
                  <a:lnTo>
                    <a:pt x="1851533" y="0"/>
                  </a:lnTo>
                  <a:lnTo>
                    <a:pt x="1851533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79" t="0" r="-382" b="-4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192925" y="9462640"/>
            <a:ext cx="10528297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i="true">
                <a:solidFill>
                  <a:srgbClr val="525C73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Und</a:t>
            </a:r>
            <a:r>
              <a:rPr lang="en-US" sz="1500" i="true">
                <a:solidFill>
                  <a:srgbClr val="525C73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erstanding the Haar measure, </a:t>
            </a:r>
            <a:r>
              <a:rPr lang="en-US" sz="1500" i="true" u="sng">
                <a:solidFill>
                  <a:srgbClr val="525C73"/>
                </a:solidFill>
                <a:latin typeface="DM Sans Italics"/>
                <a:ea typeface="DM Sans Italics"/>
                <a:cs typeface="DM Sans Italics"/>
                <a:sym typeface="DM Sans Italics"/>
                <a:hlinkClick r:id="rId5" tooltip="https://pennylane.ai/profile/glassnotes"/>
              </a:rPr>
              <a:t>Olivia Di Matteo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2018445" y="2427218"/>
            <a:ext cx="15557497" cy="948403"/>
            <a:chOff x="0" y="0"/>
            <a:chExt cx="20743329" cy="1264538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20743329" cy="1264538"/>
              <a:chOff x="0" y="0"/>
              <a:chExt cx="20743329" cy="1264538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20743418" cy="1264627"/>
              </a:xfrm>
              <a:custGeom>
                <a:avLst/>
                <a:gdLst/>
                <a:ahLst/>
                <a:cxnLst/>
                <a:rect r="r" b="b" t="t" l="l"/>
                <a:pathLst>
                  <a:path h="1264627" w="20743418">
                    <a:moveTo>
                      <a:pt x="0" y="139143"/>
                    </a:moveTo>
                    <a:cubicBezTo>
                      <a:pt x="0" y="62231"/>
                      <a:pt x="60833" y="0"/>
                      <a:pt x="136017" y="0"/>
                    </a:cubicBezTo>
                    <a:lnTo>
                      <a:pt x="20607401" y="0"/>
                    </a:lnTo>
                    <a:cubicBezTo>
                      <a:pt x="20682458" y="0"/>
                      <a:pt x="20743418" y="62231"/>
                      <a:pt x="20743418" y="139143"/>
                    </a:cubicBezTo>
                    <a:lnTo>
                      <a:pt x="20743418" y="1125486"/>
                    </a:lnTo>
                    <a:cubicBezTo>
                      <a:pt x="20743418" y="1202268"/>
                      <a:pt x="20682586" y="1264627"/>
                      <a:pt x="20607401" y="1264627"/>
                    </a:cubicBezTo>
                    <a:lnTo>
                      <a:pt x="136017" y="1264627"/>
                    </a:lnTo>
                    <a:cubicBezTo>
                      <a:pt x="60833" y="1264499"/>
                      <a:pt x="0" y="1202268"/>
                      <a:pt x="0" y="1125486"/>
                    </a:cubicBezTo>
                    <a:close/>
                  </a:path>
                </a:pathLst>
              </a:custGeom>
              <a:solidFill>
                <a:srgbClr val="ECEFF8"/>
              </a:solidFill>
            </p:spPr>
          </p:sp>
        </p:grpSp>
        <p:grpSp>
          <p:nvGrpSpPr>
            <p:cNvPr name="Group 17" id="17"/>
            <p:cNvGrpSpPr/>
            <p:nvPr/>
          </p:nvGrpSpPr>
          <p:grpSpPr>
            <a:xfrm rot="0">
              <a:off x="238777" y="151406"/>
              <a:ext cx="19816737" cy="961725"/>
              <a:chOff x="0" y="0"/>
              <a:chExt cx="19816737" cy="961725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9816741" cy="961731"/>
              </a:xfrm>
              <a:custGeom>
                <a:avLst/>
                <a:gdLst/>
                <a:ahLst/>
                <a:cxnLst/>
                <a:rect r="r" b="b" t="t" l="l"/>
                <a:pathLst>
                  <a:path h="961731" w="19816741">
                    <a:moveTo>
                      <a:pt x="0" y="0"/>
                    </a:moveTo>
                    <a:lnTo>
                      <a:pt x="19816741" y="0"/>
                    </a:lnTo>
                    <a:lnTo>
                      <a:pt x="19816741" y="961731"/>
                    </a:lnTo>
                    <a:lnTo>
                      <a:pt x="0" y="96173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379486" r="0" b="-323503"/>
                </a:stretch>
              </a:blip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9525"/>
                <a:ext cx="19816737" cy="97125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44"/>
                  </a:lnSpc>
                </a:pPr>
                <a:r>
                  <a:rPr lang="en-US" sz="2600" i="true">
                    <a:solidFill>
                      <a:srgbClr val="191E3A"/>
                    </a:solidFill>
                    <a:latin typeface="DM Sans Italics"/>
                    <a:ea typeface="DM Sans Italics"/>
                    <a:cs typeface="DM Sans Italics"/>
                    <a:sym typeface="DM Sans Italics"/>
                  </a:rPr>
                  <a:t>Expressibility me</a:t>
                </a:r>
                <a:r>
                  <a:rPr lang="en-US" sz="2600" i="true">
                    <a:solidFill>
                      <a:srgbClr val="191E3A"/>
                    </a:solidFill>
                    <a:latin typeface="DM Sans Italics"/>
                    <a:ea typeface="DM Sans Italics"/>
                    <a:cs typeface="DM Sans Italics"/>
                    <a:sym typeface="DM Sans Italics"/>
                  </a:rPr>
                  <a:t>asures how broadly an ansatz explores state space, against the Haar ideal.</a:t>
                </a:r>
              </a:p>
            </p:txBody>
          </p:sp>
        </p:grpSp>
      </p:grpSp>
      <p:grpSp>
        <p:nvGrpSpPr>
          <p:cNvPr name="Group 20" id="20"/>
          <p:cNvGrpSpPr/>
          <p:nvPr/>
        </p:nvGrpSpPr>
        <p:grpSpPr>
          <a:xfrm rot="0">
            <a:off x="4743878" y="3864165"/>
            <a:ext cx="10078880" cy="4602624"/>
            <a:chOff x="0" y="0"/>
            <a:chExt cx="13438507" cy="613683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7301674" y="0"/>
              <a:ext cx="6136832" cy="6136832"/>
            </a:xfrm>
            <a:custGeom>
              <a:avLst/>
              <a:gdLst/>
              <a:ahLst/>
              <a:cxnLst/>
              <a:rect r="r" b="b" t="t" l="l"/>
              <a:pathLst>
                <a:path h="6136832" w="6136832">
                  <a:moveTo>
                    <a:pt x="0" y="0"/>
                  </a:moveTo>
                  <a:lnTo>
                    <a:pt x="6136833" y="0"/>
                  </a:lnTo>
                  <a:lnTo>
                    <a:pt x="6136833" y="6136832"/>
                  </a:lnTo>
                  <a:lnTo>
                    <a:pt x="0" y="6136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136832" cy="6136832"/>
            </a:xfrm>
            <a:custGeom>
              <a:avLst/>
              <a:gdLst/>
              <a:ahLst/>
              <a:cxnLst/>
              <a:rect r="r" b="b" t="t" l="l"/>
              <a:pathLst>
                <a:path h="6136832" w="6136832">
                  <a:moveTo>
                    <a:pt x="0" y="0"/>
                  </a:moveTo>
                  <a:lnTo>
                    <a:pt x="6136832" y="0"/>
                  </a:lnTo>
                  <a:lnTo>
                    <a:pt x="6136832" y="6136832"/>
                  </a:lnTo>
                  <a:lnTo>
                    <a:pt x="0" y="6136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 rot="0">
              <a:off x="1566012" y="-76200"/>
              <a:ext cx="3003761" cy="9213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13"/>
                </a:lnSpc>
                <a:spcBef>
                  <a:spcPct val="0"/>
                </a:spcBef>
              </a:pPr>
              <a:r>
                <a:rPr lang="en-US" sz="4223">
                  <a:solidFill>
                    <a:srgbClr val="191E3A"/>
                  </a:solidFill>
                  <a:latin typeface="Open Sans"/>
                  <a:ea typeface="Open Sans"/>
                  <a:cs typeface="Open Sans"/>
                  <a:sym typeface="Open Sans"/>
                </a:rPr>
                <a:t>Random: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9583899" y="-18998"/>
              <a:ext cx="1682933" cy="8641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13"/>
                </a:lnSpc>
                <a:spcBef>
                  <a:spcPct val="0"/>
                </a:spcBef>
              </a:pPr>
              <a:r>
                <a:rPr lang="en-US" sz="3937">
                  <a:solidFill>
                    <a:srgbClr val="191E3A"/>
                  </a:solidFill>
                  <a:latin typeface="Open Sans"/>
                  <a:ea typeface="Open Sans"/>
                  <a:cs typeface="Open Sans"/>
                  <a:sym typeface="Open Sans"/>
                </a:rPr>
                <a:t>Haar: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704337" cy="10299697"/>
            <a:chOff x="0" y="0"/>
            <a:chExt cx="2272449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241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272411">
                  <a:moveTo>
                    <a:pt x="0" y="0"/>
                  </a:moveTo>
                  <a:lnTo>
                    <a:pt x="2272411" y="0"/>
                  </a:lnTo>
                  <a:lnTo>
                    <a:pt x="227241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243" y="377695"/>
            <a:ext cx="1311145" cy="1311145"/>
            <a:chOff x="0" y="0"/>
            <a:chExt cx="1748193" cy="1748193"/>
          </a:xfrm>
        </p:grpSpPr>
        <p:sp>
          <p:nvSpPr>
            <p:cNvPr name="Freeform 5" id="5" descr="Picture 2"/>
            <p:cNvSpPr/>
            <p:nvPr/>
          </p:nvSpPr>
          <p:spPr>
            <a:xfrm flipH="false" flipV="false" rot="0">
              <a:off x="0" y="0"/>
              <a:ext cx="1748155" cy="1748155"/>
            </a:xfrm>
            <a:custGeom>
              <a:avLst/>
              <a:gdLst/>
              <a:ahLst/>
              <a:cxnLst/>
              <a:rect r="r" b="b" t="t" l="l"/>
              <a:pathLst>
                <a:path h="1748155" w="1748155">
                  <a:moveTo>
                    <a:pt x="0" y="0"/>
                  </a:moveTo>
                  <a:lnTo>
                    <a:pt x="1748155" y="0"/>
                  </a:lnTo>
                  <a:lnTo>
                    <a:pt x="1748155" y="1748155"/>
                  </a:lnTo>
                  <a:lnTo>
                    <a:pt x="0" y="174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" b="-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39367" y="1812922"/>
            <a:ext cx="1612897" cy="6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Axion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Student Research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6353" y="9567415"/>
            <a:ext cx="170433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10</a:t>
            </a: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/ 16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18445" y="1184272"/>
            <a:ext cx="1099820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KL expressibility</a:t>
            </a: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 on hardware protocol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5217673" y="9384535"/>
            <a:ext cx="2573750" cy="671065"/>
            <a:chOff x="0" y="0"/>
            <a:chExt cx="3431667" cy="894753"/>
          </a:xfrm>
        </p:grpSpPr>
        <p:sp>
          <p:nvSpPr>
            <p:cNvPr name="Freeform 10" id="10" descr="Picture 10"/>
            <p:cNvSpPr/>
            <p:nvPr/>
          </p:nvSpPr>
          <p:spPr>
            <a:xfrm flipH="false" flipV="false" rot="0">
              <a:off x="0" y="0"/>
              <a:ext cx="3431667" cy="894715"/>
            </a:xfrm>
            <a:custGeom>
              <a:avLst/>
              <a:gdLst/>
              <a:ahLst/>
              <a:cxnLst/>
              <a:rect r="r" b="b" t="t" l="l"/>
              <a:pathLst>
                <a:path h="894715" w="3431667">
                  <a:moveTo>
                    <a:pt x="0" y="0"/>
                  </a:moveTo>
                  <a:lnTo>
                    <a:pt x="3431667" y="0"/>
                  </a:lnTo>
                  <a:lnTo>
                    <a:pt x="3431667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3" t="0" r="-753" b="-4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430212" y="9366247"/>
            <a:ext cx="1388688" cy="671065"/>
            <a:chOff x="0" y="0"/>
            <a:chExt cx="1851584" cy="894753"/>
          </a:xfrm>
        </p:grpSpPr>
        <p:sp>
          <p:nvSpPr>
            <p:cNvPr name="Freeform 12" id="12" descr="Picture 11"/>
            <p:cNvSpPr/>
            <p:nvPr/>
          </p:nvSpPr>
          <p:spPr>
            <a:xfrm flipH="false" flipV="false" rot="0">
              <a:off x="0" y="0"/>
              <a:ext cx="1851533" cy="894715"/>
            </a:xfrm>
            <a:custGeom>
              <a:avLst/>
              <a:gdLst/>
              <a:ahLst/>
              <a:cxnLst/>
              <a:rect r="r" b="b" t="t" l="l"/>
              <a:pathLst>
                <a:path h="894715" w="1851533">
                  <a:moveTo>
                    <a:pt x="0" y="0"/>
                  </a:moveTo>
                  <a:lnTo>
                    <a:pt x="1851533" y="0"/>
                  </a:lnTo>
                  <a:lnTo>
                    <a:pt x="1851533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79" t="0" r="-382" b="-4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018445" y="2427218"/>
            <a:ext cx="15557497" cy="1130131"/>
            <a:chOff x="0" y="0"/>
            <a:chExt cx="20743329" cy="1506841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20743329" cy="1506841"/>
              <a:chOff x="0" y="0"/>
              <a:chExt cx="20743329" cy="1506841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0743418" cy="1506930"/>
              </a:xfrm>
              <a:custGeom>
                <a:avLst/>
                <a:gdLst/>
                <a:ahLst/>
                <a:cxnLst/>
                <a:rect r="r" b="b" t="t" l="l"/>
                <a:pathLst>
                  <a:path h="1506930" w="20743418">
                    <a:moveTo>
                      <a:pt x="0" y="165805"/>
                    </a:moveTo>
                    <a:cubicBezTo>
                      <a:pt x="0" y="74155"/>
                      <a:pt x="60833" y="0"/>
                      <a:pt x="136017" y="0"/>
                    </a:cubicBezTo>
                    <a:lnTo>
                      <a:pt x="20607401" y="0"/>
                    </a:lnTo>
                    <a:cubicBezTo>
                      <a:pt x="20682458" y="0"/>
                      <a:pt x="20743418" y="74155"/>
                      <a:pt x="20743418" y="165805"/>
                    </a:cubicBezTo>
                    <a:lnTo>
                      <a:pt x="20743418" y="1341145"/>
                    </a:lnTo>
                    <a:cubicBezTo>
                      <a:pt x="20743418" y="1432639"/>
                      <a:pt x="20682586" y="1506930"/>
                      <a:pt x="20607401" y="1506930"/>
                    </a:cubicBezTo>
                    <a:lnTo>
                      <a:pt x="136017" y="1506930"/>
                    </a:lnTo>
                    <a:cubicBezTo>
                      <a:pt x="60833" y="1506795"/>
                      <a:pt x="0" y="1432639"/>
                      <a:pt x="0" y="1341145"/>
                    </a:cubicBezTo>
                    <a:close/>
                  </a:path>
                </a:pathLst>
              </a:custGeom>
              <a:solidFill>
                <a:srgbClr val="ECEFF8"/>
              </a:solidFill>
            </p:spPr>
          </p:sp>
        </p:grpSp>
        <p:grpSp>
          <p:nvGrpSpPr>
            <p:cNvPr name="Group 16" id="16"/>
            <p:cNvGrpSpPr/>
            <p:nvPr/>
          </p:nvGrpSpPr>
          <p:grpSpPr>
            <a:xfrm rot="0">
              <a:off x="238777" y="151406"/>
              <a:ext cx="19816737" cy="1204028"/>
              <a:chOff x="0" y="0"/>
              <a:chExt cx="19816737" cy="1204028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9816741" cy="1204034"/>
              </a:xfrm>
              <a:custGeom>
                <a:avLst/>
                <a:gdLst/>
                <a:ahLst/>
                <a:cxnLst/>
                <a:rect r="r" b="b" t="t" l="l"/>
                <a:pathLst>
                  <a:path h="1204034" w="19816741">
                    <a:moveTo>
                      <a:pt x="0" y="0"/>
                    </a:moveTo>
                    <a:lnTo>
                      <a:pt x="19816741" y="0"/>
                    </a:lnTo>
                    <a:lnTo>
                      <a:pt x="19816741" y="1204034"/>
                    </a:lnTo>
                    <a:lnTo>
                      <a:pt x="0" y="1204034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0" t="-303117" r="0" b="-238276"/>
                </a:stretch>
              </a:blip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9525"/>
                <a:ext cx="19816737" cy="121355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44"/>
                  </a:lnSpc>
                </a:pPr>
                <a:r>
                  <a:rPr lang="en-US" sz="2600" i="true">
                    <a:solidFill>
                      <a:srgbClr val="191E3A"/>
                    </a:solidFill>
                    <a:latin typeface="DM Sans Italics"/>
                    <a:ea typeface="DM Sans Italics"/>
                    <a:cs typeface="DM Sans Italics"/>
                    <a:sym typeface="DM Sans Italics"/>
                  </a:rPr>
                  <a:t>Kullback-Leibler (KL) divergence is a statistical measure that quantifies how much two probability distribution differ.</a:t>
                </a:r>
              </a:p>
            </p:txBody>
          </p:sp>
        </p:grpSp>
      </p:grpSp>
      <p:sp>
        <p:nvSpPr>
          <p:cNvPr name="TextBox 19" id="19"/>
          <p:cNvSpPr txBox="true"/>
          <p:nvPr/>
        </p:nvSpPr>
        <p:spPr>
          <a:xfrm rot="0">
            <a:off x="2519079" y="9219562"/>
            <a:ext cx="10911132" cy="686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2"/>
              </a:lnSpc>
              <a:spcBef>
                <a:spcPct val="0"/>
              </a:spcBef>
            </a:pPr>
            <a:r>
              <a:rPr lang="en-US" sz="1500" i="true">
                <a:solidFill>
                  <a:srgbClr val="70707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S. Sim, P. D. Johnson, and A. Aspuru‐Guzik, "Expressibility and entangling capability of parameterized quantum circuits for hybrid quantum‐classical algorithms," Adv. Quantum Technol., vol. 2, no. 12, p. 1900070, Dec. 2019, doi: 10.1002/qute.201900070.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283726" y="3547749"/>
            <a:ext cx="13312090" cy="1222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4" indent="-280672" lvl="1">
              <a:lnSpc>
                <a:spcPts val="3244"/>
              </a:lnSpc>
              <a:spcBef>
                <a:spcPct val="0"/>
              </a:spcBef>
              <a:buAutoNum type="arabicPeriod" startAt="1"/>
            </a:pPr>
            <a:r>
              <a:rPr lang="en-US" sz="2600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Sample random parameter pairs</a:t>
            </a:r>
          </a:p>
          <a:p>
            <a:pPr algn="l">
              <a:lnSpc>
                <a:spcPts val="3244"/>
              </a:lnSpc>
              <a:spcBef>
                <a:spcPct val="0"/>
              </a:spcBef>
            </a:pPr>
            <a:r>
              <a:rPr lang="en-US" sz="2600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     </a:t>
            </a:r>
          </a:p>
          <a:p>
            <a:pPr algn="l">
              <a:lnSpc>
                <a:spcPts val="3244"/>
              </a:lnSpc>
              <a:spcBef>
                <a:spcPct val="0"/>
              </a:spcBef>
            </a:pP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455455" y="4351223"/>
            <a:ext cx="5025781" cy="1443096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704337" cy="10299697"/>
            <a:chOff x="0" y="0"/>
            <a:chExt cx="2272449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241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272411">
                  <a:moveTo>
                    <a:pt x="0" y="0"/>
                  </a:moveTo>
                  <a:lnTo>
                    <a:pt x="2272411" y="0"/>
                  </a:lnTo>
                  <a:lnTo>
                    <a:pt x="227241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243" y="377695"/>
            <a:ext cx="1311145" cy="1311145"/>
            <a:chOff x="0" y="0"/>
            <a:chExt cx="1748193" cy="1748193"/>
          </a:xfrm>
        </p:grpSpPr>
        <p:sp>
          <p:nvSpPr>
            <p:cNvPr name="Freeform 5" id="5" descr="Picture 2"/>
            <p:cNvSpPr/>
            <p:nvPr/>
          </p:nvSpPr>
          <p:spPr>
            <a:xfrm flipH="false" flipV="false" rot="0">
              <a:off x="0" y="0"/>
              <a:ext cx="1748155" cy="1748155"/>
            </a:xfrm>
            <a:custGeom>
              <a:avLst/>
              <a:gdLst/>
              <a:ahLst/>
              <a:cxnLst/>
              <a:rect r="r" b="b" t="t" l="l"/>
              <a:pathLst>
                <a:path h="1748155" w="1748155">
                  <a:moveTo>
                    <a:pt x="0" y="0"/>
                  </a:moveTo>
                  <a:lnTo>
                    <a:pt x="1748155" y="0"/>
                  </a:lnTo>
                  <a:lnTo>
                    <a:pt x="1748155" y="1748155"/>
                  </a:lnTo>
                  <a:lnTo>
                    <a:pt x="0" y="174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" b="-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39367" y="1812922"/>
            <a:ext cx="1612897" cy="6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Axion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Student Research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6353" y="9567415"/>
            <a:ext cx="170433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10</a:t>
            </a: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/ 16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18445" y="1184272"/>
            <a:ext cx="7290643" cy="638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KL expressibility</a:t>
            </a: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 protocol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5217673" y="9384535"/>
            <a:ext cx="2573750" cy="671065"/>
            <a:chOff x="0" y="0"/>
            <a:chExt cx="3431667" cy="894753"/>
          </a:xfrm>
        </p:grpSpPr>
        <p:sp>
          <p:nvSpPr>
            <p:cNvPr name="Freeform 10" id="10" descr="Picture 10"/>
            <p:cNvSpPr/>
            <p:nvPr/>
          </p:nvSpPr>
          <p:spPr>
            <a:xfrm flipH="false" flipV="false" rot="0">
              <a:off x="0" y="0"/>
              <a:ext cx="3431667" cy="894715"/>
            </a:xfrm>
            <a:custGeom>
              <a:avLst/>
              <a:gdLst/>
              <a:ahLst/>
              <a:cxnLst/>
              <a:rect r="r" b="b" t="t" l="l"/>
              <a:pathLst>
                <a:path h="894715" w="3431667">
                  <a:moveTo>
                    <a:pt x="0" y="0"/>
                  </a:moveTo>
                  <a:lnTo>
                    <a:pt x="3431667" y="0"/>
                  </a:lnTo>
                  <a:lnTo>
                    <a:pt x="3431667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3" t="0" r="-753" b="-4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430212" y="9366247"/>
            <a:ext cx="1388688" cy="671065"/>
            <a:chOff x="0" y="0"/>
            <a:chExt cx="1851584" cy="894753"/>
          </a:xfrm>
        </p:grpSpPr>
        <p:sp>
          <p:nvSpPr>
            <p:cNvPr name="Freeform 12" id="12" descr="Picture 11"/>
            <p:cNvSpPr/>
            <p:nvPr/>
          </p:nvSpPr>
          <p:spPr>
            <a:xfrm flipH="false" flipV="false" rot="0">
              <a:off x="0" y="0"/>
              <a:ext cx="1851533" cy="894715"/>
            </a:xfrm>
            <a:custGeom>
              <a:avLst/>
              <a:gdLst/>
              <a:ahLst/>
              <a:cxnLst/>
              <a:rect r="r" b="b" t="t" l="l"/>
              <a:pathLst>
                <a:path h="894715" w="1851533">
                  <a:moveTo>
                    <a:pt x="0" y="0"/>
                  </a:moveTo>
                  <a:lnTo>
                    <a:pt x="1851533" y="0"/>
                  </a:lnTo>
                  <a:lnTo>
                    <a:pt x="1851533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79" t="0" r="-382" b="-4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018445" y="2427218"/>
            <a:ext cx="15557497" cy="1130131"/>
            <a:chOff x="0" y="0"/>
            <a:chExt cx="20743329" cy="1506841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20743329" cy="1506841"/>
              <a:chOff x="0" y="0"/>
              <a:chExt cx="20743329" cy="1506841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0743418" cy="1506930"/>
              </a:xfrm>
              <a:custGeom>
                <a:avLst/>
                <a:gdLst/>
                <a:ahLst/>
                <a:cxnLst/>
                <a:rect r="r" b="b" t="t" l="l"/>
                <a:pathLst>
                  <a:path h="1506930" w="20743418">
                    <a:moveTo>
                      <a:pt x="0" y="165805"/>
                    </a:moveTo>
                    <a:cubicBezTo>
                      <a:pt x="0" y="74155"/>
                      <a:pt x="60833" y="0"/>
                      <a:pt x="136017" y="0"/>
                    </a:cubicBezTo>
                    <a:lnTo>
                      <a:pt x="20607401" y="0"/>
                    </a:lnTo>
                    <a:cubicBezTo>
                      <a:pt x="20682458" y="0"/>
                      <a:pt x="20743418" y="74155"/>
                      <a:pt x="20743418" y="165805"/>
                    </a:cubicBezTo>
                    <a:lnTo>
                      <a:pt x="20743418" y="1341145"/>
                    </a:lnTo>
                    <a:cubicBezTo>
                      <a:pt x="20743418" y="1432639"/>
                      <a:pt x="20682586" y="1506930"/>
                      <a:pt x="20607401" y="1506930"/>
                    </a:cubicBezTo>
                    <a:lnTo>
                      <a:pt x="136017" y="1506930"/>
                    </a:lnTo>
                    <a:cubicBezTo>
                      <a:pt x="60833" y="1506795"/>
                      <a:pt x="0" y="1432639"/>
                      <a:pt x="0" y="1341145"/>
                    </a:cubicBezTo>
                    <a:close/>
                  </a:path>
                </a:pathLst>
              </a:custGeom>
              <a:solidFill>
                <a:srgbClr val="ECEFF8"/>
              </a:solidFill>
            </p:spPr>
          </p:sp>
        </p:grpSp>
        <p:grpSp>
          <p:nvGrpSpPr>
            <p:cNvPr name="Group 16" id="16"/>
            <p:cNvGrpSpPr/>
            <p:nvPr/>
          </p:nvGrpSpPr>
          <p:grpSpPr>
            <a:xfrm rot="0">
              <a:off x="238777" y="151406"/>
              <a:ext cx="19816737" cy="1204028"/>
              <a:chOff x="0" y="0"/>
              <a:chExt cx="19816737" cy="1204028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9816741" cy="1204034"/>
              </a:xfrm>
              <a:custGeom>
                <a:avLst/>
                <a:gdLst/>
                <a:ahLst/>
                <a:cxnLst/>
                <a:rect r="r" b="b" t="t" l="l"/>
                <a:pathLst>
                  <a:path h="1204034" w="19816741">
                    <a:moveTo>
                      <a:pt x="0" y="0"/>
                    </a:moveTo>
                    <a:lnTo>
                      <a:pt x="19816741" y="0"/>
                    </a:lnTo>
                    <a:lnTo>
                      <a:pt x="19816741" y="1204034"/>
                    </a:lnTo>
                    <a:lnTo>
                      <a:pt x="0" y="1204034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0" t="-303117" r="0" b="-238276"/>
                </a:stretch>
              </a:blip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9525"/>
                <a:ext cx="19816737" cy="121355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44"/>
                  </a:lnSpc>
                </a:pPr>
                <a:r>
                  <a:rPr lang="en-US" sz="2600" i="true">
                    <a:solidFill>
                      <a:srgbClr val="191E3A"/>
                    </a:solidFill>
                    <a:latin typeface="DM Sans Italics"/>
                    <a:ea typeface="DM Sans Italics"/>
                    <a:cs typeface="DM Sans Italics"/>
                    <a:sym typeface="DM Sans Italics"/>
                  </a:rPr>
                  <a:t>Kullback-Leibler (KL) divergence is a statistical measure that quantifies how much two probability distribution differ.</a:t>
                </a:r>
              </a:p>
            </p:txBody>
          </p:sp>
        </p:grpSp>
      </p:grpSp>
      <p:sp>
        <p:nvSpPr>
          <p:cNvPr name="TextBox 19" id="19"/>
          <p:cNvSpPr txBox="true"/>
          <p:nvPr/>
        </p:nvSpPr>
        <p:spPr>
          <a:xfrm rot="0">
            <a:off x="2519079" y="9219562"/>
            <a:ext cx="10911132" cy="686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2"/>
              </a:lnSpc>
              <a:spcBef>
                <a:spcPct val="0"/>
              </a:spcBef>
            </a:pPr>
            <a:r>
              <a:rPr lang="en-US" sz="1500" i="true">
                <a:solidFill>
                  <a:srgbClr val="70707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S. Sim, P. D. Johnson, and A. Aspuru‐Guzik, "Expressibility and entangling capability of parameterized quantum circuits for hybrid quantum‐classical algorithms," Adv. Quantum Technol., vol. 2, no. 12, p. 1900070, Dec. 2019, doi: 10.1002/qute.201900070.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283726" y="3547749"/>
            <a:ext cx="13312090" cy="1631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4" indent="-280672" lvl="1">
              <a:lnSpc>
                <a:spcPts val="3244"/>
              </a:lnSpc>
              <a:spcBef>
                <a:spcPct val="0"/>
              </a:spcBef>
              <a:buAutoNum type="arabicPeriod" startAt="1"/>
            </a:pPr>
            <a:r>
              <a:rPr lang="en-US" sz="2600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Sample random parameter pairs</a:t>
            </a:r>
          </a:p>
          <a:p>
            <a:pPr algn="l" marL="561344" indent="-280672" lvl="1">
              <a:lnSpc>
                <a:spcPts val="3244"/>
              </a:lnSpc>
              <a:spcBef>
                <a:spcPct val="0"/>
              </a:spcBef>
              <a:buAutoNum type="arabicPeriod" startAt="1"/>
            </a:pPr>
            <a:r>
              <a:rPr lang="en-US" sz="2600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Prepare both states on IQM Spark</a:t>
            </a:r>
          </a:p>
          <a:p>
            <a:pPr algn="l">
              <a:lnSpc>
                <a:spcPts val="3244"/>
              </a:lnSpc>
              <a:spcBef>
                <a:spcPct val="0"/>
              </a:spcBef>
            </a:pPr>
            <a:r>
              <a:rPr lang="en-US" sz="2600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 </a:t>
            </a:r>
          </a:p>
          <a:p>
            <a:pPr algn="l">
              <a:lnSpc>
                <a:spcPts val="3244"/>
              </a:lnSpc>
              <a:spcBef>
                <a:spcPct val="0"/>
              </a:spcBef>
            </a:pP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510166" y="4434656"/>
            <a:ext cx="4859210" cy="1417688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704337" cy="10299697"/>
            <a:chOff x="0" y="0"/>
            <a:chExt cx="2272449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241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272411">
                  <a:moveTo>
                    <a:pt x="0" y="0"/>
                  </a:moveTo>
                  <a:lnTo>
                    <a:pt x="2272411" y="0"/>
                  </a:lnTo>
                  <a:lnTo>
                    <a:pt x="227241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243" y="377695"/>
            <a:ext cx="1311145" cy="1311145"/>
            <a:chOff x="0" y="0"/>
            <a:chExt cx="1748193" cy="1748193"/>
          </a:xfrm>
        </p:grpSpPr>
        <p:sp>
          <p:nvSpPr>
            <p:cNvPr name="Freeform 5" id="5" descr="Picture 2"/>
            <p:cNvSpPr/>
            <p:nvPr/>
          </p:nvSpPr>
          <p:spPr>
            <a:xfrm flipH="false" flipV="false" rot="0">
              <a:off x="0" y="0"/>
              <a:ext cx="1748155" cy="1748155"/>
            </a:xfrm>
            <a:custGeom>
              <a:avLst/>
              <a:gdLst/>
              <a:ahLst/>
              <a:cxnLst/>
              <a:rect r="r" b="b" t="t" l="l"/>
              <a:pathLst>
                <a:path h="1748155" w="1748155">
                  <a:moveTo>
                    <a:pt x="0" y="0"/>
                  </a:moveTo>
                  <a:lnTo>
                    <a:pt x="1748155" y="0"/>
                  </a:lnTo>
                  <a:lnTo>
                    <a:pt x="1748155" y="1748155"/>
                  </a:lnTo>
                  <a:lnTo>
                    <a:pt x="0" y="174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" b="-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39367" y="1812922"/>
            <a:ext cx="1612897" cy="6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Axion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Student Research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6353" y="9567415"/>
            <a:ext cx="170433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10</a:t>
            </a: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/ 16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18445" y="1184272"/>
            <a:ext cx="7290643" cy="638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KL expressibility</a:t>
            </a: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 protocol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5217673" y="9384535"/>
            <a:ext cx="2573750" cy="671065"/>
            <a:chOff x="0" y="0"/>
            <a:chExt cx="3431667" cy="894753"/>
          </a:xfrm>
        </p:grpSpPr>
        <p:sp>
          <p:nvSpPr>
            <p:cNvPr name="Freeform 10" id="10" descr="Picture 10"/>
            <p:cNvSpPr/>
            <p:nvPr/>
          </p:nvSpPr>
          <p:spPr>
            <a:xfrm flipH="false" flipV="false" rot="0">
              <a:off x="0" y="0"/>
              <a:ext cx="3431667" cy="894715"/>
            </a:xfrm>
            <a:custGeom>
              <a:avLst/>
              <a:gdLst/>
              <a:ahLst/>
              <a:cxnLst/>
              <a:rect r="r" b="b" t="t" l="l"/>
              <a:pathLst>
                <a:path h="894715" w="3431667">
                  <a:moveTo>
                    <a:pt x="0" y="0"/>
                  </a:moveTo>
                  <a:lnTo>
                    <a:pt x="3431667" y="0"/>
                  </a:lnTo>
                  <a:lnTo>
                    <a:pt x="3431667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3" t="0" r="-753" b="-4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430212" y="9366247"/>
            <a:ext cx="1388688" cy="671065"/>
            <a:chOff x="0" y="0"/>
            <a:chExt cx="1851584" cy="894753"/>
          </a:xfrm>
        </p:grpSpPr>
        <p:sp>
          <p:nvSpPr>
            <p:cNvPr name="Freeform 12" id="12" descr="Picture 11"/>
            <p:cNvSpPr/>
            <p:nvPr/>
          </p:nvSpPr>
          <p:spPr>
            <a:xfrm flipH="false" flipV="false" rot="0">
              <a:off x="0" y="0"/>
              <a:ext cx="1851533" cy="894715"/>
            </a:xfrm>
            <a:custGeom>
              <a:avLst/>
              <a:gdLst/>
              <a:ahLst/>
              <a:cxnLst/>
              <a:rect r="r" b="b" t="t" l="l"/>
              <a:pathLst>
                <a:path h="894715" w="1851533">
                  <a:moveTo>
                    <a:pt x="0" y="0"/>
                  </a:moveTo>
                  <a:lnTo>
                    <a:pt x="1851533" y="0"/>
                  </a:lnTo>
                  <a:lnTo>
                    <a:pt x="1851533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79" t="0" r="-382" b="-4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018445" y="2427218"/>
            <a:ext cx="15557497" cy="1130131"/>
            <a:chOff x="0" y="0"/>
            <a:chExt cx="20743329" cy="1506841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20743329" cy="1506841"/>
              <a:chOff x="0" y="0"/>
              <a:chExt cx="20743329" cy="1506841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0743418" cy="1506930"/>
              </a:xfrm>
              <a:custGeom>
                <a:avLst/>
                <a:gdLst/>
                <a:ahLst/>
                <a:cxnLst/>
                <a:rect r="r" b="b" t="t" l="l"/>
                <a:pathLst>
                  <a:path h="1506930" w="20743418">
                    <a:moveTo>
                      <a:pt x="0" y="165805"/>
                    </a:moveTo>
                    <a:cubicBezTo>
                      <a:pt x="0" y="74155"/>
                      <a:pt x="60833" y="0"/>
                      <a:pt x="136017" y="0"/>
                    </a:cubicBezTo>
                    <a:lnTo>
                      <a:pt x="20607401" y="0"/>
                    </a:lnTo>
                    <a:cubicBezTo>
                      <a:pt x="20682458" y="0"/>
                      <a:pt x="20743418" y="74155"/>
                      <a:pt x="20743418" y="165805"/>
                    </a:cubicBezTo>
                    <a:lnTo>
                      <a:pt x="20743418" y="1341145"/>
                    </a:lnTo>
                    <a:cubicBezTo>
                      <a:pt x="20743418" y="1432639"/>
                      <a:pt x="20682586" y="1506930"/>
                      <a:pt x="20607401" y="1506930"/>
                    </a:cubicBezTo>
                    <a:lnTo>
                      <a:pt x="136017" y="1506930"/>
                    </a:lnTo>
                    <a:cubicBezTo>
                      <a:pt x="60833" y="1506795"/>
                      <a:pt x="0" y="1432639"/>
                      <a:pt x="0" y="1341145"/>
                    </a:cubicBezTo>
                    <a:close/>
                  </a:path>
                </a:pathLst>
              </a:custGeom>
              <a:solidFill>
                <a:srgbClr val="ECEFF8"/>
              </a:solidFill>
            </p:spPr>
          </p:sp>
        </p:grpSp>
        <p:grpSp>
          <p:nvGrpSpPr>
            <p:cNvPr name="Group 16" id="16"/>
            <p:cNvGrpSpPr/>
            <p:nvPr/>
          </p:nvGrpSpPr>
          <p:grpSpPr>
            <a:xfrm rot="0">
              <a:off x="238777" y="151406"/>
              <a:ext cx="19816737" cy="1204028"/>
              <a:chOff x="0" y="0"/>
              <a:chExt cx="19816737" cy="1204028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9816741" cy="1204034"/>
              </a:xfrm>
              <a:custGeom>
                <a:avLst/>
                <a:gdLst/>
                <a:ahLst/>
                <a:cxnLst/>
                <a:rect r="r" b="b" t="t" l="l"/>
                <a:pathLst>
                  <a:path h="1204034" w="19816741">
                    <a:moveTo>
                      <a:pt x="0" y="0"/>
                    </a:moveTo>
                    <a:lnTo>
                      <a:pt x="19816741" y="0"/>
                    </a:lnTo>
                    <a:lnTo>
                      <a:pt x="19816741" y="1204034"/>
                    </a:lnTo>
                    <a:lnTo>
                      <a:pt x="0" y="1204034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0" t="-303117" r="0" b="-238276"/>
                </a:stretch>
              </a:blip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9525"/>
                <a:ext cx="19816737" cy="121355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44"/>
                  </a:lnSpc>
                </a:pPr>
                <a:r>
                  <a:rPr lang="en-US" sz="2600" i="true">
                    <a:solidFill>
                      <a:srgbClr val="191E3A"/>
                    </a:solidFill>
                    <a:latin typeface="DM Sans Italics"/>
                    <a:ea typeface="DM Sans Italics"/>
                    <a:cs typeface="DM Sans Italics"/>
                    <a:sym typeface="DM Sans Italics"/>
                  </a:rPr>
                  <a:t>Kullback-Leibler (KL) divergence is a statistical measure that quantifies how much two probability distribution differ.</a:t>
                </a:r>
              </a:p>
            </p:txBody>
          </p:sp>
        </p:grpSp>
      </p:grpSp>
      <p:sp>
        <p:nvSpPr>
          <p:cNvPr name="TextBox 19" id="19"/>
          <p:cNvSpPr txBox="true"/>
          <p:nvPr/>
        </p:nvSpPr>
        <p:spPr>
          <a:xfrm rot="0">
            <a:off x="2519079" y="9219562"/>
            <a:ext cx="10911132" cy="686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2"/>
              </a:lnSpc>
              <a:spcBef>
                <a:spcPct val="0"/>
              </a:spcBef>
            </a:pPr>
            <a:r>
              <a:rPr lang="en-US" sz="1500" i="true">
                <a:solidFill>
                  <a:srgbClr val="70707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S. Sim, P. D. Johnson, and A. Aspuru‐Guzik, "Expressibility and entangling capability of parameterized quantum circuits for hybrid quantum‐classical algorithms," Adv. Quantum Technol., vol. 2, no. 12, p. 1900070, Dec. 2019, doi: 10.1002/qute.201900070.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283726" y="3547749"/>
            <a:ext cx="13312090" cy="2041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4" indent="-280672" lvl="1">
              <a:lnSpc>
                <a:spcPts val="3244"/>
              </a:lnSpc>
              <a:spcBef>
                <a:spcPct val="0"/>
              </a:spcBef>
              <a:buAutoNum type="arabicPeriod" startAt="1"/>
            </a:pPr>
            <a:r>
              <a:rPr lang="en-US" sz="2600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Sample random parameter pairs</a:t>
            </a:r>
          </a:p>
          <a:p>
            <a:pPr algn="l" marL="561344" indent="-280672" lvl="1">
              <a:lnSpc>
                <a:spcPts val="3244"/>
              </a:lnSpc>
              <a:spcBef>
                <a:spcPct val="0"/>
              </a:spcBef>
              <a:buAutoNum type="arabicPeriod" startAt="1"/>
            </a:pPr>
            <a:r>
              <a:rPr lang="en-US" sz="2600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Prepare both states on IQM Spark</a:t>
            </a:r>
          </a:p>
          <a:p>
            <a:pPr algn="l" marL="561344" indent="-280672" lvl="1">
              <a:lnSpc>
                <a:spcPts val="3244"/>
              </a:lnSpc>
              <a:spcBef>
                <a:spcPct val="0"/>
              </a:spcBef>
              <a:buAutoNum type="arabicPeriod" startAt="1"/>
            </a:pPr>
            <a:r>
              <a:rPr lang="en-US" sz="2600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Reconstruct density matrices with full Pauli tomography</a:t>
            </a:r>
          </a:p>
          <a:p>
            <a:pPr algn="l">
              <a:lnSpc>
                <a:spcPts val="3244"/>
              </a:lnSpc>
              <a:spcBef>
                <a:spcPct val="0"/>
              </a:spcBef>
            </a:pPr>
          </a:p>
          <a:p>
            <a:pPr algn="l">
              <a:lnSpc>
                <a:spcPts val="3244"/>
              </a:lnSpc>
              <a:spcBef>
                <a:spcPct val="0"/>
              </a:spcBef>
            </a:pP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130713" y="4213665"/>
            <a:ext cx="14356751" cy="2999242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704337" cy="10299697"/>
            <a:chOff x="0" y="0"/>
            <a:chExt cx="2272449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241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272411">
                  <a:moveTo>
                    <a:pt x="0" y="0"/>
                  </a:moveTo>
                  <a:lnTo>
                    <a:pt x="2272411" y="0"/>
                  </a:lnTo>
                  <a:lnTo>
                    <a:pt x="227241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243" y="377695"/>
            <a:ext cx="1311145" cy="1311145"/>
            <a:chOff x="0" y="0"/>
            <a:chExt cx="1748193" cy="1748193"/>
          </a:xfrm>
        </p:grpSpPr>
        <p:sp>
          <p:nvSpPr>
            <p:cNvPr name="Freeform 5" id="5" descr="Picture 2"/>
            <p:cNvSpPr/>
            <p:nvPr/>
          </p:nvSpPr>
          <p:spPr>
            <a:xfrm flipH="false" flipV="false" rot="0">
              <a:off x="0" y="0"/>
              <a:ext cx="1748155" cy="1748155"/>
            </a:xfrm>
            <a:custGeom>
              <a:avLst/>
              <a:gdLst/>
              <a:ahLst/>
              <a:cxnLst/>
              <a:rect r="r" b="b" t="t" l="l"/>
              <a:pathLst>
                <a:path h="1748155" w="1748155">
                  <a:moveTo>
                    <a:pt x="0" y="0"/>
                  </a:moveTo>
                  <a:lnTo>
                    <a:pt x="1748155" y="0"/>
                  </a:lnTo>
                  <a:lnTo>
                    <a:pt x="1748155" y="1748155"/>
                  </a:lnTo>
                  <a:lnTo>
                    <a:pt x="0" y="174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" b="-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39367" y="1812922"/>
            <a:ext cx="1612897" cy="6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Axion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Student Research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6353" y="9567415"/>
            <a:ext cx="170433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10</a:t>
            </a: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/ 16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18445" y="1184272"/>
            <a:ext cx="7290643" cy="638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KL expressibility</a:t>
            </a: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 protocol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5217673" y="9384535"/>
            <a:ext cx="2573750" cy="671065"/>
            <a:chOff x="0" y="0"/>
            <a:chExt cx="3431667" cy="894753"/>
          </a:xfrm>
        </p:grpSpPr>
        <p:sp>
          <p:nvSpPr>
            <p:cNvPr name="Freeform 10" id="10" descr="Picture 10"/>
            <p:cNvSpPr/>
            <p:nvPr/>
          </p:nvSpPr>
          <p:spPr>
            <a:xfrm flipH="false" flipV="false" rot="0">
              <a:off x="0" y="0"/>
              <a:ext cx="3431667" cy="894715"/>
            </a:xfrm>
            <a:custGeom>
              <a:avLst/>
              <a:gdLst/>
              <a:ahLst/>
              <a:cxnLst/>
              <a:rect r="r" b="b" t="t" l="l"/>
              <a:pathLst>
                <a:path h="894715" w="3431667">
                  <a:moveTo>
                    <a:pt x="0" y="0"/>
                  </a:moveTo>
                  <a:lnTo>
                    <a:pt x="3431667" y="0"/>
                  </a:lnTo>
                  <a:lnTo>
                    <a:pt x="3431667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3" t="0" r="-753" b="-4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430212" y="9366247"/>
            <a:ext cx="1388688" cy="671065"/>
            <a:chOff x="0" y="0"/>
            <a:chExt cx="1851584" cy="894753"/>
          </a:xfrm>
        </p:grpSpPr>
        <p:sp>
          <p:nvSpPr>
            <p:cNvPr name="Freeform 12" id="12" descr="Picture 11"/>
            <p:cNvSpPr/>
            <p:nvPr/>
          </p:nvSpPr>
          <p:spPr>
            <a:xfrm flipH="false" flipV="false" rot="0">
              <a:off x="0" y="0"/>
              <a:ext cx="1851533" cy="894715"/>
            </a:xfrm>
            <a:custGeom>
              <a:avLst/>
              <a:gdLst/>
              <a:ahLst/>
              <a:cxnLst/>
              <a:rect r="r" b="b" t="t" l="l"/>
              <a:pathLst>
                <a:path h="894715" w="1851533">
                  <a:moveTo>
                    <a:pt x="0" y="0"/>
                  </a:moveTo>
                  <a:lnTo>
                    <a:pt x="1851533" y="0"/>
                  </a:lnTo>
                  <a:lnTo>
                    <a:pt x="1851533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79" t="0" r="-382" b="-4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018445" y="2427218"/>
            <a:ext cx="15557497" cy="1130131"/>
            <a:chOff x="0" y="0"/>
            <a:chExt cx="20743329" cy="1506841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20743329" cy="1506841"/>
              <a:chOff x="0" y="0"/>
              <a:chExt cx="20743329" cy="1506841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0743418" cy="1506930"/>
              </a:xfrm>
              <a:custGeom>
                <a:avLst/>
                <a:gdLst/>
                <a:ahLst/>
                <a:cxnLst/>
                <a:rect r="r" b="b" t="t" l="l"/>
                <a:pathLst>
                  <a:path h="1506930" w="20743418">
                    <a:moveTo>
                      <a:pt x="0" y="165805"/>
                    </a:moveTo>
                    <a:cubicBezTo>
                      <a:pt x="0" y="74155"/>
                      <a:pt x="60833" y="0"/>
                      <a:pt x="136017" y="0"/>
                    </a:cubicBezTo>
                    <a:lnTo>
                      <a:pt x="20607401" y="0"/>
                    </a:lnTo>
                    <a:cubicBezTo>
                      <a:pt x="20682458" y="0"/>
                      <a:pt x="20743418" y="74155"/>
                      <a:pt x="20743418" y="165805"/>
                    </a:cubicBezTo>
                    <a:lnTo>
                      <a:pt x="20743418" y="1341145"/>
                    </a:lnTo>
                    <a:cubicBezTo>
                      <a:pt x="20743418" y="1432639"/>
                      <a:pt x="20682586" y="1506930"/>
                      <a:pt x="20607401" y="1506930"/>
                    </a:cubicBezTo>
                    <a:lnTo>
                      <a:pt x="136017" y="1506930"/>
                    </a:lnTo>
                    <a:cubicBezTo>
                      <a:pt x="60833" y="1506795"/>
                      <a:pt x="0" y="1432639"/>
                      <a:pt x="0" y="1341145"/>
                    </a:cubicBezTo>
                    <a:close/>
                  </a:path>
                </a:pathLst>
              </a:custGeom>
              <a:solidFill>
                <a:srgbClr val="ECEFF8"/>
              </a:solidFill>
            </p:spPr>
          </p:sp>
        </p:grpSp>
        <p:grpSp>
          <p:nvGrpSpPr>
            <p:cNvPr name="Group 16" id="16"/>
            <p:cNvGrpSpPr/>
            <p:nvPr/>
          </p:nvGrpSpPr>
          <p:grpSpPr>
            <a:xfrm rot="0">
              <a:off x="238777" y="151406"/>
              <a:ext cx="19816737" cy="1204028"/>
              <a:chOff x="0" y="0"/>
              <a:chExt cx="19816737" cy="1204028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9816741" cy="1204034"/>
              </a:xfrm>
              <a:custGeom>
                <a:avLst/>
                <a:gdLst/>
                <a:ahLst/>
                <a:cxnLst/>
                <a:rect r="r" b="b" t="t" l="l"/>
                <a:pathLst>
                  <a:path h="1204034" w="19816741">
                    <a:moveTo>
                      <a:pt x="0" y="0"/>
                    </a:moveTo>
                    <a:lnTo>
                      <a:pt x="19816741" y="0"/>
                    </a:lnTo>
                    <a:lnTo>
                      <a:pt x="19816741" y="1204034"/>
                    </a:lnTo>
                    <a:lnTo>
                      <a:pt x="0" y="1204034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0" t="-303117" r="0" b="-238276"/>
                </a:stretch>
              </a:blip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9525"/>
                <a:ext cx="19816737" cy="121355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44"/>
                  </a:lnSpc>
                </a:pPr>
                <a:r>
                  <a:rPr lang="en-US" sz="2600" i="true">
                    <a:solidFill>
                      <a:srgbClr val="191E3A"/>
                    </a:solidFill>
                    <a:latin typeface="DM Sans Italics"/>
                    <a:ea typeface="DM Sans Italics"/>
                    <a:cs typeface="DM Sans Italics"/>
                    <a:sym typeface="DM Sans Italics"/>
                  </a:rPr>
                  <a:t>Kullback-Leibler (KL) divergence is a statistical measure that quantifies how much two probability distribution differ.</a:t>
                </a:r>
              </a:p>
            </p:txBody>
          </p:sp>
        </p:grpSp>
      </p:grpSp>
      <p:sp>
        <p:nvSpPr>
          <p:cNvPr name="TextBox 19" id="19"/>
          <p:cNvSpPr txBox="true"/>
          <p:nvPr/>
        </p:nvSpPr>
        <p:spPr>
          <a:xfrm rot="0">
            <a:off x="2519079" y="9219562"/>
            <a:ext cx="10911132" cy="686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2"/>
              </a:lnSpc>
              <a:spcBef>
                <a:spcPct val="0"/>
              </a:spcBef>
            </a:pPr>
            <a:r>
              <a:rPr lang="en-US" sz="1500" i="true">
                <a:solidFill>
                  <a:srgbClr val="70707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S. Sim, P. D. Johnson, and A. Aspuru‐Guzik, "Expressibility and entangling capability of parameterized quantum circuits for hybrid quantum‐classical algorithms," Adv. Quantum Technol., vol. 2, no. 12, p. 1900070, Dec. 2019, doi: 10.1002/qute.201900070.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283726" y="3547749"/>
            <a:ext cx="13312090" cy="2450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4" indent="-280672" lvl="1">
              <a:lnSpc>
                <a:spcPts val="3244"/>
              </a:lnSpc>
              <a:spcBef>
                <a:spcPct val="0"/>
              </a:spcBef>
              <a:buAutoNum type="arabicPeriod" startAt="1"/>
            </a:pPr>
            <a:r>
              <a:rPr lang="en-US" sz="2600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Sample random parameter pairs</a:t>
            </a:r>
            <a:r>
              <a:rPr lang="en-US" sz="2600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   </a:t>
            </a:r>
          </a:p>
          <a:p>
            <a:pPr algn="l" marL="561344" indent="-280672" lvl="1">
              <a:lnSpc>
                <a:spcPts val="3244"/>
              </a:lnSpc>
              <a:spcBef>
                <a:spcPct val="0"/>
              </a:spcBef>
              <a:buAutoNum type="arabicPeriod" startAt="1"/>
            </a:pPr>
            <a:r>
              <a:rPr lang="en-US" sz="2600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Prepare both states on IQM Spark</a:t>
            </a:r>
          </a:p>
          <a:p>
            <a:pPr algn="l" marL="561344" indent="-280672" lvl="1">
              <a:lnSpc>
                <a:spcPts val="3244"/>
              </a:lnSpc>
              <a:spcBef>
                <a:spcPct val="0"/>
              </a:spcBef>
              <a:buAutoNum type="arabicPeriod" startAt="1"/>
            </a:pPr>
            <a:r>
              <a:rPr lang="en-US" sz="2600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Reconstruct density matrices with full Pauli tomography</a:t>
            </a:r>
          </a:p>
          <a:p>
            <a:pPr algn="l" marL="561344" indent="-280672" lvl="1">
              <a:lnSpc>
                <a:spcPts val="3244"/>
              </a:lnSpc>
              <a:spcBef>
                <a:spcPct val="0"/>
              </a:spcBef>
              <a:buAutoNum type="arabicPeriod" startAt="1"/>
            </a:pPr>
            <a:r>
              <a:rPr lang="en-US" sz="2600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Compute hardware-hardware overlap</a:t>
            </a:r>
          </a:p>
          <a:p>
            <a:pPr algn="l">
              <a:lnSpc>
                <a:spcPts val="3244"/>
              </a:lnSpc>
              <a:spcBef>
                <a:spcPct val="0"/>
              </a:spcBef>
            </a:pPr>
          </a:p>
          <a:p>
            <a:pPr algn="l">
              <a:lnSpc>
                <a:spcPts val="3244"/>
              </a:lnSpc>
              <a:spcBef>
                <a:spcPct val="0"/>
              </a:spcBef>
            </a:pP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041624" y="5525183"/>
            <a:ext cx="4204752" cy="1300644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704337" cy="10299697"/>
            <a:chOff x="0" y="0"/>
            <a:chExt cx="2272449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241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272411">
                  <a:moveTo>
                    <a:pt x="0" y="0"/>
                  </a:moveTo>
                  <a:lnTo>
                    <a:pt x="2272411" y="0"/>
                  </a:lnTo>
                  <a:lnTo>
                    <a:pt x="227241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243" y="377695"/>
            <a:ext cx="1311145" cy="1311145"/>
            <a:chOff x="0" y="0"/>
            <a:chExt cx="1748193" cy="1748193"/>
          </a:xfrm>
        </p:grpSpPr>
        <p:sp>
          <p:nvSpPr>
            <p:cNvPr name="Freeform 5" id="5" descr="Picture 2"/>
            <p:cNvSpPr/>
            <p:nvPr/>
          </p:nvSpPr>
          <p:spPr>
            <a:xfrm flipH="false" flipV="false" rot="0">
              <a:off x="0" y="0"/>
              <a:ext cx="1748155" cy="1748155"/>
            </a:xfrm>
            <a:custGeom>
              <a:avLst/>
              <a:gdLst/>
              <a:ahLst/>
              <a:cxnLst/>
              <a:rect r="r" b="b" t="t" l="l"/>
              <a:pathLst>
                <a:path h="1748155" w="1748155">
                  <a:moveTo>
                    <a:pt x="0" y="0"/>
                  </a:moveTo>
                  <a:lnTo>
                    <a:pt x="1748155" y="0"/>
                  </a:lnTo>
                  <a:lnTo>
                    <a:pt x="1748155" y="1748155"/>
                  </a:lnTo>
                  <a:lnTo>
                    <a:pt x="0" y="174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" b="-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39367" y="1812922"/>
            <a:ext cx="1612897" cy="6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Axion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Student Research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6353" y="9567415"/>
            <a:ext cx="170433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10</a:t>
            </a: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/ 16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18445" y="1184272"/>
            <a:ext cx="7290643" cy="638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KL expressibility</a:t>
            </a: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 protocol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5217673" y="9384535"/>
            <a:ext cx="2573750" cy="671065"/>
            <a:chOff x="0" y="0"/>
            <a:chExt cx="3431667" cy="894753"/>
          </a:xfrm>
        </p:grpSpPr>
        <p:sp>
          <p:nvSpPr>
            <p:cNvPr name="Freeform 10" id="10" descr="Picture 10"/>
            <p:cNvSpPr/>
            <p:nvPr/>
          </p:nvSpPr>
          <p:spPr>
            <a:xfrm flipH="false" flipV="false" rot="0">
              <a:off x="0" y="0"/>
              <a:ext cx="3431667" cy="894715"/>
            </a:xfrm>
            <a:custGeom>
              <a:avLst/>
              <a:gdLst/>
              <a:ahLst/>
              <a:cxnLst/>
              <a:rect r="r" b="b" t="t" l="l"/>
              <a:pathLst>
                <a:path h="894715" w="3431667">
                  <a:moveTo>
                    <a:pt x="0" y="0"/>
                  </a:moveTo>
                  <a:lnTo>
                    <a:pt x="3431667" y="0"/>
                  </a:lnTo>
                  <a:lnTo>
                    <a:pt x="3431667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3" t="0" r="-753" b="-4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430212" y="9366247"/>
            <a:ext cx="1388688" cy="671065"/>
            <a:chOff x="0" y="0"/>
            <a:chExt cx="1851584" cy="894753"/>
          </a:xfrm>
        </p:grpSpPr>
        <p:sp>
          <p:nvSpPr>
            <p:cNvPr name="Freeform 12" id="12" descr="Picture 11"/>
            <p:cNvSpPr/>
            <p:nvPr/>
          </p:nvSpPr>
          <p:spPr>
            <a:xfrm flipH="false" flipV="false" rot="0">
              <a:off x="0" y="0"/>
              <a:ext cx="1851533" cy="894715"/>
            </a:xfrm>
            <a:custGeom>
              <a:avLst/>
              <a:gdLst/>
              <a:ahLst/>
              <a:cxnLst/>
              <a:rect r="r" b="b" t="t" l="l"/>
              <a:pathLst>
                <a:path h="894715" w="1851533">
                  <a:moveTo>
                    <a:pt x="0" y="0"/>
                  </a:moveTo>
                  <a:lnTo>
                    <a:pt x="1851533" y="0"/>
                  </a:lnTo>
                  <a:lnTo>
                    <a:pt x="1851533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79" t="0" r="-382" b="-4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018445" y="2427218"/>
            <a:ext cx="15557497" cy="1130131"/>
            <a:chOff x="0" y="0"/>
            <a:chExt cx="20743329" cy="1506841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20743329" cy="1506841"/>
              <a:chOff x="0" y="0"/>
              <a:chExt cx="20743329" cy="1506841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0743418" cy="1506930"/>
              </a:xfrm>
              <a:custGeom>
                <a:avLst/>
                <a:gdLst/>
                <a:ahLst/>
                <a:cxnLst/>
                <a:rect r="r" b="b" t="t" l="l"/>
                <a:pathLst>
                  <a:path h="1506930" w="20743418">
                    <a:moveTo>
                      <a:pt x="0" y="165805"/>
                    </a:moveTo>
                    <a:cubicBezTo>
                      <a:pt x="0" y="74155"/>
                      <a:pt x="60833" y="0"/>
                      <a:pt x="136017" y="0"/>
                    </a:cubicBezTo>
                    <a:lnTo>
                      <a:pt x="20607401" y="0"/>
                    </a:lnTo>
                    <a:cubicBezTo>
                      <a:pt x="20682458" y="0"/>
                      <a:pt x="20743418" y="74155"/>
                      <a:pt x="20743418" y="165805"/>
                    </a:cubicBezTo>
                    <a:lnTo>
                      <a:pt x="20743418" y="1341145"/>
                    </a:lnTo>
                    <a:cubicBezTo>
                      <a:pt x="20743418" y="1432639"/>
                      <a:pt x="20682586" y="1506930"/>
                      <a:pt x="20607401" y="1506930"/>
                    </a:cubicBezTo>
                    <a:lnTo>
                      <a:pt x="136017" y="1506930"/>
                    </a:lnTo>
                    <a:cubicBezTo>
                      <a:pt x="60833" y="1506795"/>
                      <a:pt x="0" y="1432639"/>
                      <a:pt x="0" y="1341145"/>
                    </a:cubicBezTo>
                    <a:close/>
                  </a:path>
                </a:pathLst>
              </a:custGeom>
              <a:solidFill>
                <a:srgbClr val="ECEFF8"/>
              </a:solidFill>
            </p:spPr>
          </p:sp>
        </p:grpSp>
        <p:grpSp>
          <p:nvGrpSpPr>
            <p:cNvPr name="Group 16" id="16"/>
            <p:cNvGrpSpPr/>
            <p:nvPr/>
          </p:nvGrpSpPr>
          <p:grpSpPr>
            <a:xfrm rot="0">
              <a:off x="238777" y="151406"/>
              <a:ext cx="19816737" cy="1204028"/>
              <a:chOff x="0" y="0"/>
              <a:chExt cx="19816737" cy="1204028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9816741" cy="1204034"/>
              </a:xfrm>
              <a:custGeom>
                <a:avLst/>
                <a:gdLst/>
                <a:ahLst/>
                <a:cxnLst/>
                <a:rect r="r" b="b" t="t" l="l"/>
                <a:pathLst>
                  <a:path h="1204034" w="19816741">
                    <a:moveTo>
                      <a:pt x="0" y="0"/>
                    </a:moveTo>
                    <a:lnTo>
                      <a:pt x="19816741" y="0"/>
                    </a:lnTo>
                    <a:lnTo>
                      <a:pt x="19816741" y="1204034"/>
                    </a:lnTo>
                    <a:lnTo>
                      <a:pt x="0" y="1204034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0" t="-303117" r="0" b="-238276"/>
                </a:stretch>
              </a:blip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9525"/>
                <a:ext cx="19816737" cy="121355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44"/>
                  </a:lnSpc>
                </a:pPr>
                <a:r>
                  <a:rPr lang="en-US" sz="2600" i="true">
                    <a:solidFill>
                      <a:srgbClr val="191E3A"/>
                    </a:solidFill>
                    <a:latin typeface="DM Sans Italics"/>
                    <a:ea typeface="DM Sans Italics"/>
                    <a:cs typeface="DM Sans Italics"/>
                    <a:sym typeface="DM Sans Italics"/>
                  </a:rPr>
                  <a:t>Kullback-Leibler (KL) divergence is a statistical measure that quantifies how much two probability distribution differ.</a:t>
                </a:r>
              </a:p>
            </p:txBody>
          </p:sp>
        </p:grpSp>
      </p:grpSp>
      <p:sp>
        <p:nvSpPr>
          <p:cNvPr name="TextBox 19" id="19"/>
          <p:cNvSpPr txBox="true"/>
          <p:nvPr/>
        </p:nvSpPr>
        <p:spPr>
          <a:xfrm rot="0">
            <a:off x="2519079" y="9219562"/>
            <a:ext cx="10911132" cy="686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2"/>
              </a:lnSpc>
              <a:spcBef>
                <a:spcPct val="0"/>
              </a:spcBef>
            </a:pPr>
            <a:r>
              <a:rPr lang="en-US" sz="1500" i="true">
                <a:solidFill>
                  <a:srgbClr val="70707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S. Sim, P. D. Johnson, and A. Aspuru‐Guzik, "Expressibility and entangling capability of parameterized quantum circuits for hybrid quantum‐classical algorithms," Adv. Quantum Technol., vol. 2, no. 12, p. 1900070, Dec. 2019, doi: 10.1002/qute.201900070.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283726" y="3547749"/>
            <a:ext cx="13312090" cy="245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4" indent="-280672" lvl="1">
              <a:lnSpc>
                <a:spcPts val="3244"/>
              </a:lnSpc>
              <a:spcBef>
                <a:spcPct val="0"/>
              </a:spcBef>
              <a:buAutoNum type="arabicPeriod" startAt="1"/>
            </a:pPr>
            <a:r>
              <a:rPr lang="en-US" sz="2600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Sample random parameter pairs</a:t>
            </a:r>
          </a:p>
          <a:p>
            <a:pPr algn="l" marL="561344" indent="-280672" lvl="1">
              <a:lnSpc>
                <a:spcPts val="3244"/>
              </a:lnSpc>
              <a:spcBef>
                <a:spcPct val="0"/>
              </a:spcBef>
              <a:buAutoNum type="arabicPeriod" startAt="1"/>
            </a:pPr>
            <a:r>
              <a:rPr lang="en-US" sz="2600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Prepare both states on IQM Spark</a:t>
            </a:r>
          </a:p>
          <a:p>
            <a:pPr algn="l" marL="561344" indent="-280672" lvl="1">
              <a:lnSpc>
                <a:spcPts val="3244"/>
              </a:lnSpc>
              <a:spcBef>
                <a:spcPct val="0"/>
              </a:spcBef>
              <a:buAutoNum type="arabicPeriod" startAt="1"/>
            </a:pPr>
            <a:r>
              <a:rPr lang="en-US" sz="2600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Reconstruct density matrices with full Pauli tomography</a:t>
            </a:r>
          </a:p>
          <a:p>
            <a:pPr algn="l" marL="561344" indent="-280672" lvl="1">
              <a:lnSpc>
                <a:spcPts val="3244"/>
              </a:lnSpc>
              <a:spcBef>
                <a:spcPct val="0"/>
              </a:spcBef>
              <a:buAutoNum type="arabicPeriod" startAt="1"/>
            </a:pPr>
            <a:r>
              <a:rPr lang="en-US" sz="2600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Compute hardware-hardware overlap</a:t>
            </a:r>
          </a:p>
          <a:p>
            <a:pPr algn="l" marL="561344" indent="-280672" lvl="1">
              <a:lnSpc>
                <a:spcPts val="3244"/>
              </a:lnSpc>
              <a:spcBef>
                <a:spcPct val="0"/>
              </a:spcBef>
              <a:buAutoNum type="arabicPeriod" startAt="1"/>
            </a:pPr>
            <a:r>
              <a:rPr lang="en-US" sz="2600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Compare empirical fidelity histogram with Haar reference</a:t>
            </a:r>
          </a:p>
          <a:p>
            <a:pPr algn="l">
              <a:lnSpc>
                <a:spcPts val="3244"/>
              </a:lnSpc>
              <a:spcBef>
                <a:spcPct val="0"/>
              </a:spcBef>
            </a:pP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960198" y="5197370"/>
            <a:ext cx="10697779" cy="239162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704337" cy="10299697"/>
            <a:chOff x="0" y="0"/>
            <a:chExt cx="2272449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241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272411">
                  <a:moveTo>
                    <a:pt x="0" y="0"/>
                  </a:moveTo>
                  <a:lnTo>
                    <a:pt x="2272411" y="0"/>
                  </a:lnTo>
                  <a:lnTo>
                    <a:pt x="227241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243" y="377695"/>
            <a:ext cx="1311145" cy="1311145"/>
            <a:chOff x="0" y="0"/>
            <a:chExt cx="1748193" cy="1748193"/>
          </a:xfrm>
        </p:grpSpPr>
        <p:sp>
          <p:nvSpPr>
            <p:cNvPr name="Freeform 5" id="5" descr="Picture 2"/>
            <p:cNvSpPr/>
            <p:nvPr/>
          </p:nvSpPr>
          <p:spPr>
            <a:xfrm flipH="false" flipV="false" rot="0">
              <a:off x="0" y="0"/>
              <a:ext cx="1748155" cy="1748155"/>
            </a:xfrm>
            <a:custGeom>
              <a:avLst/>
              <a:gdLst/>
              <a:ahLst/>
              <a:cxnLst/>
              <a:rect r="r" b="b" t="t" l="l"/>
              <a:pathLst>
                <a:path h="1748155" w="1748155">
                  <a:moveTo>
                    <a:pt x="0" y="0"/>
                  </a:moveTo>
                  <a:lnTo>
                    <a:pt x="1748155" y="0"/>
                  </a:lnTo>
                  <a:lnTo>
                    <a:pt x="1748155" y="1748155"/>
                  </a:lnTo>
                  <a:lnTo>
                    <a:pt x="0" y="174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664307" y="8708744"/>
            <a:ext cx="14862553" cy="966623"/>
            <a:chOff x="0" y="0"/>
            <a:chExt cx="19816737" cy="12888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816741" cy="1288836"/>
            </a:xfrm>
            <a:custGeom>
              <a:avLst/>
              <a:gdLst/>
              <a:ahLst/>
              <a:cxnLst/>
              <a:rect r="r" b="b" t="t" l="l"/>
              <a:pathLst>
                <a:path h="1288836" w="19816741">
                  <a:moveTo>
                    <a:pt x="0" y="0"/>
                  </a:moveTo>
                  <a:lnTo>
                    <a:pt x="19816741" y="0"/>
                  </a:lnTo>
                  <a:lnTo>
                    <a:pt x="19816741" y="1288836"/>
                  </a:lnTo>
                  <a:lnTo>
                    <a:pt x="0" y="12888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3172" r="0" b="-21601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9816737" cy="12983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9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217673" y="9384535"/>
            <a:ext cx="2573750" cy="671065"/>
            <a:chOff x="0" y="0"/>
            <a:chExt cx="3431667" cy="894753"/>
          </a:xfrm>
        </p:grpSpPr>
        <p:sp>
          <p:nvSpPr>
            <p:cNvPr name="Freeform 10" id="10" descr="Picture 10"/>
            <p:cNvSpPr/>
            <p:nvPr/>
          </p:nvSpPr>
          <p:spPr>
            <a:xfrm flipH="false" flipV="false" rot="0">
              <a:off x="0" y="0"/>
              <a:ext cx="3431667" cy="894715"/>
            </a:xfrm>
            <a:custGeom>
              <a:avLst/>
              <a:gdLst/>
              <a:ahLst/>
              <a:cxnLst/>
              <a:rect r="r" b="b" t="t" l="l"/>
              <a:pathLst>
                <a:path h="894715" w="3431667">
                  <a:moveTo>
                    <a:pt x="0" y="0"/>
                  </a:moveTo>
                  <a:lnTo>
                    <a:pt x="3431667" y="0"/>
                  </a:lnTo>
                  <a:lnTo>
                    <a:pt x="3431667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53" t="0" r="-753" b="-4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430212" y="9366247"/>
            <a:ext cx="1388688" cy="671065"/>
            <a:chOff x="0" y="0"/>
            <a:chExt cx="1851584" cy="894753"/>
          </a:xfrm>
        </p:grpSpPr>
        <p:sp>
          <p:nvSpPr>
            <p:cNvPr name="Freeform 12" id="12" descr="Picture 11"/>
            <p:cNvSpPr/>
            <p:nvPr/>
          </p:nvSpPr>
          <p:spPr>
            <a:xfrm flipH="false" flipV="false" rot="0">
              <a:off x="0" y="0"/>
              <a:ext cx="1851533" cy="894715"/>
            </a:xfrm>
            <a:custGeom>
              <a:avLst/>
              <a:gdLst/>
              <a:ahLst/>
              <a:cxnLst/>
              <a:rect r="r" b="b" t="t" l="l"/>
              <a:pathLst>
                <a:path h="894715" w="1851533">
                  <a:moveTo>
                    <a:pt x="0" y="0"/>
                  </a:moveTo>
                  <a:lnTo>
                    <a:pt x="1851533" y="0"/>
                  </a:lnTo>
                  <a:lnTo>
                    <a:pt x="1851533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79" t="0" r="-382" b="-4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151883" y="2526036"/>
            <a:ext cx="15557497" cy="948403"/>
            <a:chOff x="0" y="0"/>
            <a:chExt cx="20743329" cy="12645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743418" cy="1264627"/>
            </a:xfrm>
            <a:custGeom>
              <a:avLst/>
              <a:gdLst/>
              <a:ahLst/>
              <a:cxnLst/>
              <a:rect r="r" b="b" t="t" l="l"/>
              <a:pathLst>
                <a:path h="1264627" w="20743418">
                  <a:moveTo>
                    <a:pt x="0" y="139143"/>
                  </a:moveTo>
                  <a:cubicBezTo>
                    <a:pt x="0" y="62231"/>
                    <a:pt x="60833" y="0"/>
                    <a:pt x="136017" y="0"/>
                  </a:cubicBezTo>
                  <a:lnTo>
                    <a:pt x="20607401" y="0"/>
                  </a:lnTo>
                  <a:cubicBezTo>
                    <a:pt x="20682458" y="0"/>
                    <a:pt x="20743418" y="62231"/>
                    <a:pt x="20743418" y="139143"/>
                  </a:cubicBezTo>
                  <a:lnTo>
                    <a:pt x="20743418" y="1125486"/>
                  </a:lnTo>
                  <a:cubicBezTo>
                    <a:pt x="20743418" y="1202268"/>
                    <a:pt x="20682586" y="1264627"/>
                    <a:pt x="20607401" y="1264627"/>
                  </a:cubicBezTo>
                  <a:lnTo>
                    <a:pt x="136017" y="1264627"/>
                  </a:lnTo>
                  <a:cubicBezTo>
                    <a:pt x="60833" y="1264499"/>
                    <a:pt x="0" y="1202268"/>
                    <a:pt x="0" y="1125486"/>
                  </a:cubicBezTo>
                  <a:close/>
                </a:path>
              </a:pathLst>
            </a:custGeom>
            <a:solidFill>
              <a:srgbClr val="ECEFF8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330966" y="2639591"/>
            <a:ext cx="14862553" cy="721294"/>
            <a:chOff x="0" y="0"/>
            <a:chExt cx="19816737" cy="96172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816741" cy="961731"/>
            </a:xfrm>
            <a:custGeom>
              <a:avLst/>
              <a:gdLst/>
              <a:ahLst/>
              <a:cxnLst/>
              <a:rect r="r" b="b" t="t" l="l"/>
              <a:pathLst>
                <a:path h="961731" w="19816741">
                  <a:moveTo>
                    <a:pt x="0" y="0"/>
                  </a:moveTo>
                  <a:lnTo>
                    <a:pt x="19816741" y="0"/>
                  </a:lnTo>
                  <a:lnTo>
                    <a:pt x="19816741" y="961731"/>
                  </a:lnTo>
                  <a:lnTo>
                    <a:pt x="0" y="9617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9486" r="0" b="-32350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19816737" cy="971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4"/>
                </a:lnSpc>
              </a:pPr>
              <a:r>
                <a:rPr lang="en-US" sz="2600" i="true">
                  <a:solidFill>
                    <a:srgbClr val="191E3A"/>
                  </a:solidFill>
                  <a:latin typeface="DM Sans Italics"/>
                  <a:ea typeface="DM Sans Italics"/>
                  <a:cs typeface="DM Sans Italics"/>
                  <a:sym typeface="DM Sans Italics"/>
                </a:rPr>
                <a:t>What happened when we swapped to </a:t>
              </a:r>
              <a:r>
                <a:rPr lang="en-US" sz="2600" i="true">
                  <a:solidFill>
                    <a:srgbClr val="191E3A"/>
                  </a:solidFill>
                  <a:latin typeface="DM Sans Italics"/>
                  <a:ea typeface="DM Sans Italics"/>
                  <a:cs typeface="DM Sans Italics"/>
                  <a:sym typeface="DM Sans Italics"/>
                </a:rPr>
                <a:t>non-parameterized gates.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0095584" y="4078821"/>
            <a:ext cx="5808888" cy="4259852"/>
          </a:xfrm>
          <a:custGeom>
            <a:avLst/>
            <a:gdLst/>
            <a:ahLst/>
            <a:cxnLst/>
            <a:rect r="r" b="b" t="t" l="l"/>
            <a:pathLst>
              <a:path h="4259852" w="5808888">
                <a:moveTo>
                  <a:pt x="0" y="0"/>
                </a:moveTo>
                <a:lnTo>
                  <a:pt x="5808888" y="0"/>
                </a:lnTo>
                <a:lnTo>
                  <a:pt x="5808888" y="4259851"/>
                </a:lnTo>
                <a:lnTo>
                  <a:pt x="0" y="42598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025737" y="4078821"/>
            <a:ext cx="5710876" cy="4171424"/>
          </a:xfrm>
          <a:custGeom>
            <a:avLst/>
            <a:gdLst/>
            <a:ahLst/>
            <a:cxnLst/>
            <a:rect r="r" b="b" t="t" l="l"/>
            <a:pathLst>
              <a:path h="4171424" w="5710876">
                <a:moveTo>
                  <a:pt x="0" y="0"/>
                </a:moveTo>
                <a:lnTo>
                  <a:pt x="5710876" y="0"/>
                </a:lnTo>
                <a:lnTo>
                  <a:pt x="5710876" y="4171424"/>
                </a:lnTo>
                <a:lnTo>
                  <a:pt x="0" y="417142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548" t="0" r="0" b="-2119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9367" y="1812922"/>
            <a:ext cx="1612897" cy="6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Axion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Student Research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-6353" y="9567415"/>
            <a:ext cx="170433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1 / 16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151883" y="1184272"/>
            <a:ext cx="6417469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Expressibility </a:t>
            </a: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- Results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841497" y="3341835"/>
            <a:ext cx="4605005" cy="562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1"/>
              </a:lnSpc>
            </a:pPr>
          </a:p>
          <a:p>
            <a:pPr algn="l">
              <a:lnSpc>
                <a:spcPts val="2221"/>
              </a:lnSpc>
            </a:pPr>
            <a:r>
              <a:rPr lang="en-US" sz="1713">
                <a:solidFill>
                  <a:srgbClr val="0B1020"/>
                </a:solidFill>
                <a:latin typeface="DM Sans"/>
                <a:ea typeface="DM Sans"/>
                <a:cs typeface="DM Sans"/>
                <a:sym typeface="DM Sans"/>
              </a:rPr>
              <a:t>KL - divergance</a:t>
            </a:r>
            <a:r>
              <a:rPr lang="en-US" sz="1713">
                <a:solidFill>
                  <a:srgbClr val="0B1020"/>
                </a:solidFill>
                <a:latin typeface="DM Sans"/>
                <a:ea typeface="DM Sans"/>
                <a:cs typeface="DM Sans"/>
                <a:sym typeface="DM Sans"/>
              </a:rPr>
              <a:t> ∈ [0,∞] - </a:t>
            </a:r>
            <a:r>
              <a:rPr lang="en-US" sz="1713" b="true">
                <a:solidFill>
                  <a:srgbClr val="0B1020"/>
                </a:solidFill>
                <a:latin typeface="DM Sans Bold"/>
                <a:ea typeface="DM Sans Bold"/>
                <a:cs typeface="DM Sans Bold"/>
                <a:sym typeface="DM Sans Bold"/>
              </a:rPr>
              <a:t>lower is better.</a:t>
            </a:r>
          </a:p>
        </p:txBody>
      </p:sp>
    </p:spTree>
  </p:cSld>
  <p:clrMapOvr>
    <a:masterClrMapping/>
  </p:clrMapOvr>
  <p:transition spd="fast">
    <p:fade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704337" cy="10299697"/>
            <a:chOff x="0" y="0"/>
            <a:chExt cx="2272449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241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272411">
                  <a:moveTo>
                    <a:pt x="0" y="0"/>
                  </a:moveTo>
                  <a:lnTo>
                    <a:pt x="2272411" y="0"/>
                  </a:lnTo>
                  <a:lnTo>
                    <a:pt x="227241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243" y="377695"/>
            <a:ext cx="1311145" cy="1311145"/>
            <a:chOff x="0" y="0"/>
            <a:chExt cx="1748193" cy="1748193"/>
          </a:xfrm>
        </p:grpSpPr>
        <p:sp>
          <p:nvSpPr>
            <p:cNvPr name="Freeform 5" id="5" descr="Picture 2"/>
            <p:cNvSpPr/>
            <p:nvPr/>
          </p:nvSpPr>
          <p:spPr>
            <a:xfrm flipH="false" flipV="false" rot="0">
              <a:off x="0" y="0"/>
              <a:ext cx="1748155" cy="1748155"/>
            </a:xfrm>
            <a:custGeom>
              <a:avLst/>
              <a:gdLst/>
              <a:ahLst/>
              <a:cxnLst/>
              <a:rect r="r" b="b" t="t" l="l"/>
              <a:pathLst>
                <a:path h="1748155" w="1748155">
                  <a:moveTo>
                    <a:pt x="0" y="0"/>
                  </a:moveTo>
                  <a:lnTo>
                    <a:pt x="1748155" y="0"/>
                  </a:lnTo>
                  <a:lnTo>
                    <a:pt x="1748155" y="1748155"/>
                  </a:lnTo>
                  <a:lnTo>
                    <a:pt x="0" y="174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664307" y="8708744"/>
            <a:ext cx="14862553" cy="966623"/>
            <a:chOff x="0" y="0"/>
            <a:chExt cx="19816737" cy="12888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816741" cy="1288836"/>
            </a:xfrm>
            <a:custGeom>
              <a:avLst/>
              <a:gdLst/>
              <a:ahLst/>
              <a:cxnLst/>
              <a:rect r="r" b="b" t="t" l="l"/>
              <a:pathLst>
                <a:path h="1288836" w="19816741">
                  <a:moveTo>
                    <a:pt x="0" y="0"/>
                  </a:moveTo>
                  <a:lnTo>
                    <a:pt x="19816741" y="0"/>
                  </a:lnTo>
                  <a:lnTo>
                    <a:pt x="19816741" y="1288836"/>
                  </a:lnTo>
                  <a:lnTo>
                    <a:pt x="0" y="12888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3172" r="0" b="-21601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9816737" cy="12983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9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217673" y="9384535"/>
            <a:ext cx="2573750" cy="671065"/>
            <a:chOff x="0" y="0"/>
            <a:chExt cx="3431667" cy="894753"/>
          </a:xfrm>
        </p:grpSpPr>
        <p:sp>
          <p:nvSpPr>
            <p:cNvPr name="Freeform 10" id="10" descr="Picture 10"/>
            <p:cNvSpPr/>
            <p:nvPr/>
          </p:nvSpPr>
          <p:spPr>
            <a:xfrm flipH="false" flipV="false" rot="0">
              <a:off x="0" y="0"/>
              <a:ext cx="3431667" cy="894715"/>
            </a:xfrm>
            <a:custGeom>
              <a:avLst/>
              <a:gdLst/>
              <a:ahLst/>
              <a:cxnLst/>
              <a:rect r="r" b="b" t="t" l="l"/>
              <a:pathLst>
                <a:path h="894715" w="3431667">
                  <a:moveTo>
                    <a:pt x="0" y="0"/>
                  </a:moveTo>
                  <a:lnTo>
                    <a:pt x="3431667" y="0"/>
                  </a:lnTo>
                  <a:lnTo>
                    <a:pt x="3431667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53" t="0" r="-753" b="-4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430212" y="9366247"/>
            <a:ext cx="1388688" cy="671065"/>
            <a:chOff x="0" y="0"/>
            <a:chExt cx="1851584" cy="894753"/>
          </a:xfrm>
        </p:grpSpPr>
        <p:sp>
          <p:nvSpPr>
            <p:cNvPr name="Freeform 12" id="12" descr="Picture 11"/>
            <p:cNvSpPr/>
            <p:nvPr/>
          </p:nvSpPr>
          <p:spPr>
            <a:xfrm flipH="false" flipV="false" rot="0">
              <a:off x="0" y="0"/>
              <a:ext cx="1851533" cy="894715"/>
            </a:xfrm>
            <a:custGeom>
              <a:avLst/>
              <a:gdLst/>
              <a:ahLst/>
              <a:cxnLst/>
              <a:rect r="r" b="b" t="t" l="l"/>
              <a:pathLst>
                <a:path h="894715" w="1851533">
                  <a:moveTo>
                    <a:pt x="0" y="0"/>
                  </a:moveTo>
                  <a:lnTo>
                    <a:pt x="1851533" y="0"/>
                  </a:lnTo>
                  <a:lnTo>
                    <a:pt x="1851533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79" t="0" r="-382" b="-4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151883" y="2526036"/>
            <a:ext cx="15557497" cy="948403"/>
            <a:chOff x="0" y="0"/>
            <a:chExt cx="20743329" cy="12645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743418" cy="1264627"/>
            </a:xfrm>
            <a:custGeom>
              <a:avLst/>
              <a:gdLst/>
              <a:ahLst/>
              <a:cxnLst/>
              <a:rect r="r" b="b" t="t" l="l"/>
              <a:pathLst>
                <a:path h="1264627" w="20743418">
                  <a:moveTo>
                    <a:pt x="0" y="139143"/>
                  </a:moveTo>
                  <a:cubicBezTo>
                    <a:pt x="0" y="62231"/>
                    <a:pt x="60833" y="0"/>
                    <a:pt x="136017" y="0"/>
                  </a:cubicBezTo>
                  <a:lnTo>
                    <a:pt x="20607401" y="0"/>
                  </a:lnTo>
                  <a:cubicBezTo>
                    <a:pt x="20682458" y="0"/>
                    <a:pt x="20743418" y="62231"/>
                    <a:pt x="20743418" y="139143"/>
                  </a:cubicBezTo>
                  <a:lnTo>
                    <a:pt x="20743418" y="1125486"/>
                  </a:lnTo>
                  <a:cubicBezTo>
                    <a:pt x="20743418" y="1202268"/>
                    <a:pt x="20682586" y="1264627"/>
                    <a:pt x="20607401" y="1264627"/>
                  </a:cubicBezTo>
                  <a:lnTo>
                    <a:pt x="136017" y="1264627"/>
                  </a:lnTo>
                  <a:cubicBezTo>
                    <a:pt x="60833" y="1264499"/>
                    <a:pt x="0" y="1202268"/>
                    <a:pt x="0" y="1125486"/>
                  </a:cubicBezTo>
                  <a:close/>
                </a:path>
              </a:pathLst>
            </a:custGeom>
            <a:solidFill>
              <a:srgbClr val="ECEFF8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330966" y="2639591"/>
            <a:ext cx="14862553" cy="721294"/>
            <a:chOff x="0" y="0"/>
            <a:chExt cx="19816737" cy="96172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816741" cy="961731"/>
            </a:xfrm>
            <a:custGeom>
              <a:avLst/>
              <a:gdLst/>
              <a:ahLst/>
              <a:cxnLst/>
              <a:rect r="r" b="b" t="t" l="l"/>
              <a:pathLst>
                <a:path h="961731" w="19816741">
                  <a:moveTo>
                    <a:pt x="0" y="0"/>
                  </a:moveTo>
                  <a:lnTo>
                    <a:pt x="19816741" y="0"/>
                  </a:lnTo>
                  <a:lnTo>
                    <a:pt x="19816741" y="961731"/>
                  </a:lnTo>
                  <a:lnTo>
                    <a:pt x="0" y="9617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9486" r="0" b="-32350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19816737" cy="971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4"/>
                </a:lnSpc>
              </a:pPr>
              <a:r>
                <a:rPr lang="en-US" sz="2600" i="true">
                  <a:solidFill>
                    <a:srgbClr val="191E3A"/>
                  </a:solidFill>
                  <a:latin typeface="DM Sans Italics"/>
                  <a:ea typeface="DM Sans Italics"/>
                  <a:cs typeface="DM Sans Italics"/>
                  <a:sym typeface="DM Sans Italics"/>
                </a:rPr>
                <a:t>What happened when we swapped to </a:t>
              </a:r>
              <a:r>
                <a:rPr lang="en-US" sz="2600" i="true">
                  <a:solidFill>
                    <a:srgbClr val="191E3A"/>
                  </a:solidFill>
                  <a:latin typeface="DM Sans Italics"/>
                  <a:ea typeface="DM Sans Italics"/>
                  <a:cs typeface="DM Sans Italics"/>
                  <a:sym typeface="DM Sans Italics"/>
                </a:rPr>
                <a:t>non-parameterized gates.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0095584" y="4078821"/>
            <a:ext cx="5808888" cy="4259852"/>
          </a:xfrm>
          <a:custGeom>
            <a:avLst/>
            <a:gdLst/>
            <a:ahLst/>
            <a:cxnLst/>
            <a:rect r="r" b="b" t="t" l="l"/>
            <a:pathLst>
              <a:path h="4259852" w="5808888">
                <a:moveTo>
                  <a:pt x="0" y="0"/>
                </a:moveTo>
                <a:lnTo>
                  <a:pt x="5808888" y="0"/>
                </a:lnTo>
                <a:lnTo>
                  <a:pt x="5808888" y="4259851"/>
                </a:lnTo>
                <a:lnTo>
                  <a:pt x="0" y="42598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025737" y="4078821"/>
            <a:ext cx="5710876" cy="4171424"/>
          </a:xfrm>
          <a:custGeom>
            <a:avLst/>
            <a:gdLst/>
            <a:ahLst/>
            <a:cxnLst/>
            <a:rect r="r" b="b" t="t" l="l"/>
            <a:pathLst>
              <a:path h="4171424" w="5710876">
                <a:moveTo>
                  <a:pt x="0" y="0"/>
                </a:moveTo>
                <a:lnTo>
                  <a:pt x="5710876" y="0"/>
                </a:lnTo>
                <a:lnTo>
                  <a:pt x="5710876" y="4171424"/>
                </a:lnTo>
                <a:lnTo>
                  <a:pt x="0" y="417142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548" t="0" r="0" b="-2119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9367" y="1812922"/>
            <a:ext cx="1612897" cy="6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Axion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Student Research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-6353" y="9567415"/>
            <a:ext cx="170433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1 / 16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151883" y="1184272"/>
            <a:ext cx="6417469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Expressibility </a:t>
            </a: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- Results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937310" y="8513481"/>
            <a:ext cx="13986644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2599" i="true">
                <a:solidFill>
                  <a:srgbClr val="191E3A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At equal depth the native ansatz explores less of the state space than the simulator ansatz.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841497" y="3341835"/>
            <a:ext cx="4605005" cy="562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1"/>
              </a:lnSpc>
            </a:pPr>
          </a:p>
          <a:p>
            <a:pPr algn="l">
              <a:lnSpc>
                <a:spcPts val="2221"/>
              </a:lnSpc>
            </a:pPr>
            <a:r>
              <a:rPr lang="en-US" sz="1713">
                <a:solidFill>
                  <a:srgbClr val="0B1020"/>
                </a:solidFill>
                <a:latin typeface="DM Sans"/>
                <a:ea typeface="DM Sans"/>
                <a:cs typeface="DM Sans"/>
                <a:sym typeface="DM Sans"/>
              </a:rPr>
              <a:t>KL - divergance</a:t>
            </a:r>
            <a:r>
              <a:rPr lang="en-US" sz="1713">
                <a:solidFill>
                  <a:srgbClr val="0B1020"/>
                </a:solidFill>
                <a:latin typeface="DM Sans"/>
                <a:ea typeface="DM Sans"/>
                <a:cs typeface="DM Sans"/>
                <a:sym typeface="DM Sans"/>
              </a:rPr>
              <a:t> ∈ [0,∞] - </a:t>
            </a:r>
            <a:r>
              <a:rPr lang="en-US" sz="1713" b="true">
                <a:solidFill>
                  <a:srgbClr val="0B1020"/>
                </a:solidFill>
                <a:latin typeface="DM Sans Bold"/>
                <a:ea typeface="DM Sans Bold"/>
                <a:cs typeface="DM Sans Bold"/>
                <a:sym typeface="DM Sans Bold"/>
              </a:rPr>
              <a:t>lower is better.</a:t>
            </a:r>
          </a:p>
        </p:txBody>
      </p:sp>
      <p:sp>
        <p:nvSpPr>
          <p:cNvPr name="AutoShape 25" id="25"/>
          <p:cNvSpPr/>
          <p:nvPr/>
        </p:nvSpPr>
        <p:spPr>
          <a:xfrm flipH="true">
            <a:off x="4956144" y="5143500"/>
            <a:ext cx="1181594" cy="19047"/>
          </a:xfrm>
          <a:prstGeom prst="line">
            <a:avLst/>
          </a:prstGeom>
          <a:ln cap="flat" w="38100">
            <a:solidFill>
              <a:srgbClr val="667085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6" id="26"/>
          <p:cNvSpPr/>
          <p:nvPr/>
        </p:nvSpPr>
        <p:spPr>
          <a:xfrm>
            <a:off x="6964669" y="5436123"/>
            <a:ext cx="0" cy="1855740"/>
          </a:xfrm>
          <a:prstGeom prst="line">
            <a:avLst/>
          </a:prstGeom>
          <a:ln cap="flat" w="38100">
            <a:solidFill>
              <a:srgbClr val="667085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7" id="27"/>
          <p:cNvSpPr/>
          <p:nvPr/>
        </p:nvSpPr>
        <p:spPr>
          <a:xfrm flipH="true">
            <a:off x="11464904" y="5658047"/>
            <a:ext cx="395547" cy="1476202"/>
          </a:xfrm>
          <a:prstGeom prst="line">
            <a:avLst/>
          </a:prstGeom>
          <a:ln cap="flat" w="38100">
            <a:solidFill>
              <a:srgbClr val="667085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8" id="28"/>
          <p:cNvSpPr/>
          <p:nvPr/>
        </p:nvSpPr>
        <p:spPr>
          <a:xfrm>
            <a:off x="12552044" y="5162547"/>
            <a:ext cx="878168" cy="0"/>
          </a:xfrm>
          <a:prstGeom prst="line">
            <a:avLst/>
          </a:prstGeom>
          <a:ln cap="flat" w="38100">
            <a:solidFill>
              <a:srgbClr val="667085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9" id="29"/>
          <p:cNvSpPr txBox="true"/>
          <p:nvPr/>
        </p:nvSpPr>
        <p:spPr>
          <a:xfrm rot="0">
            <a:off x="6350644" y="5048711"/>
            <a:ext cx="981708" cy="228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2"/>
              </a:lnSpc>
              <a:spcBef>
                <a:spcPct val="0"/>
              </a:spcBef>
            </a:pPr>
            <a:r>
              <a:rPr lang="en-US" sz="1500" i="true">
                <a:solidFill>
                  <a:srgbClr val="667085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odra worse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360388" y="5133970"/>
            <a:ext cx="1000125" cy="228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2"/>
              </a:lnSpc>
              <a:spcBef>
                <a:spcPct val="0"/>
              </a:spcBef>
            </a:pPr>
            <a:r>
              <a:rPr lang="en-US" sz="1500" i="true">
                <a:solidFill>
                  <a:srgbClr val="667085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odra better</a:t>
            </a:r>
          </a:p>
        </p:txBody>
      </p:sp>
    </p:spTree>
  </p:cSld>
  <p:clrMapOvr>
    <a:masterClrMapping/>
  </p:clrMapOvr>
  <p:transition spd="fast">
    <p:fade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704337" cy="10299697"/>
            <a:chOff x="0" y="0"/>
            <a:chExt cx="2272449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241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272411">
                  <a:moveTo>
                    <a:pt x="0" y="0"/>
                  </a:moveTo>
                  <a:lnTo>
                    <a:pt x="2272411" y="0"/>
                  </a:lnTo>
                  <a:lnTo>
                    <a:pt x="227241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243" y="377695"/>
            <a:ext cx="1311145" cy="1311145"/>
            <a:chOff x="0" y="0"/>
            <a:chExt cx="1748193" cy="1748193"/>
          </a:xfrm>
        </p:grpSpPr>
        <p:sp>
          <p:nvSpPr>
            <p:cNvPr name="Freeform 5" id="5" descr="Picture 2"/>
            <p:cNvSpPr/>
            <p:nvPr/>
          </p:nvSpPr>
          <p:spPr>
            <a:xfrm flipH="false" flipV="false" rot="0">
              <a:off x="0" y="0"/>
              <a:ext cx="1748155" cy="1748155"/>
            </a:xfrm>
            <a:custGeom>
              <a:avLst/>
              <a:gdLst/>
              <a:ahLst/>
              <a:cxnLst/>
              <a:rect r="r" b="b" t="t" l="l"/>
              <a:pathLst>
                <a:path h="1748155" w="1748155">
                  <a:moveTo>
                    <a:pt x="0" y="0"/>
                  </a:moveTo>
                  <a:lnTo>
                    <a:pt x="1748155" y="0"/>
                  </a:lnTo>
                  <a:lnTo>
                    <a:pt x="1748155" y="1748155"/>
                  </a:lnTo>
                  <a:lnTo>
                    <a:pt x="0" y="174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136888" y="2427218"/>
            <a:ext cx="15557497" cy="948403"/>
            <a:chOff x="0" y="0"/>
            <a:chExt cx="20743329" cy="1264538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20743329" cy="1264538"/>
              <a:chOff x="0" y="0"/>
              <a:chExt cx="20743329" cy="1264538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0743418" cy="1264627"/>
              </a:xfrm>
              <a:custGeom>
                <a:avLst/>
                <a:gdLst/>
                <a:ahLst/>
                <a:cxnLst/>
                <a:rect r="r" b="b" t="t" l="l"/>
                <a:pathLst>
                  <a:path h="1264627" w="20743418">
                    <a:moveTo>
                      <a:pt x="0" y="139143"/>
                    </a:moveTo>
                    <a:cubicBezTo>
                      <a:pt x="0" y="62231"/>
                      <a:pt x="60833" y="0"/>
                      <a:pt x="136017" y="0"/>
                    </a:cubicBezTo>
                    <a:lnTo>
                      <a:pt x="20607401" y="0"/>
                    </a:lnTo>
                    <a:cubicBezTo>
                      <a:pt x="20682458" y="0"/>
                      <a:pt x="20743418" y="62231"/>
                      <a:pt x="20743418" y="139143"/>
                    </a:cubicBezTo>
                    <a:lnTo>
                      <a:pt x="20743418" y="1125486"/>
                    </a:lnTo>
                    <a:cubicBezTo>
                      <a:pt x="20743418" y="1202268"/>
                      <a:pt x="20682586" y="1264627"/>
                      <a:pt x="20607401" y="1264627"/>
                    </a:cubicBezTo>
                    <a:lnTo>
                      <a:pt x="136017" y="1264627"/>
                    </a:lnTo>
                    <a:cubicBezTo>
                      <a:pt x="60833" y="1264499"/>
                      <a:pt x="0" y="1202268"/>
                      <a:pt x="0" y="1125486"/>
                    </a:cubicBezTo>
                    <a:close/>
                  </a:path>
                </a:pathLst>
              </a:custGeom>
              <a:solidFill>
                <a:srgbClr val="ECEFF8"/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463296" y="109881"/>
              <a:ext cx="19816737" cy="961725"/>
              <a:chOff x="0" y="0"/>
              <a:chExt cx="19816737" cy="96172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9816741" cy="961731"/>
              </a:xfrm>
              <a:custGeom>
                <a:avLst/>
                <a:gdLst/>
                <a:ahLst/>
                <a:cxnLst/>
                <a:rect r="r" b="b" t="t" l="l"/>
                <a:pathLst>
                  <a:path h="961731" w="19816741">
                    <a:moveTo>
                      <a:pt x="0" y="0"/>
                    </a:moveTo>
                    <a:lnTo>
                      <a:pt x="19816741" y="0"/>
                    </a:lnTo>
                    <a:lnTo>
                      <a:pt x="19816741" y="961731"/>
                    </a:lnTo>
                    <a:lnTo>
                      <a:pt x="0" y="961731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79486" r="0" b="-323503"/>
                </a:stretch>
              </a:blip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9525"/>
                <a:ext cx="19816737" cy="97125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44"/>
                  </a:lnSpc>
                </a:pPr>
                <a:r>
                  <a:rPr lang="en-US" sz="2600" i="true">
                    <a:solidFill>
                      <a:srgbClr val="191E3A"/>
                    </a:solidFill>
                    <a:latin typeface="DM Sans Italics"/>
                    <a:ea typeface="DM Sans Italics"/>
                    <a:cs typeface="DM Sans Italics"/>
                    <a:sym typeface="DM Sans Italics"/>
                  </a:rPr>
                  <a:t>Fidelity checks how well QPU prepare the state </a:t>
                </a:r>
                <a:r>
                  <a:rPr lang="en-US" sz="2600" i="true">
                    <a:solidFill>
                      <a:srgbClr val="191E3A"/>
                    </a:solidFill>
                    <a:latin typeface="DM Sans Italics"/>
                    <a:ea typeface="DM Sans Italics"/>
                    <a:cs typeface="DM Sans Italics"/>
                    <a:sym typeface="DM Sans Italics"/>
                  </a:rPr>
                  <a:t>our simulation intended.</a:t>
                </a: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0">
            <a:off x="15217673" y="9384535"/>
            <a:ext cx="2573750" cy="671065"/>
            <a:chOff x="0" y="0"/>
            <a:chExt cx="3431667" cy="894753"/>
          </a:xfrm>
        </p:grpSpPr>
        <p:sp>
          <p:nvSpPr>
            <p:cNvPr name="Freeform 13" id="13" descr="Picture 10"/>
            <p:cNvSpPr/>
            <p:nvPr/>
          </p:nvSpPr>
          <p:spPr>
            <a:xfrm flipH="false" flipV="false" rot="0">
              <a:off x="0" y="0"/>
              <a:ext cx="3431667" cy="894715"/>
            </a:xfrm>
            <a:custGeom>
              <a:avLst/>
              <a:gdLst/>
              <a:ahLst/>
              <a:cxnLst/>
              <a:rect r="r" b="b" t="t" l="l"/>
              <a:pathLst>
                <a:path h="894715" w="3431667">
                  <a:moveTo>
                    <a:pt x="0" y="0"/>
                  </a:moveTo>
                  <a:lnTo>
                    <a:pt x="3431667" y="0"/>
                  </a:lnTo>
                  <a:lnTo>
                    <a:pt x="3431667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53" t="0" r="-753" b="-4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430212" y="9366247"/>
            <a:ext cx="1388688" cy="671065"/>
            <a:chOff x="0" y="0"/>
            <a:chExt cx="1851584" cy="894753"/>
          </a:xfrm>
        </p:grpSpPr>
        <p:sp>
          <p:nvSpPr>
            <p:cNvPr name="Freeform 15" id="15" descr="Picture 11"/>
            <p:cNvSpPr/>
            <p:nvPr/>
          </p:nvSpPr>
          <p:spPr>
            <a:xfrm flipH="false" flipV="false" rot="0">
              <a:off x="0" y="0"/>
              <a:ext cx="1851533" cy="894715"/>
            </a:xfrm>
            <a:custGeom>
              <a:avLst/>
              <a:gdLst/>
              <a:ahLst/>
              <a:cxnLst/>
              <a:rect r="r" b="b" t="t" l="l"/>
              <a:pathLst>
                <a:path h="894715" w="1851533">
                  <a:moveTo>
                    <a:pt x="0" y="0"/>
                  </a:moveTo>
                  <a:lnTo>
                    <a:pt x="1851533" y="0"/>
                  </a:lnTo>
                  <a:lnTo>
                    <a:pt x="1851533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79" t="0" r="-382" b="-4"/>
              </a:stretch>
            </a:blipFill>
          </p:spPr>
        </p:sp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046456" y="4412197"/>
            <a:ext cx="9738360" cy="221544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301266" y="7315946"/>
            <a:ext cx="6084769" cy="2275497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39367" y="1812922"/>
            <a:ext cx="1612897" cy="6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Axion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Student Research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-6353" y="9567415"/>
            <a:ext cx="170433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07 </a:t>
            </a: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/ 16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136888" y="1184272"/>
            <a:ext cx="7411971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Fidelity - tomography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236531" y="5993440"/>
            <a:ext cx="5644408" cy="216133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2136888" y="3685698"/>
            <a:ext cx="13217297" cy="893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7"/>
              </a:lnSpc>
            </a:pPr>
            <a:r>
              <a:rPr lang="en-US" sz="2799">
                <a:solidFill>
                  <a:srgbClr val="191E3A"/>
                </a:solidFill>
                <a:latin typeface="DM Sans"/>
                <a:ea typeface="DM Sans"/>
                <a:cs typeface="DM Sans"/>
                <a:sym typeface="DM Sans"/>
              </a:rPr>
              <a:t>We reconstruct the hardware density matrix from Pauli-basis measurements on the QPU and compare it with the ideal simulated state through fidelity.</a:t>
            </a:r>
          </a:p>
        </p:txBody>
      </p:sp>
    </p:spTree>
  </p:cSld>
  <p:clrMapOvr>
    <a:masterClrMapping/>
  </p:clrMapOvr>
  <p:transition spd="fast">
    <p:fade/>
  </p:transition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704337" cy="10299697"/>
            <a:chOff x="0" y="0"/>
            <a:chExt cx="2272449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241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272411">
                  <a:moveTo>
                    <a:pt x="0" y="0"/>
                  </a:moveTo>
                  <a:lnTo>
                    <a:pt x="2272411" y="0"/>
                  </a:lnTo>
                  <a:lnTo>
                    <a:pt x="227241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243" y="377695"/>
            <a:ext cx="1311145" cy="1311145"/>
            <a:chOff x="0" y="0"/>
            <a:chExt cx="1748193" cy="1748193"/>
          </a:xfrm>
        </p:grpSpPr>
        <p:sp>
          <p:nvSpPr>
            <p:cNvPr name="Freeform 5" id="5" descr="Picture 2"/>
            <p:cNvSpPr/>
            <p:nvPr/>
          </p:nvSpPr>
          <p:spPr>
            <a:xfrm flipH="false" flipV="false" rot="0">
              <a:off x="0" y="0"/>
              <a:ext cx="1748155" cy="1748155"/>
            </a:xfrm>
            <a:custGeom>
              <a:avLst/>
              <a:gdLst/>
              <a:ahLst/>
              <a:cxnLst/>
              <a:rect r="r" b="b" t="t" l="l"/>
              <a:pathLst>
                <a:path h="1748155" w="1748155">
                  <a:moveTo>
                    <a:pt x="0" y="0"/>
                  </a:moveTo>
                  <a:lnTo>
                    <a:pt x="1748155" y="0"/>
                  </a:lnTo>
                  <a:lnTo>
                    <a:pt x="1748155" y="1748155"/>
                  </a:lnTo>
                  <a:lnTo>
                    <a:pt x="0" y="174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217673" y="9384535"/>
            <a:ext cx="2573750" cy="671065"/>
            <a:chOff x="0" y="0"/>
            <a:chExt cx="3431667" cy="894753"/>
          </a:xfrm>
        </p:grpSpPr>
        <p:sp>
          <p:nvSpPr>
            <p:cNvPr name="Freeform 7" id="7" descr="Picture 10"/>
            <p:cNvSpPr/>
            <p:nvPr/>
          </p:nvSpPr>
          <p:spPr>
            <a:xfrm flipH="false" flipV="false" rot="0">
              <a:off x="0" y="0"/>
              <a:ext cx="3431667" cy="894715"/>
            </a:xfrm>
            <a:custGeom>
              <a:avLst/>
              <a:gdLst/>
              <a:ahLst/>
              <a:cxnLst/>
              <a:rect r="r" b="b" t="t" l="l"/>
              <a:pathLst>
                <a:path h="894715" w="3431667">
                  <a:moveTo>
                    <a:pt x="0" y="0"/>
                  </a:moveTo>
                  <a:lnTo>
                    <a:pt x="3431667" y="0"/>
                  </a:lnTo>
                  <a:lnTo>
                    <a:pt x="3431667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3" t="0" r="-753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430212" y="9366247"/>
            <a:ext cx="1388688" cy="671065"/>
            <a:chOff x="0" y="0"/>
            <a:chExt cx="1851584" cy="894753"/>
          </a:xfrm>
        </p:grpSpPr>
        <p:sp>
          <p:nvSpPr>
            <p:cNvPr name="Freeform 9" id="9" descr="Picture 11"/>
            <p:cNvSpPr/>
            <p:nvPr/>
          </p:nvSpPr>
          <p:spPr>
            <a:xfrm flipH="false" flipV="false" rot="0">
              <a:off x="0" y="0"/>
              <a:ext cx="1851533" cy="894715"/>
            </a:xfrm>
            <a:custGeom>
              <a:avLst/>
              <a:gdLst/>
              <a:ahLst/>
              <a:cxnLst/>
              <a:rect r="r" b="b" t="t" l="l"/>
              <a:pathLst>
                <a:path h="894715" w="1851533">
                  <a:moveTo>
                    <a:pt x="0" y="0"/>
                  </a:moveTo>
                  <a:lnTo>
                    <a:pt x="1851533" y="0"/>
                  </a:lnTo>
                  <a:lnTo>
                    <a:pt x="1851533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79" t="0" r="-382" b="-4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118102" y="2427218"/>
            <a:ext cx="15557497" cy="948403"/>
            <a:chOff x="0" y="0"/>
            <a:chExt cx="20743329" cy="1264538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20743329" cy="1264538"/>
              <a:chOff x="0" y="0"/>
              <a:chExt cx="20743329" cy="1264538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0743418" cy="1264627"/>
              </a:xfrm>
              <a:custGeom>
                <a:avLst/>
                <a:gdLst/>
                <a:ahLst/>
                <a:cxnLst/>
                <a:rect r="r" b="b" t="t" l="l"/>
                <a:pathLst>
                  <a:path h="1264627" w="20743418">
                    <a:moveTo>
                      <a:pt x="0" y="139143"/>
                    </a:moveTo>
                    <a:cubicBezTo>
                      <a:pt x="0" y="62231"/>
                      <a:pt x="60833" y="0"/>
                      <a:pt x="136017" y="0"/>
                    </a:cubicBezTo>
                    <a:lnTo>
                      <a:pt x="20607401" y="0"/>
                    </a:lnTo>
                    <a:cubicBezTo>
                      <a:pt x="20682458" y="0"/>
                      <a:pt x="20743418" y="62231"/>
                      <a:pt x="20743418" y="139143"/>
                    </a:cubicBezTo>
                    <a:lnTo>
                      <a:pt x="20743418" y="1125486"/>
                    </a:lnTo>
                    <a:cubicBezTo>
                      <a:pt x="20743418" y="1202268"/>
                      <a:pt x="20682586" y="1264627"/>
                      <a:pt x="20607401" y="1264627"/>
                    </a:cubicBezTo>
                    <a:lnTo>
                      <a:pt x="136017" y="1264627"/>
                    </a:lnTo>
                    <a:cubicBezTo>
                      <a:pt x="60833" y="1264499"/>
                      <a:pt x="0" y="1202268"/>
                      <a:pt x="0" y="1125486"/>
                    </a:cubicBezTo>
                    <a:close/>
                  </a:path>
                </a:pathLst>
              </a:custGeom>
              <a:solidFill>
                <a:srgbClr val="ECEFF8"/>
              </a:solidFill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238777" y="151406"/>
              <a:ext cx="19816737" cy="961725"/>
              <a:chOff x="0" y="0"/>
              <a:chExt cx="19816737" cy="961725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9816741" cy="961731"/>
              </a:xfrm>
              <a:custGeom>
                <a:avLst/>
                <a:gdLst/>
                <a:ahLst/>
                <a:cxnLst/>
                <a:rect r="r" b="b" t="t" l="l"/>
                <a:pathLst>
                  <a:path h="961731" w="19816741">
                    <a:moveTo>
                      <a:pt x="0" y="0"/>
                    </a:moveTo>
                    <a:lnTo>
                      <a:pt x="19816741" y="0"/>
                    </a:lnTo>
                    <a:lnTo>
                      <a:pt x="19816741" y="961731"/>
                    </a:lnTo>
                    <a:lnTo>
                      <a:pt x="0" y="961731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0" t="-379486" r="0" b="-323503"/>
                </a:stretch>
              </a:blip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9525"/>
                <a:ext cx="19816737" cy="97125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44"/>
                  </a:lnSpc>
                </a:pPr>
                <a:r>
                  <a:rPr lang="en-US" sz="2600" i="true">
                    <a:solidFill>
                      <a:srgbClr val="191E3A"/>
                    </a:solidFill>
                    <a:latin typeface="DM Sans Italics"/>
                    <a:ea typeface="DM Sans Italics"/>
                    <a:cs typeface="DM Sans Italics"/>
                    <a:sym typeface="DM Sans Italics"/>
                  </a:rPr>
                  <a:t>How much does the decomposition affects both ansatze.</a:t>
                </a:r>
              </a:p>
            </p:txBody>
          </p:sp>
        </p:grpSp>
      </p:grpSp>
      <p:sp>
        <p:nvSpPr>
          <p:cNvPr name="Freeform 16" id="16"/>
          <p:cNvSpPr/>
          <p:nvPr/>
        </p:nvSpPr>
        <p:spPr>
          <a:xfrm flipH="false" flipV="false" rot="0">
            <a:off x="5451938" y="3494944"/>
            <a:ext cx="7978274" cy="4856775"/>
          </a:xfrm>
          <a:custGeom>
            <a:avLst/>
            <a:gdLst/>
            <a:ahLst/>
            <a:cxnLst/>
            <a:rect r="r" b="b" t="t" l="l"/>
            <a:pathLst>
              <a:path h="4856775" w="7978274">
                <a:moveTo>
                  <a:pt x="0" y="0"/>
                </a:moveTo>
                <a:lnTo>
                  <a:pt x="7978274" y="0"/>
                </a:lnTo>
                <a:lnTo>
                  <a:pt x="7978274" y="4856774"/>
                </a:lnTo>
                <a:lnTo>
                  <a:pt x="0" y="48567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9367" y="1812922"/>
            <a:ext cx="1612897" cy="6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Axion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Student Research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-15878" y="9567415"/>
            <a:ext cx="170433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08 </a:t>
            </a: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/ 16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118102" y="1184272"/>
            <a:ext cx="454580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Fidelity - results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443645" y="3308761"/>
            <a:ext cx="4605005" cy="562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1"/>
              </a:lnSpc>
            </a:pPr>
          </a:p>
          <a:p>
            <a:pPr algn="l">
              <a:lnSpc>
                <a:spcPts val="2221"/>
              </a:lnSpc>
            </a:pPr>
            <a:r>
              <a:rPr lang="en-US" sz="1713">
                <a:solidFill>
                  <a:srgbClr val="0B1020"/>
                </a:solidFill>
                <a:latin typeface="DM Sans"/>
                <a:ea typeface="DM Sans"/>
                <a:cs typeface="DM Sans"/>
                <a:sym typeface="DM Sans"/>
              </a:rPr>
              <a:t>State fidelity ∈ [0,1] - </a:t>
            </a:r>
            <a:r>
              <a:rPr lang="en-US" sz="1713" b="true">
                <a:solidFill>
                  <a:srgbClr val="0B1020"/>
                </a:solidFill>
                <a:latin typeface="DM Sans Bold"/>
                <a:ea typeface="DM Sans Bold"/>
                <a:cs typeface="DM Sans Bold"/>
                <a:sym typeface="DM Sans Bold"/>
              </a:rPr>
              <a:t>higher is better.</a:t>
            </a:r>
          </a:p>
        </p:txBody>
      </p:sp>
    </p:spTree>
  </p:cSld>
  <p:clrMapOvr>
    <a:masterClrMapping/>
  </p:clrMapOvr>
  <p:transition spd="fast">
    <p:fade/>
  </p:transition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704337" cy="10299697"/>
            <a:chOff x="0" y="0"/>
            <a:chExt cx="2272449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241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272411">
                  <a:moveTo>
                    <a:pt x="0" y="0"/>
                  </a:moveTo>
                  <a:lnTo>
                    <a:pt x="2272411" y="0"/>
                  </a:lnTo>
                  <a:lnTo>
                    <a:pt x="227241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243" y="377695"/>
            <a:ext cx="1311145" cy="1311145"/>
            <a:chOff x="0" y="0"/>
            <a:chExt cx="1748193" cy="1748193"/>
          </a:xfrm>
        </p:grpSpPr>
        <p:sp>
          <p:nvSpPr>
            <p:cNvPr name="Freeform 5" id="5" descr="Picture 2"/>
            <p:cNvSpPr/>
            <p:nvPr/>
          </p:nvSpPr>
          <p:spPr>
            <a:xfrm flipH="false" flipV="false" rot="0">
              <a:off x="0" y="0"/>
              <a:ext cx="1748155" cy="1748155"/>
            </a:xfrm>
            <a:custGeom>
              <a:avLst/>
              <a:gdLst/>
              <a:ahLst/>
              <a:cxnLst/>
              <a:rect r="r" b="b" t="t" l="l"/>
              <a:pathLst>
                <a:path h="1748155" w="1748155">
                  <a:moveTo>
                    <a:pt x="0" y="0"/>
                  </a:moveTo>
                  <a:lnTo>
                    <a:pt x="1748155" y="0"/>
                  </a:lnTo>
                  <a:lnTo>
                    <a:pt x="1748155" y="1748155"/>
                  </a:lnTo>
                  <a:lnTo>
                    <a:pt x="0" y="174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217673" y="9384535"/>
            <a:ext cx="2573750" cy="671065"/>
            <a:chOff x="0" y="0"/>
            <a:chExt cx="3431667" cy="894753"/>
          </a:xfrm>
        </p:grpSpPr>
        <p:sp>
          <p:nvSpPr>
            <p:cNvPr name="Freeform 7" id="7" descr="Picture 10"/>
            <p:cNvSpPr/>
            <p:nvPr/>
          </p:nvSpPr>
          <p:spPr>
            <a:xfrm flipH="false" flipV="false" rot="0">
              <a:off x="0" y="0"/>
              <a:ext cx="3431667" cy="894715"/>
            </a:xfrm>
            <a:custGeom>
              <a:avLst/>
              <a:gdLst/>
              <a:ahLst/>
              <a:cxnLst/>
              <a:rect r="r" b="b" t="t" l="l"/>
              <a:pathLst>
                <a:path h="894715" w="3431667">
                  <a:moveTo>
                    <a:pt x="0" y="0"/>
                  </a:moveTo>
                  <a:lnTo>
                    <a:pt x="3431667" y="0"/>
                  </a:lnTo>
                  <a:lnTo>
                    <a:pt x="3431667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3" t="0" r="-753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430212" y="9366247"/>
            <a:ext cx="1388688" cy="671065"/>
            <a:chOff x="0" y="0"/>
            <a:chExt cx="1851584" cy="894753"/>
          </a:xfrm>
        </p:grpSpPr>
        <p:sp>
          <p:nvSpPr>
            <p:cNvPr name="Freeform 9" id="9" descr="Picture 11"/>
            <p:cNvSpPr/>
            <p:nvPr/>
          </p:nvSpPr>
          <p:spPr>
            <a:xfrm flipH="false" flipV="false" rot="0">
              <a:off x="0" y="0"/>
              <a:ext cx="1851533" cy="894715"/>
            </a:xfrm>
            <a:custGeom>
              <a:avLst/>
              <a:gdLst/>
              <a:ahLst/>
              <a:cxnLst/>
              <a:rect r="r" b="b" t="t" l="l"/>
              <a:pathLst>
                <a:path h="894715" w="1851533">
                  <a:moveTo>
                    <a:pt x="0" y="0"/>
                  </a:moveTo>
                  <a:lnTo>
                    <a:pt x="1851533" y="0"/>
                  </a:lnTo>
                  <a:lnTo>
                    <a:pt x="1851533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79" t="0" r="-382" b="-4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5451938" y="3494944"/>
            <a:ext cx="7978274" cy="4856775"/>
          </a:xfrm>
          <a:custGeom>
            <a:avLst/>
            <a:gdLst/>
            <a:ahLst/>
            <a:cxnLst/>
            <a:rect r="r" b="b" t="t" l="l"/>
            <a:pathLst>
              <a:path h="4856775" w="7978274">
                <a:moveTo>
                  <a:pt x="0" y="0"/>
                </a:moveTo>
                <a:lnTo>
                  <a:pt x="7978274" y="0"/>
                </a:lnTo>
                <a:lnTo>
                  <a:pt x="7978274" y="4856774"/>
                </a:lnTo>
                <a:lnTo>
                  <a:pt x="0" y="48567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9367" y="1812922"/>
            <a:ext cx="1612897" cy="6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Axion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Student Research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-15878" y="9567415"/>
            <a:ext cx="170433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08 </a:t>
            </a: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/ 16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18102" y="1184272"/>
            <a:ext cx="454580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Fidelity - results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443645" y="3308761"/>
            <a:ext cx="4605005" cy="562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1"/>
              </a:lnSpc>
            </a:pPr>
          </a:p>
          <a:p>
            <a:pPr algn="l">
              <a:lnSpc>
                <a:spcPts val="2221"/>
              </a:lnSpc>
            </a:pPr>
            <a:r>
              <a:rPr lang="en-US" sz="1713">
                <a:solidFill>
                  <a:srgbClr val="0B1020"/>
                </a:solidFill>
                <a:latin typeface="DM Sans"/>
                <a:ea typeface="DM Sans"/>
                <a:cs typeface="DM Sans"/>
                <a:sym typeface="DM Sans"/>
              </a:rPr>
              <a:t>State fidelity ∈ [0,1] - </a:t>
            </a:r>
            <a:r>
              <a:rPr lang="en-US" sz="1713" b="true">
                <a:solidFill>
                  <a:srgbClr val="0B1020"/>
                </a:solidFill>
                <a:latin typeface="DM Sans Bold"/>
                <a:ea typeface="DM Sans Bold"/>
                <a:cs typeface="DM Sans Bold"/>
                <a:sym typeface="DM Sans Bold"/>
              </a:rPr>
              <a:t>higher is better.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444615" y="8471041"/>
            <a:ext cx="12904470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2599" i="true">
                <a:solidFill>
                  <a:srgbClr val="191E3A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ansatz_simulator has </a:t>
            </a:r>
            <a:r>
              <a:rPr lang="en-US" b="true" sz="2599" i="true">
                <a:solidFill>
                  <a:srgbClr val="191E3A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significantly worse </a:t>
            </a:r>
            <a:r>
              <a:rPr lang="en-US" sz="2599" i="true">
                <a:solidFill>
                  <a:srgbClr val="191E3A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results on real hardware than ansatz_odra</a:t>
            </a:r>
          </a:p>
          <a:p>
            <a:pPr algn="ctr">
              <a:lnSpc>
                <a:spcPts val="3119"/>
              </a:lnSpc>
            </a:pPr>
            <a:r>
              <a:rPr lang="en-US" sz="2599" i="true">
                <a:solidFill>
                  <a:srgbClr val="191E3A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Depth 6 results suggest its collapse on hardware.</a:t>
            </a:r>
          </a:p>
        </p:txBody>
      </p:sp>
      <p:sp>
        <p:nvSpPr>
          <p:cNvPr name="AutoShape 16" id="16"/>
          <p:cNvSpPr/>
          <p:nvPr/>
        </p:nvSpPr>
        <p:spPr>
          <a:xfrm flipH="true">
            <a:off x="12476916" y="6487204"/>
            <a:ext cx="1098019" cy="281493"/>
          </a:xfrm>
          <a:prstGeom prst="line">
            <a:avLst/>
          </a:prstGeom>
          <a:ln cap="flat" w="38100">
            <a:solidFill>
              <a:srgbClr val="667085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7" id="17"/>
          <p:cNvSpPr txBox="true"/>
          <p:nvPr/>
        </p:nvSpPr>
        <p:spPr>
          <a:xfrm rot="0">
            <a:off x="13746252" y="6300043"/>
            <a:ext cx="3124596" cy="317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8"/>
              </a:lnSpc>
            </a:pPr>
            <a:r>
              <a:rPr lang="en-US" sz="1762" i="true">
                <a:solidFill>
                  <a:srgbClr val="667085"/>
                </a:solidFill>
                <a:latin typeface="Arimo Italics"/>
                <a:ea typeface="Arimo Italics"/>
                <a:cs typeface="Arimo Italics"/>
                <a:sym typeface="Arimo Italics"/>
              </a:rPr>
              <a:t>suggest the ansatz collapse</a:t>
            </a:r>
          </a:p>
        </p:txBody>
      </p:sp>
      <p:sp>
        <p:nvSpPr>
          <p:cNvPr name="AutoShape 18" id="18"/>
          <p:cNvSpPr/>
          <p:nvPr/>
        </p:nvSpPr>
        <p:spPr>
          <a:xfrm flipH="true">
            <a:off x="9336627" y="5091325"/>
            <a:ext cx="208896" cy="1114112"/>
          </a:xfrm>
          <a:prstGeom prst="line">
            <a:avLst/>
          </a:prstGeom>
          <a:ln cap="flat" w="38100">
            <a:solidFill>
              <a:srgbClr val="667085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9" id="19"/>
          <p:cNvSpPr/>
          <p:nvPr/>
        </p:nvSpPr>
        <p:spPr>
          <a:xfrm flipH="true">
            <a:off x="8237948" y="4942356"/>
            <a:ext cx="1093671" cy="297938"/>
          </a:xfrm>
          <a:prstGeom prst="line">
            <a:avLst/>
          </a:prstGeom>
          <a:ln cap="flat" w="38100">
            <a:solidFill>
              <a:srgbClr val="667085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0" id="20"/>
          <p:cNvSpPr txBox="true"/>
          <p:nvPr/>
        </p:nvSpPr>
        <p:spPr>
          <a:xfrm rot="0">
            <a:off x="9486352" y="4625185"/>
            <a:ext cx="3124596" cy="317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8"/>
              </a:lnSpc>
            </a:pPr>
            <a:r>
              <a:rPr lang="en-US" sz="1762" i="true">
                <a:solidFill>
                  <a:srgbClr val="667085"/>
                </a:solidFill>
                <a:latin typeface="Arimo Italics"/>
                <a:ea typeface="Arimo Italics"/>
                <a:cs typeface="Arimo Italics"/>
                <a:sym typeface="Arimo Italics"/>
              </a:rPr>
              <a:t>more than 10pp difference</a:t>
            </a:r>
          </a:p>
        </p:txBody>
      </p:sp>
      <p:sp>
        <p:nvSpPr>
          <p:cNvPr name="AutoShape 21" id="21"/>
          <p:cNvSpPr/>
          <p:nvPr/>
        </p:nvSpPr>
        <p:spPr>
          <a:xfrm>
            <a:off x="9911584" y="5103401"/>
            <a:ext cx="1231559" cy="1779596"/>
          </a:xfrm>
          <a:prstGeom prst="line">
            <a:avLst/>
          </a:prstGeom>
          <a:ln cap="flat" w="38100">
            <a:solidFill>
              <a:srgbClr val="667085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2" id="22"/>
          <p:cNvGrpSpPr/>
          <p:nvPr/>
        </p:nvGrpSpPr>
        <p:grpSpPr>
          <a:xfrm rot="0">
            <a:off x="2118102" y="2427218"/>
            <a:ext cx="15557497" cy="948403"/>
            <a:chOff x="0" y="0"/>
            <a:chExt cx="20743329" cy="1264538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20743329" cy="1264538"/>
              <a:chOff x="0" y="0"/>
              <a:chExt cx="20743329" cy="1264538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20743418" cy="1264627"/>
              </a:xfrm>
              <a:custGeom>
                <a:avLst/>
                <a:gdLst/>
                <a:ahLst/>
                <a:cxnLst/>
                <a:rect r="r" b="b" t="t" l="l"/>
                <a:pathLst>
                  <a:path h="1264627" w="20743418">
                    <a:moveTo>
                      <a:pt x="0" y="139143"/>
                    </a:moveTo>
                    <a:cubicBezTo>
                      <a:pt x="0" y="62231"/>
                      <a:pt x="60833" y="0"/>
                      <a:pt x="136017" y="0"/>
                    </a:cubicBezTo>
                    <a:lnTo>
                      <a:pt x="20607401" y="0"/>
                    </a:lnTo>
                    <a:cubicBezTo>
                      <a:pt x="20682458" y="0"/>
                      <a:pt x="20743418" y="62231"/>
                      <a:pt x="20743418" y="139143"/>
                    </a:cubicBezTo>
                    <a:lnTo>
                      <a:pt x="20743418" y="1125486"/>
                    </a:lnTo>
                    <a:cubicBezTo>
                      <a:pt x="20743418" y="1202268"/>
                      <a:pt x="20682586" y="1264627"/>
                      <a:pt x="20607401" y="1264627"/>
                    </a:cubicBezTo>
                    <a:lnTo>
                      <a:pt x="136017" y="1264627"/>
                    </a:lnTo>
                    <a:cubicBezTo>
                      <a:pt x="60833" y="1264499"/>
                      <a:pt x="0" y="1202268"/>
                      <a:pt x="0" y="1125486"/>
                    </a:cubicBezTo>
                    <a:close/>
                  </a:path>
                </a:pathLst>
              </a:custGeom>
              <a:solidFill>
                <a:srgbClr val="ECEFF8"/>
              </a:solidFill>
            </p:spPr>
          </p:sp>
        </p:grpSp>
        <p:grpSp>
          <p:nvGrpSpPr>
            <p:cNvPr name="Group 25" id="25"/>
            <p:cNvGrpSpPr/>
            <p:nvPr/>
          </p:nvGrpSpPr>
          <p:grpSpPr>
            <a:xfrm rot="0">
              <a:off x="238777" y="151406"/>
              <a:ext cx="19816737" cy="961725"/>
              <a:chOff x="0" y="0"/>
              <a:chExt cx="19816737" cy="961725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9816741" cy="961731"/>
              </a:xfrm>
              <a:custGeom>
                <a:avLst/>
                <a:gdLst/>
                <a:ahLst/>
                <a:cxnLst/>
                <a:rect r="r" b="b" t="t" l="l"/>
                <a:pathLst>
                  <a:path h="961731" w="19816741">
                    <a:moveTo>
                      <a:pt x="0" y="0"/>
                    </a:moveTo>
                    <a:lnTo>
                      <a:pt x="19816741" y="0"/>
                    </a:lnTo>
                    <a:lnTo>
                      <a:pt x="19816741" y="961731"/>
                    </a:lnTo>
                    <a:lnTo>
                      <a:pt x="0" y="96173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379486" r="0" b="-323503"/>
                </a:stretch>
              </a:blip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9525"/>
                <a:ext cx="19816737" cy="97125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44"/>
                  </a:lnSpc>
                </a:pPr>
                <a:r>
                  <a:rPr lang="en-US" sz="2600" i="true">
                    <a:solidFill>
                      <a:srgbClr val="191E3A"/>
                    </a:solidFill>
                    <a:latin typeface="DM Sans Italics"/>
                    <a:ea typeface="DM Sans Italics"/>
                    <a:cs typeface="DM Sans Italics"/>
                    <a:sym typeface="DM Sans Italics"/>
                  </a:rPr>
                  <a:t>How much does the decomposition affects both ansatze.</a:t>
                </a:r>
              </a:p>
            </p:txBody>
          </p:sp>
        </p:grpSp>
      </p:grpSp>
    </p:spTree>
  </p:cSld>
  <p:clrMapOvr>
    <a:masterClrMapping/>
  </p:clrMapOvr>
  <p:transition spd="fast">
    <p:fade/>
  </p:transition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704337" cy="10299697"/>
            <a:chOff x="0" y="0"/>
            <a:chExt cx="2272449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241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272411">
                  <a:moveTo>
                    <a:pt x="0" y="0"/>
                  </a:moveTo>
                  <a:lnTo>
                    <a:pt x="2272411" y="0"/>
                  </a:lnTo>
                  <a:lnTo>
                    <a:pt x="227241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243" y="377695"/>
            <a:ext cx="1311145" cy="1311145"/>
            <a:chOff x="0" y="0"/>
            <a:chExt cx="1748193" cy="1748193"/>
          </a:xfrm>
        </p:grpSpPr>
        <p:sp>
          <p:nvSpPr>
            <p:cNvPr name="Freeform 5" id="5" descr="Picture 2"/>
            <p:cNvSpPr/>
            <p:nvPr/>
          </p:nvSpPr>
          <p:spPr>
            <a:xfrm flipH="false" flipV="false" rot="0">
              <a:off x="0" y="0"/>
              <a:ext cx="1748155" cy="1748155"/>
            </a:xfrm>
            <a:custGeom>
              <a:avLst/>
              <a:gdLst/>
              <a:ahLst/>
              <a:cxnLst/>
              <a:rect r="r" b="b" t="t" l="l"/>
              <a:pathLst>
                <a:path h="1748155" w="1748155">
                  <a:moveTo>
                    <a:pt x="0" y="0"/>
                  </a:moveTo>
                  <a:lnTo>
                    <a:pt x="1748155" y="0"/>
                  </a:lnTo>
                  <a:lnTo>
                    <a:pt x="1748155" y="1748155"/>
                  </a:lnTo>
                  <a:lnTo>
                    <a:pt x="0" y="174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217673" y="9384535"/>
            <a:ext cx="2573750" cy="671065"/>
            <a:chOff x="0" y="0"/>
            <a:chExt cx="3431667" cy="894753"/>
          </a:xfrm>
        </p:grpSpPr>
        <p:sp>
          <p:nvSpPr>
            <p:cNvPr name="Freeform 7" id="7" descr="Picture 10"/>
            <p:cNvSpPr/>
            <p:nvPr/>
          </p:nvSpPr>
          <p:spPr>
            <a:xfrm flipH="false" flipV="false" rot="0">
              <a:off x="0" y="0"/>
              <a:ext cx="3431667" cy="894715"/>
            </a:xfrm>
            <a:custGeom>
              <a:avLst/>
              <a:gdLst/>
              <a:ahLst/>
              <a:cxnLst/>
              <a:rect r="r" b="b" t="t" l="l"/>
              <a:pathLst>
                <a:path h="894715" w="3431667">
                  <a:moveTo>
                    <a:pt x="0" y="0"/>
                  </a:moveTo>
                  <a:lnTo>
                    <a:pt x="3431667" y="0"/>
                  </a:lnTo>
                  <a:lnTo>
                    <a:pt x="3431667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3" t="0" r="-753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430212" y="9366247"/>
            <a:ext cx="1388688" cy="671065"/>
            <a:chOff x="0" y="0"/>
            <a:chExt cx="1851584" cy="894753"/>
          </a:xfrm>
        </p:grpSpPr>
        <p:sp>
          <p:nvSpPr>
            <p:cNvPr name="Freeform 9" id="9" descr="Picture 11"/>
            <p:cNvSpPr/>
            <p:nvPr/>
          </p:nvSpPr>
          <p:spPr>
            <a:xfrm flipH="false" flipV="false" rot="0">
              <a:off x="0" y="0"/>
              <a:ext cx="1851533" cy="894715"/>
            </a:xfrm>
            <a:custGeom>
              <a:avLst/>
              <a:gdLst/>
              <a:ahLst/>
              <a:cxnLst/>
              <a:rect r="r" b="b" t="t" l="l"/>
              <a:pathLst>
                <a:path h="894715" w="1851533">
                  <a:moveTo>
                    <a:pt x="0" y="0"/>
                  </a:moveTo>
                  <a:lnTo>
                    <a:pt x="1851533" y="0"/>
                  </a:lnTo>
                  <a:lnTo>
                    <a:pt x="1851533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79" t="0" r="-382" b="-4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2390007" y="2264687"/>
            <a:ext cx="14182673" cy="5674848"/>
          </a:xfrm>
          <a:custGeom>
            <a:avLst/>
            <a:gdLst/>
            <a:ahLst/>
            <a:cxnLst/>
            <a:rect r="r" b="b" t="t" l="l"/>
            <a:pathLst>
              <a:path h="5674848" w="14182673">
                <a:moveTo>
                  <a:pt x="0" y="0"/>
                </a:moveTo>
                <a:lnTo>
                  <a:pt x="14182673" y="0"/>
                </a:lnTo>
                <a:lnTo>
                  <a:pt x="14182673" y="5674847"/>
                </a:lnTo>
                <a:lnTo>
                  <a:pt x="0" y="567484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71" t="-11729" r="0" b="-15939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9367" y="1812922"/>
            <a:ext cx="1612897" cy="6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Axion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Student Research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-6353" y="9567415"/>
            <a:ext cx="170433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13 / 16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82264" y="1184272"/>
            <a:ext cx="14598159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Metrics gap between simulator and QPU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939229" y="8406259"/>
            <a:ext cx="2641976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 i="true">
                <a:solidFill>
                  <a:srgbClr val="000000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lower is better</a:t>
            </a:r>
          </a:p>
        </p:txBody>
      </p:sp>
    </p:spTree>
  </p:cSld>
  <p:clrMapOvr>
    <a:masterClrMapping/>
  </p:clrMapOvr>
  <p:transition spd="fast">
    <p:fade/>
  </p:transition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704337" cy="10299697"/>
            <a:chOff x="0" y="0"/>
            <a:chExt cx="2272449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241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272411">
                  <a:moveTo>
                    <a:pt x="0" y="0"/>
                  </a:moveTo>
                  <a:lnTo>
                    <a:pt x="2272411" y="0"/>
                  </a:lnTo>
                  <a:lnTo>
                    <a:pt x="227241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243" y="377695"/>
            <a:ext cx="1311145" cy="1311145"/>
            <a:chOff x="0" y="0"/>
            <a:chExt cx="1748193" cy="1748193"/>
          </a:xfrm>
        </p:grpSpPr>
        <p:sp>
          <p:nvSpPr>
            <p:cNvPr name="Freeform 5" id="5" descr="Picture 2"/>
            <p:cNvSpPr/>
            <p:nvPr/>
          </p:nvSpPr>
          <p:spPr>
            <a:xfrm flipH="false" flipV="false" rot="0">
              <a:off x="0" y="0"/>
              <a:ext cx="1748155" cy="1748155"/>
            </a:xfrm>
            <a:custGeom>
              <a:avLst/>
              <a:gdLst/>
              <a:ahLst/>
              <a:cxnLst/>
              <a:rect r="r" b="b" t="t" l="l"/>
              <a:pathLst>
                <a:path h="1748155" w="1748155">
                  <a:moveTo>
                    <a:pt x="0" y="0"/>
                  </a:moveTo>
                  <a:lnTo>
                    <a:pt x="1748155" y="0"/>
                  </a:lnTo>
                  <a:lnTo>
                    <a:pt x="1748155" y="1748155"/>
                  </a:lnTo>
                  <a:lnTo>
                    <a:pt x="0" y="174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217673" y="9384535"/>
            <a:ext cx="2573750" cy="671065"/>
            <a:chOff x="0" y="0"/>
            <a:chExt cx="3431667" cy="894753"/>
          </a:xfrm>
        </p:grpSpPr>
        <p:sp>
          <p:nvSpPr>
            <p:cNvPr name="Freeform 7" id="7" descr="Picture 10"/>
            <p:cNvSpPr/>
            <p:nvPr/>
          </p:nvSpPr>
          <p:spPr>
            <a:xfrm flipH="false" flipV="false" rot="0">
              <a:off x="0" y="0"/>
              <a:ext cx="3431667" cy="894715"/>
            </a:xfrm>
            <a:custGeom>
              <a:avLst/>
              <a:gdLst/>
              <a:ahLst/>
              <a:cxnLst/>
              <a:rect r="r" b="b" t="t" l="l"/>
              <a:pathLst>
                <a:path h="894715" w="3431667">
                  <a:moveTo>
                    <a:pt x="0" y="0"/>
                  </a:moveTo>
                  <a:lnTo>
                    <a:pt x="3431667" y="0"/>
                  </a:lnTo>
                  <a:lnTo>
                    <a:pt x="3431667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3" t="0" r="-753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430212" y="9366247"/>
            <a:ext cx="1388688" cy="671065"/>
            <a:chOff x="0" y="0"/>
            <a:chExt cx="1851584" cy="894753"/>
          </a:xfrm>
        </p:grpSpPr>
        <p:sp>
          <p:nvSpPr>
            <p:cNvPr name="Freeform 9" id="9" descr="Picture 11"/>
            <p:cNvSpPr/>
            <p:nvPr/>
          </p:nvSpPr>
          <p:spPr>
            <a:xfrm flipH="false" flipV="false" rot="0">
              <a:off x="0" y="0"/>
              <a:ext cx="1851533" cy="894715"/>
            </a:xfrm>
            <a:custGeom>
              <a:avLst/>
              <a:gdLst/>
              <a:ahLst/>
              <a:cxnLst/>
              <a:rect r="r" b="b" t="t" l="l"/>
              <a:pathLst>
                <a:path h="894715" w="1851533">
                  <a:moveTo>
                    <a:pt x="0" y="0"/>
                  </a:moveTo>
                  <a:lnTo>
                    <a:pt x="1851533" y="0"/>
                  </a:lnTo>
                  <a:lnTo>
                    <a:pt x="1851533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79" t="0" r="-382" b="-4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2390007" y="2264687"/>
            <a:ext cx="14182673" cy="5674848"/>
          </a:xfrm>
          <a:custGeom>
            <a:avLst/>
            <a:gdLst/>
            <a:ahLst/>
            <a:cxnLst/>
            <a:rect r="r" b="b" t="t" l="l"/>
            <a:pathLst>
              <a:path h="5674848" w="14182673">
                <a:moveTo>
                  <a:pt x="0" y="0"/>
                </a:moveTo>
                <a:lnTo>
                  <a:pt x="14182673" y="0"/>
                </a:lnTo>
                <a:lnTo>
                  <a:pt x="14182673" y="5674847"/>
                </a:lnTo>
                <a:lnTo>
                  <a:pt x="0" y="567484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71" t="-11729" r="0" b="-15939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9367" y="1812922"/>
            <a:ext cx="1612897" cy="6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Axion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Student Research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-6353" y="9567415"/>
            <a:ext cx="170433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13 / 16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82264" y="1184272"/>
            <a:ext cx="14598159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Metrics gap between simulator and QPU</a:t>
            </a:r>
          </a:p>
        </p:txBody>
      </p:sp>
      <p:sp>
        <p:nvSpPr>
          <p:cNvPr name="AutoShape 14" id="14"/>
          <p:cNvSpPr/>
          <p:nvPr/>
        </p:nvSpPr>
        <p:spPr>
          <a:xfrm flipH="true" flipV="true">
            <a:off x="5028244" y="7702402"/>
            <a:ext cx="2556556" cy="994409"/>
          </a:xfrm>
          <a:prstGeom prst="line">
            <a:avLst/>
          </a:prstGeom>
          <a:ln cap="flat" w="38100">
            <a:solidFill>
              <a:srgbClr val="667085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5" id="15"/>
          <p:cNvSpPr/>
          <p:nvPr/>
        </p:nvSpPr>
        <p:spPr>
          <a:xfrm flipV="true">
            <a:off x="10500729" y="7571632"/>
            <a:ext cx="2092937" cy="1109398"/>
          </a:xfrm>
          <a:prstGeom prst="line">
            <a:avLst/>
          </a:prstGeom>
          <a:ln cap="flat" w="38100">
            <a:solidFill>
              <a:srgbClr val="667085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6" id="16"/>
          <p:cNvSpPr txBox="true"/>
          <p:nvPr/>
        </p:nvSpPr>
        <p:spPr>
          <a:xfrm rot="0">
            <a:off x="7849990" y="8639661"/>
            <a:ext cx="2788633" cy="621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8"/>
              </a:lnSpc>
            </a:pPr>
            <a:r>
              <a:rPr lang="en-US" sz="1762" i="true">
                <a:solidFill>
                  <a:srgbClr val="667085"/>
                </a:solidFill>
                <a:latin typeface="Arimo Italics"/>
                <a:ea typeface="Arimo Italics"/>
                <a:cs typeface="Arimo Italics"/>
                <a:sym typeface="Arimo Italics"/>
              </a:rPr>
              <a:t>the transmission gap for ansatz_odra is almost 0%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939229" y="8406259"/>
            <a:ext cx="2641976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 i="true">
                <a:solidFill>
                  <a:srgbClr val="000000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lower is better</a:t>
            </a:r>
          </a:p>
        </p:txBody>
      </p:sp>
    </p:spTree>
  </p:cSld>
  <p:clrMapOvr>
    <a:masterClrMapping/>
  </p:clrMapOvr>
  <p:transition spd="fast">
    <p:fade/>
  </p:transition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704337" cy="10299697"/>
            <a:chOff x="0" y="0"/>
            <a:chExt cx="2272449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241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272411">
                  <a:moveTo>
                    <a:pt x="0" y="0"/>
                  </a:moveTo>
                  <a:lnTo>
                    <a:pt x="2272411" y="0"/>
                  </a:lnTo>
                  <a:lnTo>
                    <a:pt x="227241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243" y="377695"/>
            <a:ext cx="1311145" cy="1311145"/>
            <a:chOff x="0" y="0"/>
            <a:chExt cx="1748193" cy="1748193"/>
          </a:xfrm>
        </p:grpSpPr>
        <p:sp>
          <p:nvSpPr>
            <p:cNvPr name="Freeform 5" id="5" descr="Picture 2"/>
            <p:cNvSpPr/>
            <p:nvPr/>
          </p:nvSpPr>
          <p:spPr>
            <a:xfrm flipH="false" flipV="false" rot="0">
              <a:off x="0" y="0"/>
              <a:ext cx="1748155" cy="1748155"/>
            </a:xfrm>
            <a:custGeom>
              <a:avLst/>
              <a:gdLst/>
              <a:ahLst/>
              <a:cxnLst/>
              <a:rect r="r" b="b" t="t" l="l"/>
              <a:pathLst>
                <a:path h="1748155" w="1748155">
                  <a:moveTo>
                    <a:pt x="0" y="0"/>
                  </a:moveTo>
                  <a:lnTo>
                    <a:pt x="1748155" y="0"/>
                  </a:lnTo>
                  <a:lnTo>
                    <a:pt x="1748155" y="1748155"/>
                  </a:lnTo>
                  <a:lnTo>
                    <a:pt x="0" y="174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217673" y="9384535"/>
            <a:ext cx="2573750" cy="671065"/>
            <a:chOff x="0" y="0"/>
            <a:chExt cx="3431667" cy="894753"/>
          </a:xfrm>
        </p:grpSpPr>
        <p:sp>
          <p:nvSpPr>
            <p:cNvPr name="Freeform 7" id="7" descr="Picture 10"/>
            <p:cNvSpPr/>
            <p:nvPr/>
          </p:nvSpPr>
          <p:spPr>
            <a:xfrm flipH="false" flipV="false" rot="0">
              <a:off x="0" y="0"/>
              <a:ext cx="3431667" cy="894715"/>
            </a:xfrm>
            <a:custGeom>
              <a:avLst/>
              <a:gdLst/>
              <a:ahLst/>
              <a:cxnLst/>
              <a:rect r="r" b="b" t="t" l="l"/>
              <a:pathLst>
                <a:path h="894715" w="3431667">
                  <a:moveTo>
                    <a:pt x="0" y="0"/>
                  </a:moveTo>
                  <a:lnTo>
                    <a:pt x="3431667" y="0"/>
                  </a:lnTo>
                  <a:lnTo>
                    <a:pt x="3431667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3" t="0" r="-753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430212" y="9366247"/>
            <a:ext cx="1388688" cy="671065"/>
            <a:chOff x="0" y="0"/>
            <a:chExt cx="1851584" cy="894753"/>
          </a:xfrm>
        </p:grpSpPr>
        <p:sp>
          <p:nvSpPr>
            <p:cNvPr name="Freeform 9" id="9" descr="Picture 11"/>
            <p:cNvSpPr/>
            <p:nvPr/>
          </p:nvSpPr>
          <p:spPr>
            <a:xfrm flipH="false" flipV="false" rot="0">
              <a:off x="0" y="0"/>
              <a:ext cx="1851533" cy="894715"/>
            </a:xfrm>
            <a:custGeom>
              <a:avLst/>
              <a:gdLst/>
              <a:ahLst/>
              <a:cxnLst/>
              <a:rect r="r" b="b" t="t" l="l"/>
              <a:pathLst>
                <a:path h="894715" w="1851533">
                  <a:moveTo>
                    <a:pt x="0" y="0"/>
                  </a:moveTo>
                  <a:lnTo>
                    <a:pt x="1851533" y="0"/>
                  </a:lnTo>
                  <a:lnTo>
                    <a:pt x="1851533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79" t="0" r="-382" b="-4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2390007" y="2264687"/>
            <a:ext cx="14182673" cy="5674848"/>
          </a:xfrm>
          <a:custGeom>
            <a:avLst/>
            <a:gdLst/>
            <a:ahLst/>
            <a:cxnLst/>
            <a:rect r="r" b="b" t="t" l="l"/>
            <a:pathLst>
              <a:path h="5674848" w="14182673">
                <a:moveTo>
                  <a:pt x="0" y="0"/>
                </a:moveTo>
                <a:lnTo>
                  <a:pt x="14182673" y="0"/>
                </a:lnTo>
                <a:lnTo>
                  <a:pt x="14182673" y="5674847"/>
                </a:lnTo>
                <a:lnTo>
                  <a:pt x="0" y="567484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71" t="-11729" r="0" b="-15939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9367" y="1812922"/>
            <a:ext cx="1612897" cy="6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Axion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Student Research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-6353" y="9567415"/>
            <a:ext cx="170433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13 / 16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82264" y="1184272"/>
            <a:ext cx="14598159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Metrics gap between simulator and QPU</a:t>
            </a:r>
          </a:p>
        </p:txBody>
      </p:sp>
      <p:sp>
        <p:nvSpPr>
          <p:cNvPr name="AutoShape 14" id="14"/>
          <p:cNvSpPr/>
          <p:nvPr/>
        </p:nvSpPr>
        <p:spPr>
          <a:xfrm flipH="true" flipV="true">
            <a:off x="7818118" y="7691605"/>
            <a:ext cx="702889" cy="672574"/>
          </a:xfrm>
          <a:prstGeom prst="line">
            <a:avLst/>
          </a:prstGeom>
          <a:ln cap="flat" w="38100">
            <a:solidFill>
              <a:srgbClr val="667085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5" id="15"/>
          <p:cNvSpPr/>
          <p:nvPr/>
        </p:nvSpPr>
        <p:spPr>
          <a:xfrm flipV="true">
            <a:off x="11668683" y="7710059"/>
            <a:ext cx="3845613" cy="654120"/>
          </a:xfrm>
          <a:prstGeom prst="line">
            <a:avLst/>
          </a:prstGeom>
          <a:ln cap="flat" w="38100">
            <a:solidFill>
              <a:srgbClr val="667085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6" id="16"/>
          <p:cNvSpPr txBox="true"/>
          <p:nvPr/>
        </p:nvSpPr>
        <p:spPr>
          <a:xfrm rot="0">
            <a:off x="8209607" y="8498498"/>
            <a:ext cx="3671331" cy="621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8"/>
              </a:lnSpc>
            </a:pPr>
            <a:r>
              <a:rPr lang="en-US" sz="1762" i="true">
                <a:solidFill>
                  <a:srgbClr val="667085"/>
                </a:solidFill>
                <a:latin typeface="Arimo Italics"/>
                <a:ea typeface="Arimo Italics"/>
                <a:cs typeface="Arimo Italics"/>
                <a:sym typeface="Arimo Italics"/>
              </a:rPr>
              <a:t>collapse at depth 6 resulting from exceeding the device's noise budget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939229" y="8406259"/>
            <a:ext cx="2641976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 i="true">
                <a:solidFill>
                  <a:srgbClr val="000000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lower is better</a:t>
            </a:r>
          </a:p>
        </p:txBody>
      </p:sp>
    </p:spTree>
  </p:cSld>
  <p:clrMapOvr>
    <a:masterClrMapping/>
  </p:clrMapOvr>
  <p:transition spd="fast">
    <p:fade/>
  </p:transition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704337" cy="10299697"/>
            <a:chOff x="0" y="0"/>
            <a:chExt cx="2272449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241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272411">
                  <a:moveTo>
                    <a:pt x="0" y="0"/>
                  </a:moveTo>
                  <a:lnTo>
                    <a:pt x="2272411" y="0"/>
                  </a:lnTo>
                  <a:lnTo>
                    <a:pt x="227241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243" y="377695"/>
            <a:ext cx="1311145" cy="1311145"/>
            <a:chOff x="0" y="0"/>
            <a:chExt cx="1748193" cy="1748193"/>
          </a:xfrm>
        </p:grpSpPr>
        <p:sp>
          <p:nvSpPr>
            <p:cNvPr name="Freeform 5" id="5" descr="Picture 2"/>
            <p:cNvSpPr/>
            <p:nvPr/>
          </p:nvSpPr>
          <p:spPr>
            <a:xfrm flipH="false" flipV="false" rot="0">
              <a:off x="0" y="0"/>
              <a:ext cx="1748155" cy="1748155"/>
            </a:xfrm>
            <a:custGeom>
              <a:avLst/>
              <a:gdLst/>
              <a:ahLst/>
              <a:cxnLst/>
              <a:rect r="r" b="b" t="t" l="l"/>
              <a:pathLst>
                <a:path h="1748155" w="1748155">
                  <a:moveTo>
                    <a:pt x="0" y="0"/>
                  </a:moveTo>
                  <a:lnTo>
                    <a:pt x="1748155" y="0"/>
                  </a:lnTo>
                  <a:lnTo>
                    <a:pt x="1748155" y="1748155"/>
                  </a:lnTo>
                  <a:lnTo>
                    <a:pt x="0" y="174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217673" y="9384535"/>
            <a:ext cx="2573750" cy="671065"/>
            <a:chOff x="0" y="0"/>
            <a:chExt cx="3431667" cy="894753"/>
          </a:xfrm>
        </p:grpSpPr>
        <p:sp>
          <p:nvSpPr>
            <p:cNvPr name="Freeform 7" id="7" descr="Picture 10"/>
            <p:cNvSpPr/>
            <p:nvPr/>
          </p:nvSpPr>
          <p:spPr>
            <a:xfrm flipH="false" flipV="false" rot="0">
              <a:off x="0" y="0"/>
              <a:ext cx="3431667" cy="894715"/>
            </a:xfrm>
            <a:custGeom>
              <a:avLst/>
              <a:gdLst/>
              <a:ahLst/>
              <a:cxnLst/>
              <a:rect r="r" b="b" t="t" l="l"/>
              <a:pathLst>
                <a:path h="894715" w="3431667">
                  <a:moveTo>
                    <a:pt x="0" y="0"/>
                  </a:moveTo>
                  <a:lnTo>
                    <a:pt x="3431667" y="0"/>
                  </a:lnTo>
                  <a:lnTo>
                    <a:pt x="3431667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3" t="0" r="-753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430212" y="9366247"/>
            <a:ext cx="1388688" cy="671065"/>
            <a:chOff x="0" y="0"/>
            <a:chExt cx="1851584" cy="894753"/>
          </a:xfrm>
        </p:grpSpPr>
        <p:sp>
          <p:nvSpPr>
            <p:cNvPr name="Freeform 9" id="9" descr="Picture 11"/>
            <p:cNvSpPr/>
            <p:nvPr/>
          </p:nvSpPr>
          <p:spPr>
            <a:xfrm flipH="false" flipV="false" rot="0">
              <a:off x="0" y="0"/>
              <a:ext cx="1851533" cy="894715"/>
            </a:xfrm>
            <a:custGeom>
              <a:avLst/>
              <a:gdLst/>
              <a:ahLst/>
              <a:cxnLst/>
              <a:rect r="r" b="b" t="t" l="l"/>
              <a:pathLst>
                <a:path h="894715" w="1851533">
                  <a:moveTo>
                    <a:pt x="0" y="0"/>
                  </a:moveTo>
                  <a:lnTo>
                    <a:pt x="1851533" y="0"/>
                  </a:lnTo>
                  <a:lnTo>
                    <a:pt x="1851533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79" t="0" r="-382" b="-4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108313" y="2427218"/>
            <a:ext cx="15557497" cy="1539706"/>
            <a:chOff x="0" y="0"/>
            <a:chExt cx="20743329" cy="2052941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20743329" cy="2052941"/>
              <a:chOff x="0" y="0"/>
              <a:chExt cx="20743329" cy="2052941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0743418" cy="2053030"/>
              </a:xfrm>
              <a:custGeom>
                <a:avLst/>
                <a:gdLst/>
                <a:ahLst/>
                <a:cxnLst/>
                <a:rect r="r" b="b" t="t" l="l"/>
                <a:pathLst>
                  <a:path h="2053030" w="20743418">
                    <a:moveTo>
                      <a:pt x="0" y="225895"/>
                    </a:moveTo>
                    <a:cubicBezTo>
                      <a:pt x="0" y="101030"/>
                      <a:pt x="60833" y="0"/>
                      <a:pt x="136017" y="0"/>
                    </a:cubicBezTo>
                    <a:lnTo>
                      <a:pt x="20607401" y="0"/>
                    </a:lnTo>
                    <a:cubicBezTo>
                      <a:pt x="20682458" y="0"/>
                      <a:pt x="20743418" y="101030"/>
                      <a:pt x="20743418" y="225895"/>
                    </a:cubicBezTo>
                    <a:lnTo>
                      <a:pt x="20743418" y="1827194"/>
                    </a:lnTo>
                    <a:cubicBezTo>
                      <a:pt x="20743418" y="1951848"/>
                      <a:pt x="20682586" y="2053030"/>
                      <a:pt x="20607401" y="2053030"/>
                    </a:cubicBezTo>
                    <a:lnTo>
                      <a:pt x="136017" y="2053030"/>
                    </a:lnTo>
                    <a:cubicBezTo>
                      <a:pt x="60833" y="2052878"/>
                      <a:pt x="0" y="1951848"/>
                      <a:pt x="0" y="1827194"/>
                    </a:cubicBezTo>
                    <a:close/>
                  </a:path>
                </a:pathLst>
              </a:custGeom>
              <a:solidFill>
                <a:srgbClr val="ECEFF8"/>
              </a:solidFill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463296" y="109881"/>
              <a:ext cx="19816737" cy="1750128"/>
              <a:chOff x="0" y="0"/>
              <a:chExt cx="19816737" cy="1750128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9816741" cy="1750134"/>
              </a:xfrm>
              <a:custGeom>
                <a:avLst/>
                <a:gdLst/>
                <a:ahLst/>
                <a:cxnLst/>
                <a:rect r="r" b="b" t="t" l="l"/>
                <a:pathLst>
                  <a:path h="1750134" w="19816741">
                    <a:moveTo>
                      <a:pt x="0" y="0"/>
                    </a:moveTo>
                    <a:lnTo>
                      <a:pt x="19816741" y="0"/>
                    </a:lnTo>
                    <a:lnTo>
                      <a:pt x="19816741" y="1750134"/>
                    </a:lnTo>
                    <a:lnTo>
                      <a:pt x="0" y="1750134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0" t="-208534" r="0" b="-132722"/>
                </a:stretch>
              </a:blip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9525"/>
                <a:ext cx="19816737" cy="175965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44"/>
                  </a:lnSpc>
                </a:pPr>
                <a:r>
                  <a:rPr lang="en-US" sz="2600" i="true">
                    <a:solidFill>
                      <a:srgbClr val="191E3A"/>
                    </a:solidFill>
                    <a:latin typeface="DM Sans Italics"/>
                    <a:ea typeface="DM Sans Italics"/>
                    <a:cs typeface="DM Sans Italics"/>
                    <a:sym typeface="DM Sans Italics"/>
                  </a:rPr>
                  <a:t>We started from a simple problem: ansätze are usually validated in</a:t>
                </a:r>
                <a:r>
                  <a:rPr lang="en-US" sz="2600" i="true">
                    <a:solidFill>
                      <a:srgbClr val="191E3A"/>
                    </a:solidFill>
                    <a:latin typeface="DM Sans Italics"/>
                    <a:ea typeface="DM Sans Italics"/>
                    <a:cs typeface="DM Sans Italics"/>
                    <a:sym typeface="DM Sans Italics"/>
                  </a:rPr>
                  <a:t> simulation, but their real behavior depends on QPU constraints. We created framework for evaluation which consists of few tests</a:t>
                </a:r>
              </a:p>
            </p:txBody>
          </p:sp>
        </p:grpSp>
      </p:grpSp>
      <p:sp>
        <p:nvSpPr>
          <p:cNvPr name="TextBox 16" id="16"/>
          <p:cNvSpPr txBox="true"/>
          <p:nvPr/>
        </p:nvSpPr>
        <p:spPr>
          <a:xfrm rot="0">
            <a:off x="39367" y="1812922"/>
            <a:ext cx="1612897" cy="6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Axion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Student Research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-6353" y="9567415"/>
            <a:ext cx="170433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14 </a:t>
            </a: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/ 16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151883" y="1184272"/>
            <a:ext cx="3476402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C</a:t>
            </a: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onclusions</a:t>
            </a:r>
          </a:p>
        </p:txBody>
      </p:sp>
    </p:spTree>
  </p:cSld>
  <p:clrMapOvr>
    <a:masterClrMapping/>
  </p:clrMapOvr>
  <p:transition spd="fast">
    <p:fade/>
  </p:transition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704337" cy="10299697"/>
            <a:chOff x="0" y="0"/>
            <a:chExt cx="2272449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241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272411">
                  <a:moveTo>
                    <a:pt x="0" y="0"/>
                  </a:moveTo>
                  <a:lnTo>
                    <a:pt x="2272411" y="0"/>
                  </a:lnTo>
                  <a:lnTo>
                    <a:pt x="227241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243" y="377695"/>
            <a:ext cx="1311145" cy="1311145"/>
            <a:chOff x="0" y="0"/>
            <a:chExt cx="1748193" cy="1748193"/>
          </a:xfrm>
        </p:grpSpPr>
        <p:sp>
          <p:nvSpPr>
            <p:cNvPr name="Freeform 5" id="5" descr="Picture 2"/>
            <p:cNvSpPr/>
            <p:nvPr/>
          </p:nvSpPr>
          <p:spPr>
            <a:xfrm flipH="false" flipV="false" rot="0">
              <a:off x="0" y="0"/>
              <a:ext cx="1748155" cy="1748155"/>
            </a:xfrm>
            <a:custGeom>
              <a:avLst/>
              <a:gdLst/>
              <a:ahLst/>
              <a:cxnLst/>
              <a:rect r="r" b="b" t="t" l="l"/>
              <a:pathLst>
                <a:path h="1748155" w="1748155">
                  <a:moveTo>
                    <a:pt x="0" y="0"/>
                  </a:moveTo>
                  <a:lnTo>
                    <a:pt x="1748155" y="0"/>
                  </a:lnTo>
                  <a:lnTo>
                    <a:pt x="1748155" y="1748155"/>
                  </a:lnTo>
                  <a:lnTo>
                    <a:pt x="0" y="174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217673" y="9384535"/>
            <a:ext cx="2573750" cy="671065"/>
            <a:chOff x="0" y="0"/>
            <a:chExt cx="3431667" cy="894753"/>
          </a:xfrm>
        </p:grpSpPr>
        <p:sp>
          <p:nvSpPr>
            <p:cNvPr name="Freeform 7" id="7" descr="Picture 10"/>
            <p:cNvSpPr/>
            <p:nvPr/>
          </p:nvSpPr>
          <p:spPr>
            <a:xfrm flipH="false" flipV="false" rot="0">
              <a:off x="0" y="0"/>
              <a:ext cx="3431667" cy="894715"/>
            </a:xfrm>
            <a:custGeom>
              <a:avLst/>
              <a:gdLst/>
              <a:ahLst/>
              <a:cxnLst/>
              <a:rect r="r" b="b" t="t" l="l"/>
              <a:pathLst>
                <a:path h="894715" w="3431667">
                  <a:moveTo>
                    <a:pt x="0" y="0"/>
                  </a:moveTo>
                  <a:lnTo>
                    <a:pt x="3431667" y="0"/>
                  </a:lnTo>
                  <a:lnTo>
                    <a:pt x="3431667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3" t="0" r="-753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430212" y="9366247"/>
            <a:ext cx="1388688" cy="671065"/>
            <a:chOff x="0" y="0"/>
            <a:chExt cx="1851584" cy="894753"/>
          </a:xfrm>
        </p:grpSpPr>
        <p:sp>
          <p:nvSpPr>
            <p:cNvPr name="Freeform 9" id="9" descr="Picture 11"/>
            <p:cNvSpPr/>
            <p:nvPr/>
          </p:nvSpPr>
          <p:spPr>
            <a:xfrm flipH="false" flipV="false" rot="0">
              <a:off x="0" y="0"/>
              <a:ext cx="1851533" cy="894715"/>
            </a:xfrm>
            <a:custGeom>
              <a:avLst/>
              <a:gdLst/>
              <a:ahLst/>
              <a:cxnLst/>
              <a:rect r="r" b="b" t="t" l="l"/>
              <a:pathLst>
                <a:path h="894715" w="1851533">
                  <a:moveTo>
                    <a:pt x="0" y="0"/>
                  </a:moveTo>
                  <a:lnTo>
                    <a:pt x="1851533" y="0"/>
                  </a:lnTo>
                  <a:lnTo>
                    <a:pt x="1851533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79" t="0" r="-382" b="-4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108313" y="2427218"/>
            <a:ext cx="15557497" cy="1539706"/>
            <a:chOff x="0" y="0"/>
            <a:chExt cx="20743329" cy="2052941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20743329" cy="2052941"/>
              <a:chOff x="0" y="0"/>
              <a:chExt cx="20743329" cy="2052941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0743418" cy="2053030"/>
              </a:xfrm>
              <a:custGeom>
                <a:avLst/>
                <a:gdLst/>
                <a:ahLst/>
                <a:cxnLst/>
                <a:rect r="r" b="b" t="t" l="l"/>
                <a:pathLst>
                  <a:path h="2053030" w="20743418">
                    <a:moveTo>
                      <a:pt x="0" y="225895"/>
                    </a:moveTo>
                    <a:cubicBezTo>
                      <a:pt x="0" y="101030"/>
                      <a:pt x="60833" y="0"/>
                      <a:pt x="136017" y="0"/>
                    </a:cubicBezTo>
                    <a:lnTo>
                      <a:pt x="20607401" y="0"/>
                    </a:lnTo>
                    <a:cubicBezTo>
                      <a:pt x="20682458" y="0"/>
                      <a:pt x="20743418" y="101030"/>
                      <a:pt x="20743418" y="225895"/>
                    </a:cubicBezTo>
                    <a:lnTo>
                      <a:pt x="20743418" y="1827194"/>
                    </a:lnTo>
                    <a:cubicBezTo>
                      <a:pt x="20743418" y="1951848"/>
                      <a:pt x="20682586" y="2053030"/>
                      <a:pt x="20607401" y="2053030"/>
                    </a:cubicBezTo>
                    <a:lnTo>
                      <a:pt x="136017" y="2053030"/>
                    </a:lnTo>
                    <a:cubicBezTo>
                      <a:pt x="60833" y="2052878"/>
                      <a:pt x="0" y="1951848"/>
                      <a:pt x="0" y="1827194"/>
                    </a:cubicBezTo>
                    <a:close/>
                  </a:path>
                </a:pathLst>
              </a:custGeom>
              <a:solidFill>
                <a:srgbClr val="ECEFF8"/>
              </a:solidFill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463296" y="109881"/>
              <a:ext cx="19816737" cy="1750128"/>
              <a:chOff x="0" y="0"/>
              <a:chExt cx="19816737" cy="1750128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9816741" cy="1750134"/>
              </a:xfrm>
              <a:custGeom>
                <a:avLst/>
                <a:gdLst/>
                <a:ahLst/>
                <a:cxnLst/>
                <a:rect r="r" b="b" t="t" l="l"/>
                <a:pathLst>
                  <a:path h="1750134" w="19816741">
                    <a:moveTo>
                      <a:pt x="0" y="0"/>
                    </a:moveTo>
                    <a:lnTo>
                      <a:pt x="19816741" y="0"/>
                    </a:lnTo>
                    <a:lnTo>
                      <a:pt x="19816741" y="1750134"/>
                    </a:lnTo>
                    <a:lnTo>
                      <a:pt x="0" y="1750134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0" t="-208534" r="0" b="-132722"/>
                </a:stretch>
              </a:blip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9525"/>
                <a:ext cx="19816737" cy="175965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44"/>
                  </a:lnSpc>
                </a:pPr>
                <a:r>
                  <a:rPr lang="en-US" sz="2600" i="true">
                    <a:solidFill>
                      <a:srgbClr val="191E3A"/>
                    </a:solidFill>
                    <a:latin typeface="DM Sans Italics"/>
                    <a:ea typeface="DM Sans Italics"/>
                    <a:cs typeface="DM Sans Italics"/>
                    <a:sym typeface="DM Sans Italics"/>
                  </a:rPr>
                  <a:t>We started from a simple problem: ansätze are usually validated in</a:t>
                </a:r>
                <a:r>
                  <a:rPr lang="en-US" sz="2600" i="true">
                    <a:solidFill>
                      <a:srgbClr val="191E3A"/>
                    </a:solidFill>
                    <a:latin typeface="DM Sans Italics"/>
                    <a:ea typeface="DM Sans Italics"/>
                    <a:cs typeface="DM Sans Italics"/>
                    <a:sym typeface="DM Sans Italics"/>
                  </a:rPr>
                  <a:t> simulation, but their real behavior depends on QPU constraints. We created framework for evaluation which consists of few tests</a:t>
                </a:r>
              </a:p>
            </p:txBody>
          </p:sp>
        </p:grpSp>
      </p:grpSp>
      <p:sp>
        <p:nvSpPr>
          <p:cNvPr name="TextBox 16" id="16"/>
          <p:cNvSpPr txBox="true"/>
          <p:nvPr/>
        </p:nvSpPr>
        <p:spPr>
          <a:xfrm rot="0">
            <a:off x="39367" y="1812922"/>
            <a:ext cx="1612897" cy="6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Axion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Student Research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-6353" y="9567415"/>
            <a:ext cx="170433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14 </a:t>
            </a: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/ 16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151883" y="1184272"/>
            <a:ext cx="3476402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C</a:t>
            </a: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onclusions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167642" y="4334302"/>
            <a:ext cx="15498168" cy="809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3"/>
              </a:lnSpc>
            </a:pPr>
            <a:r>
              <a:rPr lang="en-US" sz="2599" i="true" b="true">
                <a:solidFill>
                  <a:srgbClr val="191E3A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Fidelity</a:t>
            </a:r>
          </a:p>
          <a:p>
            <a:pPr algn="l">
              <a:lnSpc>
                <a:spcPts val="3273"/>
              </a:lnSpc>
            </a:pPr>
            <a:r>
              <a:rPr lang="en-US" sz="2599" i="true">
                <a:solidFill>
                  <a:srgbClr val="191E3A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how well c</a:t>
            </a:r>
            <a:r>
              <a:rPr lang="en-US" sz="2599" i="true">
                <a:solidFill>
                  <a:srgbClr val="191E3A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an we </a:t>
            </a:r>
            <a:r>
              <a:rPr lang="en-US" sz="2599" i="true">
                <a:solidFill>
                  <a:srgbClr val="191E3A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r</a:t>
            </a:r>
            <a:r>
              <a:rPr lang="en-US" sz="2599" i="true">
                <a:solidFill>
                  <a:srgbClr val="191E3A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epresent th</a:t>
            </a:r>
            <a:r>
              <a:rPr lang="en-US" sz="2599" i="true">
                <a:solidFill>
                  <a:srgbClr val="191E3A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e ideal state?</a:t>
            </a:r>
          </a:p>
        </p:txBody>
      </p:sp>
    </p:spTree>
  </p:cSld>
  <p:clrMapOvr>
    <a:masterClrMapping/>
  </p:clrMapOvr>
  <p:transition spd="fast">
    <p:fade/>
  </p:transition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704337" cy="10299697"/>
            <a:chOff x="0" y="0"/>
            <a:chExt cx="2272449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241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272411">
                  <a:moveTo>
                    <a:pt x="0" y="0"/>
                  </a:moveTo>
                  <a:lnTo>
                    <a:pt x="2272411" y="0"/>
                  </a:lnTo>
                  <a:lnTo>
                    <a:pt x="227241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243" y="377695"/>
            <a:ext cx="1311145" cy="1311145"/>
            <a:chOff x="0" y="0"/>
            <a:chExt cx="1748193" cy="1748193"/>
          </a:xfrm>
        </p:grpSpPr>
        <p:sp>
          <p:nvSpPr>
            <p:cNvPr name="Freeform 5" id="5" descr="Picture 2"/>
            <p:cNvSpPr/>
            <p:nvPr/>
          </p:nvSpPr>
          <p:spPr>
            <a:xfrm flipH="false" flipV="false" rot="0">
              <a:off x="0" y="0"/>
              <a:ext cx="1748155" cy="1748155"/>
            </a:xfrm>
            <a:custGeom>
              <a:avLst/>
              <a:gdLst/>
              <a:ahLst/>
              <a:cxnLst/>
              <a:rect r="r" b="b" t="t" l="l"/>
              <a:pathLst>
                <a:path h="1748155" w="1748155">
                  <a:moveTo>
                    <a:pt x="0" y="0"/>
                  </a:moveTo>
                  <a:lnTo>
                    <a:pt x="1748155" y="0"/>
                  </a:lnTo>
                  <a:lnTo>
                    <a:pt x="1748155" y="1748155"/>
                  </a:lnTo>
                  <a:lnTo>
                    <a:pt x="0" y="174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217673" y="9384535"/>
            <a:ext cx="2573750" cy="671065"/>
            <a:chOff x="0" y="0"/>
            <a:chExt cx="3431667" cy="894753"/>
          </a:xfrm>
        </p:grpSpPr>
        <p:sp>
          <p:nvSpPr>
            <p:cNvPr name="Freeform 7" id="7" descr="Picture 10"/>
            <p:cNvSpPr/>
            <p:nvPr/>
          </p:nvSpPr>
          <p:spPr>
            <a:xfrm flipH="false" flipV="false" rot="0">
              <a:off x="0" y="0"/>
              <a:ext cx="3431667" cy="894715"/>
            </a:xfrm>
            <a:custGeom>
              <a:avLst/>
              <a:gdLst/>
              <a:ahLst/>
              <a:cxnLst/>
              <a:rect r="r" b="b" t="t" l="l"/>
              <a:pathLst>
                <a:path h="894715" w="3431667">
                  <a:moveTo>
                    <a:pt x="0" y="0"/>
                  </a:moveTo>
                  <a:lnTo>
                    <a:pt x="3431667" y="0"/>
                  </a:lnTo>
                  <a:lnTo>
                    <a:pt x="3431667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3" t="0" r="-753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430212" y="9366247"/>
            <a:ext cx="1388688" cy="671065"/>
            <a:chOff x="0" y="0"/>
            <a:chExt cx="1851584" cy="894753"/>
          </a:xfrm>
        </p:grpSpPr>
        <p:sp>
          <p:nvSpPr>
            <p:cNvPr name="Freeform 9" id="9" descr="Picture 11"/>
            <p:cNvSpPr/>
            <p:nvPr/>
          </p:nvSpPr>
          <p:spPr>
            <a:xfrm flipH="false" flipV="false" rot="0">
              <a:off x="0" y="0"/>
              <a:ext cx="1851533" cy="894715"/>
            </a:xfrm>
            <a:custGeom>
              <a:avLst/>
              <a:gdLst/>
              <a:ahLst/>
              <a:cxnLst/>
              <a:rect r="r" b="b" t="t" l="l"/>
              <a:pathLst>
                <a:path h="894715" w="1851533">
                  <a:moveTo>
                    <a:pt x="0" y="0"/>
                  </a:moveTo>
                  <a:lnTo>
                    <a:pt x="1851533" y="0"/>
                  </a:lnTo>
                  <a:lnTo>
                    <a:pt x="1851533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79" t="0" r="-382" b="-4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108313" y="2427218"/>
            <a:ext cx="15557497" cy="1539706"/>
            <a:chOff x="0" y="0"/>
            <a:chExt cx="20743329" cy="2052941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20743329" cy="2052941"/>
              <a:chOff x="0" y="0"/>
              <a:chExt cx="20743329" cy="2052941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0743418" cy="2053030"/>
              </a:xfrm>
              <a:custGeom>
                <a:avLst/>
                <a:gdLst/>
                <a:ahLst/>
                <a:cxnLst/>
                <a:rect r="r" b="b" t="t" l="l"/>
                <a:pathLst>
                  <a:path h="2053030" w="20743418">
                    <a:moveTo>
                      <a:pt x="0" y="225895"/>
                    </a:moveTo>
                    <a:cubicBezTo>
                      <a:pt x="0" y="101030"/>
                      <a:pt x="60833" y="0"/>
                      <a:pt x="136017" y="0"/>
                    </a:cubicBezTo>
                    <a:lnTo>
                      <a:pt x="20607401" y="0"/>
                    </a:lnTo>
                    <a:cubicBezTo>
                      <a:pt x="20682458" y="0"/>
                      <a:pt x="20743418" y="101030"/>
                      <a:pt x="20743418" y="225895"/>
                    </a:cubicBezTo>
                    <a:lnTo>
                      <a:pt x="20743418" y="1827194"/>
                    </a:lnTo>
                    <a:cubicBezTo>
                      <a:pt x="20743418" y="1951848"/>
                      <a:pt x="20682586" y="2053030"/>
                      <a:pt x="20607401" y="2053030"/>
                    </a:cubicBezTo>
                    <a:lnTo>
                      <a:pt x="136017" y="2053030"/>
                    </a:lnTo>
                    <a:cubicBezTo>
                      <a:pt x="60833" y="2052878"/>
                      <a:pt x="0" y="1951848"/>
                      <a:pt x="0" y="1827194"/>
                    </a:cubicBezTo>
                    <a:close/>
                  </a:path>
                </a:pathLst>
              </a:custGeom>
              <a:solidFill>
                <a:srgbClr val="ECEFF8"/>
              </a:solidFill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463296" y="109881"/>
              <a:ext cx="19816737" cy="1750128"/>
              <a:chOff x="0" y="0"/>
              <a:chExt cx="19816737" cy="1750128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9816741" cy="1750134"/>
              </a:xfrm>
              <a:custGeom>
                <a:avLst/>
                <a:gdLst/>
                <a:ahLst/>
                <a:cxnLst/>
                <a:rect r="r" b="b" t="t" l="l"/>
                <a:pathLst>
                  <a:path h="1750134" w="19816741">
                    <a:moveTo>
                      <a:pt x="0" y="0"/>
                    </a:moveTo>
                    <a:lnTo>
                      <a:pt x="19816741" y="0"/>
                    </a:lnTo>
                    <a:lnTo>
                      <a:pt x="19816741" y="1750134"/>
                    </a:lnTo>
                    <a:lnTo>
                      <a:pt x="0" y="1750134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0" t="-208534" r="0" b="-132722"/>
                </a:stretch>
              </a:blip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9525"/>
                <a:ext cx="19816737" cy="175965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44"/>
                  </a:lnSpc>
                </a:pPr>
                <a:r>
                  <a:rPr lang="en-US" sz="2600" i="true">
                    <a:solidFill>
                      <a:srgbClr val="191E3A"/>
                    </a:solidFill>
                    <a:latin typeface="DM Sans Italics"/>
                    <a:ea typeface="DM Sans Italics"/>
                    <a:cs typeface="DM Sans Italics"/>
                    <a:sym typeface="DM Sans Italics"/>
                  </a:rPr>
                  <a:t>We started from a simple problem: ansätze are usually validated in</a:t>
                </a:r>
                <a:r>
                  <a:rPr lang="en-US" sz="2600" i="true">
                    <a:solidFill>
                      <a:srgbClr val="191E3A"/>
                    </a:solidFill>
                    <a:latin typeface="DM Sans Italics"/>
                    <a:ea typeface="DM Sans Italics"/>
                    <a:cs typeface="DM Sans Italics"/>
                    <a:sym typeface="DM Sans Italics"/>
                  </a:rPr>
                  <a:t> simulation, but their real behavior depends on QPU constraints. We created framework for evaluation which consists of few tests</a:t>
                </a:r>
              </a:p>
            </p:txBody>
          </p:sp>
        </p:grpSp>
      </p:grpSp>
      <p:sp>
        <p:nvSpPr>
          <p:cNvPr name="TextBox 16" id="16"/>
          <p:cNvSpPr txBox="true"/>
          <p:nvPr/>
        </p:nvSpPr>
        <p:spPr>
          <a:xfrm rot="0">
            <a:off x="39367" y="1812922"/>
            <a:ext cx="1612897" cy="6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Axion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Student Research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-6353" y="9567415"/>
            <a:ext cx="170433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14 </a:t>
            </a: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/ 16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151883" y="1184272"/>
            <a:ext cx="3476402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C</a:t>
            </a: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onclusions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167642" y="4334302"/>
            <a:ext cx="15498168" cy="809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3"/>
              </a:lnSpc>
            </a:pPr>
            <a:r>
              <a:rPr lang="en-US" sz="2599" i="true" b="true">
                <a:solidFill>
                  <a:srgbClr val="191E3A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Fidelity</a:t>
            </a:r>
          </a:p>
          <a:p>
            <a:pPr algn="l">
              <a:lnSpc>
                <a:spcPts val="3273"/>
              </a:lnSpc>
            </a:pPr>
            <a:r>
              <a:rPr lang="en-US" sz="2599" i="true">
                <a:solidFill>
                  <a:srgbClr val="191E3A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how well c</a:t>
            </a:r>
            <a:r>
              <a:rPr lang="en-US" sz="2599" i="true">
                <a:solidFill>
                  <a:srgbClr val="191E3A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an we </a:t>
            </a:r>
            <a:r>
              <a:rPr lang="en-US" sz="2599" i="true">
                <a:solidFill>
                  <a:srgbClr val="191E3A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r</a:t>
            </a:r>
            <a:r>
              <a:rPr lang="en-US" sz="2599" i="true">
                <a:solidFill>
                  <a:srgbClr val="191E3A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epresent th</a:t>
            </a:r>
            <a:r>
              <a:rPr lang="en-US" sz="2599" i="true">
                <a:solidFill>
                  <a:srgbClr val="191E3A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e ideal state?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108313" y="5514970"/>
            <a:ext cx="15498168" cy="809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3"/>
              </a:lnSpc>
            </a:pPr>
            <a:r>
              <a:rPr lang="en-US" sz="2599" i="true" b="true">
                <a:solidFill>
                  <a:srgbClr val="191E3A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KL </a:t>
            </a:r>
            <a:r>
              <a:rPr lang="en-US" sz="2599" i="true" b="true">
                <a:solidFill>
                  <a:srgbClr val="191E3A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expressibility</a:t>
            </a:r>
          </a:p>
          <a:p>
            <a:pPr algn="l">
              <a:lnSpc>
                <a:spcPts val="3273"/>
              </a:lnSpc>
            </a:pPr>
            <a:r>
              <a:rPr lang="en-US" sz="2599" i="true">
                <a:solidFill>
                  <a:srgbClr val="191E3A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how </a:t>
            </a:r>
            <a:r>
              <a:rPr lang="en-US" sz="2599" i="true">
                <a:solidFill>
                  <a:srgbClr val="191E3A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does QPU noise chang</a:t>
            </a:r>
            <a:r>
              <a:rPr lang="en-US" sz="2599" i="true">
                <a:solidFill>
                  <a:srgbClr val="191E3A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e expressibili</a:t>
            </a:r>
            <a:r>
              <a:rPr lang="en-US" sz="2599" i="true">
                <a:solidFill>
                  <a:srgbClr val="191E3A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ty?</a:t>
            </a:r>
          </a:p>
        </p:txBody>
      </p:sp>
    </p:spTree>
  </p:cSld>
  <p:clrMapOvr>
    <a:masterClrMapping/>
  </p:clrMapOvr>
  <p:transition spd="fast">
    <p:fade/>
  </p:transition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704337" cy="10299697"/>
            <a:chOff x="0" y="0"/>
            <a:chExt cx="2272449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241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272411">
                  <a:moveTo>
                    <a:pt x="0" y="0"/>
                  </a:moveTo>
                  <a:lnTo>
                    <a:pt x="2272411" y="0"/>
                  </a:lnTo>
                  <a:lnTo>
                    <a:pt x="227241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243" y="377695"/>
            <a:ext cx="1311145" cy="1311145"/>
            <a:chOff x="0" y="0"/>
            <a:chExt cx="1748193" cy="1748193"/>
          </a:xfrm>
        </p:grpSpPr>
        <p:sp>
          <p:nvSpPr>
            <p:cNvPr name="Freeform 5" id="5" descr="Picture 2"/>
            <p:cNvSpPr/>
            <p:nvPr/>
          </p:nvSpPr>
          <p:spPr>
            <a:xfrm flipH="false" flipV="false" rot="0">
              <a:off x="0" y="0"/>
              <a:ext cx="1748155" cy="1748155"/>
            </a:xfrm>
            <a:custGeom>
              <a:avLst/>
              <a:gdLst/>
              <a:ahLst/>
              <a:cxnLst/>
              <a:rect r="r" b="b" t="t" l="l"/>
              <a:pathLst>
                <a:path h="1748155" w="1748155">
                  <a:moveTo>
                    <a:pt x="0" y="0"/>
                  </a:moveTo>
                  <a:lnTo>
                    <a:pt x="1748155" y="0"/>
                  </a:lnTo>
                  <a:lnTo>
                    <a:pt x="1748155" y="1748155"/>
                  </a:lnTo>
                  <a:lnTo>
                    <a:pt x="0" y="174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217673" y="9384535"/>
            <a:ext cx="2573750" cy="671065"/>
            <a:chOff x="0" y="0"/>
            <a:chExt cx="3431667" cy="894753"/>
          </a:xfrm>
        </p:grpSpPr>
        <p:sp>
          <p:nvSpPr>
            <p:cNvPr name="Freeform 7" id="7" descr="Picture 10"/>
            <p:cNvSpPr/>
            <p:nvPr/>
          </p:nvSpPr>
          <p:spPr>
            <a:xfrm flipH="false" flipV="false" rot="0">
              <a:off x="0" y="0"/>
              <a:ext cx="3431667" cy="894715"/>
            </a:xfrm>
            <a:custGeom>
              <a:avLst/>
              <a:gdLst/>
              <a:ahLst/>
              <a:cxnLst/>
              <a:rect r="r" b="b" t="t" l="l"/>
              <a:pathLst>
                <a:path h="894715" w="3431667">
                  <a:moveTo>
                    <a:pt x="0" y="0"/>
                  </a:moveTo>
                  <a:lnTo>
                    <a:pt x="3431667" y="0"/>
                  </a:lnTo>
                  <a:lnTo>
                    <a:pt x="3431667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3" t="0" r="-753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430212" y="9366247"/>
            <a:ext cx="1388688" cy="671065"/>
            <a:chOff x="0" y="0"/>
            <a:chExt cx="1851584" cy="894753"/>
          </a:xfrm>
        </p:grpSpPr>
        <p:sp>
          <p:nvSpPr>
            <p:cNvPr name="Freeform 9" id="9" descr="Picture 11"/>
            <p:cNvSpPr/>
            <p:nvPr/>
          </p:nvSpPr>
          <p:spPr>
            <a:xfrm flipH="false" flipV="false" rot="0">
              <a:off x="0" y="0"/>
              <a:ext cx="1851533" cy="894715"/>
            </a:xfrm>
            <a:custGeom>
              <a:avLst/>
              <a:gdLst/>
              <a:ahLst/>
              <a:cxnLst/>
              <a:rect r="r" b="b" t="t" l="l"/>
              <a:pathLst>
                <a:path h="894715" w="1851533">
                  <a:moveTo>
                    <a:pt x="0" y="0"/>
                  </a:moveTo>
                  <a:lnTo>
                    <a:pt x="1851533" y="0"/>
                  </a:lnTo>
                  <a:lnTo>
                    <a:pt x="1851533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79" t="0" r="-382" b="-4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108313" y="2427218"/>
            <a:ext cx="15557497" cy="1539706"/>
            <a:chOff x="0" y="0"/>
            <a:chExt cx="20743329" cy="2052941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20743329" cy="2052941"/>
              <a:chOff x="0" y="0"/>
              <a:chExt cx="20743329" cy="2052941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0743418" cy="2053030"/>
              </a:xfrm>
              <a:custGeom>
                <a:avLst/>
                <a:gdLst/>
                <a:ahLst/>
                <a:cxnLst/>
                <a:rect r="r" b="b" t="t" l="l"/>
                <a:pathLst>
                  <a:path h="2053030" w="20743418">
                    <a:moveTo>
                      <a:pt x="0" y="225895"/>
                    </a:moveTo>
                    <a:cubicBezTo>
                      <a:pt x="0" y="101030"/>
                      <a:pt x="60833" y="0"/>
                      <a:pt x="136017" y="0"/>
                    </a:cubicBezTo>
                    <a:lnTo>
                      <a:pt x="20607401" y="0"/>
                    </a:lnTo>
                    <a:cubicBezTo>
                      <a:pt x="20682458" y="0"/>
                      <a:pt x="20743418" y="101030"/>
                      <a:pt x="20743418" y="225895"/>
                    </a:cubicBezTo>
                    <a:lnTo>
                      <a:pt x="20743418" y="1827194"/>
                    </a:lnTo>
                    <a:cubicBezTo>
                      <a:pt x="20743418" y="1951848"/>
                      <a:pt x="20682586" y="2053030"/>
                      <a:pt x="20607401" y="2053030"/>
                    </a:cubicBezTo>
                    <a:lnTo>
                      <a:pt x="136017" y="2053030"/>
                    </a:lnTo>
                    <a:cubicBezTo>
                      <a:pt x="60833" y="2052878"/>
                      <a:pt x="0" y="1951848"/>
                      <a:pt x="0" y="1827194"/>
                    </a:cubicBezTo>
                    <a:close/>
                  </a:path>
                </a:pathLst>
              </a:custGeom>
              <a:solidFill>
                <a:srgbClr val="ECEFF8"/>
              </a:solidFill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463296" y="109881"/>
              <a:ext cx="19816737" cy="1750128"/>
              <a:chOff x="0" y="0"/>
              <a:chExt cx="19816737" cy="1750128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9816741" cy="1750134"/>
              </a:xfrm>
              <a:custGeom>
                <a:avLst/>
                <a:gdLst/>
                <a:ahLst/>
                <a:cxnLst/>
                <a:rect r="r" b="b" t="t" l="l"/>
                <a:pathLst>
                  <a:path h="1750134" w="19816741">
                    <a:moveTo>
                      <a:pt x="0" y="0"/>
                    </a:moveTo>
                    <a:lnTo>
                      <a:pt x="19816741" y="0"/>
                    </a:lnTo>
                    <a:lnTo>
                      <a:pt x="19816741" y="1750134"/>
                    </a:lnTo>
                    <a:lnTo>
                      <a:pt x="0" y="1750134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0" t="-208534" r="0" b="-132722"/>
                </a:stretch>
              </a:blip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9525"/>
                <a:ext cx="19816737" cy="175965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44"/>
                  </a:lnSpc>
                </a:pPr>
                <a:r>
                  <a:rPr lang="en-US" sz="2600" i="true">
                    <a:solidFill>
                      <a:srgbClr val="191E3A"/>
                    </a:solidFill>
                    <a:latin typeface="DM Sans Italics"/>
                    <a:ea typeface="DM Sans Italics"/>
                    <a:cs typeface="DM Sans Italics"/>
                    <a:sym typeface="DM Sans Italics"/>
                  </a:rPr>
                  <a:t>We started from a simple problem: ansätze are usually validated in</a:t>
                </a:r>
                <a:r>
                  <a:rPr lang="en-US" sz="2600" i="true">
                    <a:solidFill>
                      <a:srgbClr val="191E3A"/>
                    </a:solidFill>
                    <a:latin typeface="DM Sans Italics"/>
                    <a:ea typeface="DM Sans Italics"/>
                    <a:cs typeface="DM Sans Italics"/>
                    <a:sym typeface="DM Sans Italics"/>
                  </a:rPr>
                  <a:t> simulation, but their real behavior depends on QPU constraints. We created framework for evaluation which consists of few tests</a:t>
                </a:r>
              </a:p>
            </p:txBody>
          </p:sp>
        </p:grpSp>
      </p:grpSp>
      <p:sp>
        <p:nvSpPr>
          <p:cNvPr name="TextBox 16" id="16"/>
          <p:cNvSpPr txBox="true"/>
          <p:nvPr/>
        </p:nvSpPr>
        <p:spPr>
          <a:xfrm rot="0">
            <a:off x="39367" y="1812922"/>
            <a:ext cx="1612897" cy="6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Axion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Student Research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-6353" y="9567415"/>
            <a:ext cx="170433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14 </a:t>
            </a: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/ 16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151883" y="1184272"/>
            <a:ext cx="3476402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C</a:t>
            </a: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onclusions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167642" y="4334302"/>
            <a:ext cx="15498168" cy="809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3"/>
              </a:lnSpc>
            </a:pPr>
            <a:r>
              <a:rPr lang="en-US" sz="2599" i="true" b="true">
                <a:solidFill>
                  <a:srgbClr val="191E3A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Fidelity</a:t>
            </a:r>
          </a:p>
          <a:p>
            <a:pPr algn="l">
              <a:lnSpc>
                <a:spcPts val="3273"/>
              </a:lnSpc>
            </a:pPr>
            <a:r>
              <a:rPr lang="en-US" sz="2599" i="true">
                <a:solidFill>
                  <a:srgbClr val="191E3A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how well c</a:t>
            </a:r>
            <a:r>
              <a:rPr lang="en-US" sz="2599" i="true">
                <a:solidFill>
                  <a:srgbClr val="191E3A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an we </a:t>
            </a:r>
            <a:r>
              <a:rPr lang="en-US" sz="2599" i="true">
                <a:solidFill>
                  <a:srgbClr val="191E3A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r</a:t>
            </a:r>
            <a:r>
              <a:rPr lang="en-US" sz="2599" i="true">
                <a:solidFill>
                  <a:srgbClr val="191E3A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epresent th</a:t>
            </a:r>
            <a:r>
              <a:rPr lang="en-US" sz="2599" i="true">
                <a:solidFill>
                  <a:srgbClr val="191E3A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e ideal state?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108313" y="5514970"/>
            <a:ext cx="15498168" cy="809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3"/>
              </a:lnSpc>
            </a:pPr>
            <a:r>
              <a:rPr lang="en-US" sz="2599" i="true" b="true">
                <a:solidFill>
                  <a:srgbClr val="191E3A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KL </a:t>
            </a:r>
            <a:r>
              <a:rPr lang="en-US" sz="2599" i="true" b="true">
                <a:solidFill>
                  <a:srgbClr val="191E3A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expressibility</a:t>
            </a:r>
          </a:p>
          <a:p>
            <a:pPr algn="l">
              <a:lnSpc>
                <a:spcPts val="3273"/>
              </a:lnSpc>
            </a:pPr>
            <a:r>
              <a:rPr lang="en-US" sz="2599" i="true">
                <a:solidFill>
                  <a:srgbClr val="191E3A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how </a:t>
            </a:r>
            <a:r>
              <a:rPr lang="en-US" sz="2599" i="true">
                <a:solidFill>
                  <a:srgbClr val="191E3A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does QPU noise chang</a:t>
            </a:r>
            <a:r>
              <a:rPr lang="en-US" sz="2599" i="true">
                <a:solidFill>
                  <a:srgbClr val="191E3A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e expressibili</a:t>
            </a:r>
            <a:r>
              <a:rPr lang="en-US" sz="2599" i="true">
                <a:solidFill>
                  <a:srgbClr val="191E3A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ty?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108313" y="6695639"/>
            <a:ext cx="15498168" cy="809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3"/>
              </a:lnSpc>
            </a:pPr>
            <a:r>
              <a:rPr lang="en-US" sz="2599" i="true" b="true">
                <a:solidFill>
                  <a:srgbClr val="191E3A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M</a:t>
            </a:r>
            <a:r>
              <a:rPr lang="en-US" sz="2599" i="true" b="true">
                <a:solidFill>
                  <a:srgbClr val="191E3A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eye</a:t>
            </a:r>
            <a:r>
              <a:rPr lang="en-US" sz="2599" i="true" b="true">
                <a:solidFill>
                  <a:srgbClr val="191E3A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r-W</a:t>
            </a:r>
            <a:r>
              <a:rPr lang="en-US" sz="2599" i="true" b="true">
                <a:solidFill>
                  <a:srgbClr val="191E3A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allach</a:t>
            </a:r>
          </a:p>
          <a:p>
            <a:pPr algn="l">
              <a:lnSpc>
                <a:spcPts val="3273"/>
              </a:lnSpc>
            </a:pPr>
            <a:r>
              <a:rPr lang="en-US" sz="2599" i="true">
                <a:solidFill>
                  <a:srgbClr val="191E3A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h</a:t>
            </a:r>
            <a:r>
              <a:rPr lang="en-US" sz="2599" i="true">
                <a:solidFill>
                  <a:srgbClr val="191E3A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ow entangled is each qubi</a:t>
            </a:r>
            <a:r>
              <a:rPr lang="en-US" sz="2599" i="true">
                <a:solidFill>
                  <a:srgbClr val="191E3A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t?</a:t>
            </a:r>
          </a:p>
        </p:txBody>
      </p:sp>
    </p:spTree>
  </p:cSld>
  <p:clrMapOvr>
    <a:masterClrMapping/>
  </p:clrMapOvr>
  <p:transition spd="fast">
    <p:fade/>
  </p:transition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704337" cy="10299697"/>
            <a:chOff x="0" y="0"/>
            <a:chExt cx="2272449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241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272411">
                  <a:moveTo>
                    <a:pt x="0" y="0"/>
                  </a:moveTo>
                  <a:lnTo>
                    <a:pt x="2272411" y="0"/>
                  </a:lnTo>
                  <a:lnTo>
                    <a:pt x="227241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243" y="377695"/>
            <a:ext cx="1311145" cy="1311145"/>
            <a:chOff x="0" y="0"/>
            <a:chExt cx="1748193" cy="1748193"/>
          </a:xfrm>
        </p:grpSpPr>
        <p:sp>
          <p:nvSpPr>
            <p:cNvPr name="Freeform 5" id="5" descr="Picture 2"/>
            <p:cNvSpPr/>
            <p:nvPr/>
          </p:nvSpPr>
          <p:spPr>
            <a:xfrm flipH="false" flipV="false" rot="0">
              <a:off x="0" y="0"/>
              <a:ext cx="1748155" cy="1748155"/>
            </a:xfrm>
            <a:custGeom>
              <a:avLst/>
              <a:gdLst/>
              <a:ahLst/>
              <a:cxnLst/>
              <a:rect r="r" b="b" t="t" l="l"/>
              <a:pathLst>
                <a:path h="1748155" w="1748155">
                  <a:moveTo>
                    <a:pt x="0" y="0"/>
                  </a:moveTo>
                  <a:lnTo>
                    <a:pt x="1748155" y="0"/>
                  </a:lnTo>
                  <a:lnTo>
                    <a:pt x="1748155" y="1748155"/>
                  </a:lnTo>
                  <a:lnTo>
                    <a:pt x="0" y="174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217673" y="9384535"/>
            <a:ext cx="2573750" cy="671065"/>
            <a:chOff x="0" y="0"/>
            <a:chExt cx="3431667" cy="894753"/>
          </a:xfrm>
        </p:grpSpPr>
        <p:sp>
          <p:nvSpPr>
            <p:cNvPr name="Freeform 7" id="7" descr="Picture 10"/>
            <p:cNvSpPr/>
            <p:nvPr/>
          </p:nvSpPr>
          <p:spPr>
            <a:xfrm flipH="false" flipV="false" rot="0">
              <a:off x="0" y="0"/>
              <a:ext cx="3431667" cy="894715"/>
            </a:xfrm>
            <a:custGeom>
              <a:avLst/>
              <a:gdLst/>
              <a:ahLst/>
              <a:cxnLst/>
              <a:rect r="r" b="b" t="t" l="l"/>
              <a:pathLst>
                <a:path h="894715" w="3431667">
                  <a:moveTo>
                    <a:pt x="0" y="0"/>
                  </a:moveTo>
                  <a:lnTo>
                    <a:pt x="3431667" y="0"/>
                  </a:lnTo>
                  <a:lnTo>
                    <a:pt x="3431667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3" t="0" r="-753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430212" y="9366247"/>
            <a:ext cx="1388688" cy="671065"/>
            <a:chOff x="0" y="0"/>
            <a:chExt cx="1851584" cy="894753"/>
          </a:xfrm>
        </p:grpSpPr>
        <p:sp>
          <p:nvSpPr>
            <p:cNvPr name="Freeform 9" id="9" descr="Picture 11"/>
            <p:cNvSpPr/>
            <p:nvPr/>
          </p:nvSpPr>
          <p:spPr>
            <a:xfrm flipH="false" flipV="false" rot="0">
              <a:off x="0" y="0"/>
              <a:ext cx="1851533" cy="894715"/>
            </a:xfrm>
            <a:custGeom>
              <a:avLst/>
              <a:gdLst/>
              <a:ahLst/>
              <a:cxnLst/>
              <a:rect r="r" b="b" t="t" l="l"/>
              <a:pathLst>
                <a:path h="894715" w="1851533">
                  <a:moveTo>
                    <a:pt x="0" y="0"/>
                  </a:moveTo>
                  <a:lnTo>
                    <a:pt x="1851533" y="0"/>
                  </a:lnTo>
                  <a:lnTo>
                    <a:pt x="1851533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79" t="0" r="-382" b="-4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9367" y="1812922"/>
            <a:ext cx="1612897" cy="6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Axion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Student Research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-6353" y="9567415"/>
            <a:ext cx="170433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15/16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51883" y="1184272"/>
            <a:ext cx="9100705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Takeaways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2151883" y="2652905"/>
            <a:ext cx="14862553" cy="721294"/>
            <a:chOff x="0" y="0"/>
            <a:chExt cx="19816737" cy="96172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816741" cy="961731"/>
            </a:xfrm>
            <a:custGeom>
              <a:avLst/>
              <a:gdLst/>
              <a:ahLst/>
              <a:cxnLst/>
              <a:rect r="r" b="b" t="t" l="l"/>
              <a:pathLst>
                <a:path h="961731" w="19816741">
                  <a:moveTo>
                    <a:pt x="0" y="0"/>
                  </a:moveTo>
                  <a:lnTo>
                    <a:pt x="19816741" y="0"/>
                  </a:lnTo>
                  <a:lnTo>
                    <a:pt x="19816741" y="961731"/>
                  </a:lnTo>
                  <a:lnTo>
                    <a:pt x="0" y="96173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79486" r="0" b="-32350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9816737" cy="971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94"/>
                </a:lnSpc>
              </a:pPr>
              <a:r>
                <a:rPr lang="en-US" sz="2800" i="true">
                  <a:solidFill>
                    <a:srgbClr val="191E3A"/>
                  </a:solidFill>
                  <a:latin typeface="DM Sans Italics"/>
                  <a:ea typeface="DM Sans Italics"/>
                  <a:cs typeface="DM Sans Italics"/>
                  <a:sym typeface="DM Sans Italics"/>
                </a:rPr>
                <a:t>We need to verify the ansatz on the </a:t>
              </a:r>
              <a:r>
                <a:rPr lang="en-US" sz="2800" i="true" b="true">
                  <a:solidFill>
                    <a:srgbClr val="191E3A"/>
                  </a:solidFill>
                  <a:latin typeface="DM Sans Bold Italics"/>
                  <a:ea typeface="DM Sans Bold Italics"/>
                  <a:cs typeface="DM Sans Bold Italics"/>
                  <a:sym typeface="DM Sans Bold Italics"/>
                </a:rPr>
                <a:t>hardware</a:t>
              </a:r>
              <a:r>
                <a:rPr lang="en-US" sz="2800" i="true">
                  <a:solidFill>
                    <a:srgbClr val="191E3A"/>
                  </a:solidFill>
                  <a:latin typeface="DM Sans Italics"/>
                  <a:ea typeface="DM Sans Italics"/>
                  <a:cs typeface="DM Sans Italics"/>
                  <a:sym typeface="DM Sans Italics"/>
                </a:rPr>
                <a:t>, not just on the simulator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704337" cy="10299697"/>
            <a:chOff x="0" y="0"/>
            <a:chExt cx="2272449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241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272411">
                  <a:moveTo>
                    <a:pt x="0" y="0"/>
                  </a:moveTo>
                  <a:lnTo>
                    <a:pt x="2272411" y="0"/>
                  </a:lnTo>
                  <a:lnTo>
                    <a:pt x="227241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243" y="377695"/>
            <a:ext cx="1311145" cy="1311145"/>
            <a:chOff x="0" y="0"/>
            <a:chExt cx="1748193" cy="1748193"/>
          </a:xfrm>
        </p:grpSpPr>
        <p:sp>
          <p:nvSpPr>
            <p:cNvPr name="Freeform 5" id="5" descr="Picture 2"/>
            <p:cNvSpPr/>
            <p:nvPr/>
          </p:nvSpPr>
          <p:spPr>
            <a:xfrm flipH="false" flipV="false" rot="0">
              <a:off x="0" y="0"/>
              <a:ext cx="1748155" cy="1748155"/>
            </a:xfrm>
            <a:custGeom>
              <a:avLst/>
              <a:gdLst/>
              <a:ahLst/>
              <a:cxnLst/>
              <a:rect r="r" b="b" t="t" l="l"/>
              <a:pathLst>
                <a:path h="1748155" w="1748155">
                  <a:moveTo>
                    <a:pt x="0" y="0"/>
                  </a:moveTo>
                  <a:lnTo>
                    <a:pt x="1748155" y="0"/>
                  </a:lnTo>
                  <a:lnTo>
                    <a:pt x="1748155" y="1748155"/>
                  </a:lnTo>
                  <a:lnTo>
                    <a:pt x="0" y="174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217673" y="9384535"/>
            <a:ext cx="2573750" cy="671065"/>
            <a:chOff x="0" y="0"/>
            <a:chExt cx="3431667" cy="894753"/>
          </a:xfrm>
        </p:grpSpPr>
        <p:sp>
          <p:nvSpPr>
            <p:cNvPr name="Freeform 7" id="7" descr="Picture 10"/>
            <p:cNvSpPr/>
            <p:nvPr/>
          </p:nvSpPr>
          <p:spPr>
            <a:xfrm flipH="false" flipV="false" rot="0">
              <a:off x="0" y="0"/>
              <a:ext cx="3431667" cy="894715"/>
            </a:xfrm>
            <a:custGeom>
              <a:avLst/>
              <a:gdLst/>
              <a:ahLst/>
              <a:cxnLst/>
              <a:rect r="r" b="b" t="t" l="l"/>
              <a:pathLst>
                <a:path h="894715" w="3431667">
                  <a:moveTo>
                    <a:pt x="0" y="0"/>
                  </a:moveTo>
                  <a:lnTo>
                    <a:pt x="3431667" y="0"/>
                  </a:lnTo>
                  <a:lnTo>
                    <a:pt x="3431667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3" t="0" r="-753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430212" y="9366247"/>
            <a:ext cx="1388688" cy="671065"/>
            <a:chOff x="0" y="0"/>
            <a:chExt cx="1851584" cy="894753"/>
          </a:xfrm>
        </p:grpSpPr>
        <p:sp>
          <p:nvSpPr>
            <p:cNvPr name="Freeform 9" id="9" descr="Picture 11"/>
            <p:cNvSpPr/>
            <p:nvPr/>
          </p:nvSpPr>
          <p:spPr>
            <a:xfrm flipH="false" flipV="false" rot="0">
              <a:off x="0" y="0"/>
              <a:ext cx="1851533" cy="894715"/>
            </a:xfrm>
            <a:custGeom>
              <a:avLst/>
              <a:gdLst/>
              <a:ahLst/>
              <a:cxnLst/>
              <a:rect r="r" b="b" t="t" l="l"/>
              <a:pathLst>
                <a:path h="894715" w="1851533">
                  <a:moveTo>
                    <a:pt x="0" y="0"/>
                  </a:moveTo>
                  <a:lnTo>
                    <a:pt x="1851533" y="0"/>
                  </a:lnTo>
                  <a:lnTo>
                    <a:pt x="1851533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79" t="0" r="-382" b="-4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9367" y="1812922"/>
            <a:ext cx="1612897" cy="6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Axion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Student Research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-6353" y="9567415"/>
            <a:ext cx="170433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15/16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51883" y="1184272"/>
            <a:ext cx="9100705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Takeaways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2151883" y="2652905"/>
            <a:ext cx="14862553" cy="721294"/>
            <a:chOff x="0" y="0"/>
            <a:chExt cx="19816737" cy="96172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816741" cy="961731"/>
            </a:xfrm>
            <a:custGeom>
              <a:avLst/>
              <a:gdLst/>
              <a:ahLst/>
              <a:cxnLst/>
              <a:rect r="r" b="b" t="t" l="l"/>
              <a:pathLst>
                <a:path h="961731" w="19816741">
                  <a:moveTo>
                    <a:pt x="0" y="0"/>
                  </a:moveTo>
                  <a:lnTo>
                    <a:pt x="19816741" y="0"/>
                  </a:lnTo>
                  <a:lnTo>
                    <a:pt x="19816741" y="961731"/>
                  </a:lnTo>
                  <a:lnTo>
                    <a:pt x="0" y="96173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79486" r="0" b="-32350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9816737" cy="971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94"/>
                </a:lnSpc>
              </a:pPr>
              <a:r>
                <a:rPr lang="en-US" sz="2800" i="true">
                  <a:solidFill>
                    <a:srgbClr val="191E3A"/>
                  </a:solidFill>
                  <a:latin typeface="DM Sans Italics"/>
                  <a:ea typeface="DM Sans Italics"/>
                  <a:cs typeface="DM Sans Italics"/>
                  <a:sym typeface="DM Sans Italics"/>
                </a:rPr>
                <a:t>We need to verify the ansatz on the </a:t>
              </a:r>
              <a:r>
                <a:rPr lang="en-US" sz="2800" i="true" b="true">
                  <a:solidFill>
                    <a:srgbClr val="191E3A"/>
                  </a:solidFill>
                  <a:latin typeface="DM Sans Bold Italics"/>
                  <a:ea typeface="DM Sans Bold Italics"/>
                  <a:cs typeface="DM Sans Bold Italics"/>
                  <a:sym typeface="DM Sans Bold Italics"/>
                </a:rPr>
                <a:t>hardware</a:t>
              </a:r>
              <a:r>
                <a:rPr lang="en-US" sz="2800" i="true">
                  <a:solidFill>
                    <a:srgbClr val="191E3A"/>
                  </a:solidFill>
                  <a:latin typeface="DM Sans Italics"/>
                  <a:ea typeface="DM Sans Italics"/>
                  <a:cs typeface="DM Sans Italics"/>
                  <a:sym typeface="DM Sans Italics"/>
                </a:rPr>
                <a:t>, not just on the simulator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151883" y="4118655"/>
            <a:ext cx="14862553" cy="966623"/>
            <a:chOff x="0" y="0"/>
            <a:chExt cx="19816737" cy="128883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816741" cy="1288836"/>
            </a:xfrm>
            <a:custGeom>
              <a:avLst/>
              <a:gdLst/>
              <a:ahLst/>
              <a:cxnLst/>
              <a:rect r="r" b="b" t="t" l="l"/>
              <a:pathLst>
                <a:path h="1288836" w="19816741">
                  <a:moveTo>
                    <a:pt x="0" y="0"/>
                  </a:moveTo>
                  <a:lnTo>
                    <a:pt x="19816741" y="0"/>
                  </a:lnTo>
                  <a:lnTo>
                    <a:pt x="19816741" y="1288836"/>
                  </a:lnTo>
                  <a:lnTo>
                    <a:pt x="0" y="128883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3172" r="0" b="-21601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19816737" cy="12983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94"/>
                </a:lnSpc>
              </a:pPr>
              <a:r>
                <a:rPr lang="en-US" sz="2800" i="true">
                  <a:solidFill>
                    <a:srgbClr val="191E3A"/>
                  </a:solidFill>
                  <a:latin typeface="DM Sans Italics"/>
                  <a:ea typeface="DM Sans Italics"/>
                  <a:cs typeface="DM Sans Italics"/>
                  <a:sym typeface="DM Sans Italics"/>
                </a:rPr>
                <a:t>Evaluating Ansatz requires more than one metric, it should be a </a:t>
              </a:r>
              <a:r>
                <a:rPr lang="en-US" sz="2800" i="true" b="true">
                  <a:solidFill>
                    <a:srgbClr val="191E3A"/>
                  </a:solidFill>
                  <a:latin typeface="DM Sans Bold Italics"/>
                  <a:ea typeface="DM Sans Bold Italics"/>
                  <a:cs typeface="DM Sans Bold Italics"/>
                  <a:sym typeface="DM Sans Bold Italics"/>
                </a:rPr>
                <a:t>series of tests</a:t>
              </a:r>
              <a:r>
                <a:rPr lang="en-US" sz="2800" i="true">
                  <a:solidFill>
                    <a:srgbClr val="191E3A"/>
                  </a:solidFill>
                  <a:latin typeface="DM Sans Italics"/>
                  <a:ea typeface="DM Sans Italics"/>
                  <a:cs typeface="DM Sans Italics"/>
                  <a:sym typeface="DM Sans Italics"/>
                </a:rPr>
                <a:t> like the one we proposed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233927" y="5799653"/>
            <a:ext cx="15557497" cy="725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1"/>
              </a:lnSpc>
            </a:pPr>
            <a:r>
              <a:rPr lang="en-US" sz="2199" b="true">
                <a:solidFill>
                  <a:srgbClr val="191E3A"/>
                </a:solidFill>
                <a:latin typeface="DM Sans Bold"/>
                <a:ea typeface="DM Sans Bold"/>
                <a:cs typeface="DM Sans Bold"/>
                <a:sym typeface="DM Sans Bold"/>
              </a:rPr>
              <a:t>Future work:</a:t>
            </a:r>
          </a:p>
          <a:p>
            <a:pPr algn="l">
              <a:lnSpc>
                <a:spcPts val="2851"/>
              </a:lnSpc>
            </a:pPr>
            <a:r>
              <a:rPr lang="en-US" sz="2199">
                <a:solidFill>
                  <a:srgbClr val="191E3A"/>
                </a:solidFill>
                <a:latin typeface="DM Sans"/>
                <a:ea typeface="DM Sans"/>
                <a:cs typeface="DM Sans"/>
                <a:sym typeface="DM Sans"/>
              </a:rPr>
              <a:t>Alternative quantum hardware, diverse datasets, and diverse problem types to ensure broad applicability.</a:t>
            </a:r>
          </a:p>
        </p:txBody>
      </p:sp>
    </p:spTree>
  </p:cSld>
  <p:clrMapOvr>
    <a:masterClrMapping/>
  </p:clrMapOvr>
  <p:transition spd="fast">
    <p:fade/>
  </p:transition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704337" cy="10299697"/>
            <a:chOff x="0" y="0"/>
            <a:chExt cx="2272449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241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272411">
                  <a:moveTo>
                    <a:pt x="0" y="0"/>
                  </a:moveTo>
                  <a:lnTo>
                    <a:pt x="2272411" y="0"/>
                  </a:lnTo>
                  <a:lnTo>
                    <a:pt x="227241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243" y="377695"/>
            <a:ext cx="1311145" cy="1311145"/>
            <a:chOff x="0" y="0"/>
            <a:chExt cx="1748193" cy="1748193"/>
          </a:xfrm>
        </p:grpSpPr>
        <p:sp>
          <p:nvSpPr>
            <p:cNvPr name="Freeform 5" id="5" descr="Picture 2"/>
            <p:cNvSpPr/>
            <p:nvPr/>
          </p:nvSpPr>
          <p:spPr>
            <a:xfrm flipH="false" flipV="false" rot="0">
              <a:off x="0" y="0"/>
              <a:ext cx="1748155" cy="1748155"/>
            </a:xfrm>
            <a:custGeom>
              <a:avLst/>
              <a:gdLst/>
              <a:ahLst/>
              <a:cxnLst/>
              <a:rect r="r" b="b" t="t" l="l"/>
              <a:pathLst>
                <a:path h="1748155" w="1748155">
                  <a:moveTo>
                    <a:pt x="0" y="0"/>
                  </a:moveTo>
                  <a:lnTo>
                    <a:pt x="1748155" y="0"/>
                  </a:lnTo>
                  <a:lnTo>
                    <a:pt x="1748155" y="1748155"/>
                  </a:lnTo>
                  <a:lnTo>
                    <a:pt x="0" y="174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" b="-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104636" y="9483366"/>
            <a:ext cx="13083299" cy="274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3"/>
              </a:lnSpc>
            </a:pPr>
            <a:r>
              <a:rPr lang="en-US" sz="1700">
                <a:solidFill>
                  <a:srgbClr val="525C73"/>
                </a:solidFill>
                <a:latin typeface="DM Sans"/>
                <a:ea typeface="DM Sans"/>
                <a:cs typeface="DM Sans"/>
                <a:sym typeface="DM Sans"/>
              </a:rPr>
              <a:t>Full code and Results on GitHub: </a:t>
            </a:r>
            <a:r>
              <a:rPr lang="en-US" sz="1700" u="sng">
                <a:solidFill>
                  <a:srgbClr val="525C73"/>
                </a:solidFill>
                <a:latin typeface="DM Sans"/>
                <a:ea typeface="DM Sans"/>
                <a:cs typeface="DM Sans"/>
                <a:sym typeface="DM Sans"/>
                <a:hlinkClick r:id="rId3" tooltip="https://github.com/Kolo-Naukowe-Axion/QC1_Quantum_Banknote_Classifier_on_ODRA_5"/>
              </a:rPr>
              <a:t>QC1_Quantum_Banknote_Classifier_on_ODRA_5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607462" y="1540922"/>
            <a:ext cx="3378306" cy="3378306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 rot="0">
            <a:off x="1926747" y="4370550"/>
            <a:ext cx="10178508" cy="1545900"/>
            <a:chOff x="0" y="0"/>
            <a:chExt cx="13571345" cy="2061201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4680272" y="406397"/>
              <a:ext cx="4265406" cy="1112138"/>
              <a:chOff x="0" y="0"/>
              <a:chExt cx="3431667" cy="894753"/>
            </a:xfrm>
          </p:grpSpPr>
          <p:sp>
            <p:nvSpPr>
              <p:cNvPr name="Freeform 10" id="10" descr="Picture 10"/>
              <p:cNvSpPr/>
              <p:nvPr/>
            </p:nvSpPr>
            <p:spPr>
              <a:xfrm flipH="false" flipV="false" rot="0">
                <a:off x="0" y="0"/>
                <a:ext cx="3431667" cy="894715"/>
              </a:xfrm>
              <a:custGeom>
                <a:avLst/>
                <a:gdLst/>
                <a:ahLst/>
                <a:cxnLst/>
                <a:rect r="r" b="b" t="t" l="l"/>
                <a:pathLst>
                  <a:path h="894715" w="3431667">
                    <a:moveTo>
                      <a:pt x="0" y="0"/>
                    </a:moveTo>
                    <a:lnTo>
                      <a:pt x="3431667" y="0"/>
                    </a:lnTo>
                    <a:lnTo>
                      <a:pt x="3431667" y="894715"/>
                    </a:lnTo>
                    <a:lnTo>
                      <a:pt x="0" y="89471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753" t="0" r="-753" b="-4"/>
                </a:stretch>
              </a:blipFill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0" y="0"/>
              <a:ext cx="4265406" cy="2061201"/>
              <a:chOff x="0" y="0"/>
              <a:chExt cx="1851584" cy="894753"/>
            </a:xfrm>
          </p:grpSpPr>
          <p:sp>
            <p:nvSpPr>
              <p:cNvPr name="Freeform 12" id="12" descr="Picture 11"/>
              <p:cNvSpPr/>
              <p:nvPr/>
            </p:nvSpPr>
            <p:spPr>
              <a:xfrm flipH="false" flipV="false" rot="0">
                <a:off x="0" y="0"/>
                <a:ext cx="1851533" cy="894715"/>
              </a:xfrm>
              <a:custGeom>
                <a:avLst/>
                <a:gdLst/>
                <a:ahLst/>
                <a:cxnLst/>
                <a:rect r="r" b="b" t="t" l="l"/>
                <a:pathLst>
                  <a:path h="894715" w="1851533">
                    <a:moveTo>
                      <a:pt x="0" y="0"/>
                    </a:moveTo>
                    <a:lnTo>
                      <a:pt x="1851533" y="0"/>
                    </a:lnTo>
                    <a:lnTo>
                      <a:pt x="1851533" y="894715"/>
                    </a:lnTo>
                    <a:lnTo>
                      <a:pt x="0" y="89471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l="-375" t="0" r="-382" b="0"/>
                </a:stretch>
              </a:blipFill>
            </p:spPr>
          </p:sp>
        </p:grpSp>
        <p:sp>
          <p:nvSpPr>
            <p:cNvPr name="Freeform 13" id="13"/>
            <p:cNvSpPr/>
            <p:nvPr/>
          </p:nvSpPr>
          <p:spPr>
            <a:xfrm flipH="false" flipV="false" rot="0">
              <a:off x="9361761" y="146299"/>
              <a:ext cx="4209583" cy="1632333"/>
            </a:xfrm>
            <a:custGeom>
              <a:avLst/>
              <a:gdLst/>
              <a:ahLst/>
              <a:cxnLst/>
              <a:rect r="r" b="b" t="t" l="l"/>
              <a:pathLst>
                <a:path h="1632333" w="4209583">
                  <a:moveTo>
                    <a:pt x="0" y="0"/>
                  </a:moveTo>
                  <a:lnTo>
                    <a:pt x="4209584" y="0"/>
                  </a:lnTo>
                  <a:lnTo>
                    <a:pt x="4209584" y="1632333"/>
                  </a:lnTo>
                  <a:lnTo>
                    <a:pt x="0" y="1632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78667" b="-1367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2151883" y="5972164"/>
            <a:ext cx="5047667" cy="3785750"/>
          </a:xfrm>
          <a:custGeom>
            <a:avLst/>
            <a:gdLst/>
            <a:ahLst/>
            <a:cxnLst/>
            <a:rect r="r" b="b" t="t" l="l"/>
            <a:pathLst>
              <a:path h="3785750" w="5047667">
                <a:moveTo>
                  <a:pt x="0" y="0"/>
                </a:moveTo>
                <a:lnTo>
                  <a:pt x="5047667" y="0"/>
                </a:lnTo>
                <a:lnTo>
                  <a:pt x="5047667" y="3785751"/>
                </a:lnTo>
                <a:lnTo>
                  <a:pt x="0" y="378575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9367" y="1812922"/>
            <a:ext cx="1612897" cy="6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Axion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Student Research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-6353" y="9567415"/>
            <a:ext cx="170433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16/16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151883" y="1184272"/>
            <a:ext cx="5952753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Contact information: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151883" y="2408168"/>
            <a:ext cx="8159553" cy="1788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5"/>
              </a:lnSpc>
            </a:pPr>
            <a:r>
              <a:rPr lang="en-US" sz="2799" b="true">
                <a:solidFill>
                  <a:srgbClr val="191E3A"/>
                </a:solidFill>
                <a:latin typeface="DM Sans Bold"/>
                <a:ea typeface="DM Sans Bold"/>
                <a:cs typeface="DM Sans Bold"/>
                <a:sym typeface="DM Sans Bold"/>
              </a:rPr>
              <a:t>E-mail: </a:t>
            </a:r>
            <a:r>
              <a:rPr lang="en-US" sz="2799">
                <a:solidFill>
                  <a:srgbClr val="191E3A"/>
                </a:solidFill>
                <a:latin typeface="DM Sans"/>
                <a:ea typeface="DM Sans"/>
                <a:cs typeface="DM Sans"/>
                <a:sym typeface="DM Sans"/>
                <a:hlinkClick r:id="rId9" tooltip="mailto:kn.axion@pwr.edu.pl"/>
              </a:rPr>
              <a:t>kn.axion@pwr.edu.pl</a:t>
            </a:r>
          </a:p>
          <a:p>
            <a:pPr algn="l">
              <a:lnSpc>
                <a:spcPts val="3525"/>
              </a:lnSpc>
            </a:pPr>
            <a:r>
              <a:rPr lang="en-US" sz="2799" b="true">
                <a:solidFill>
                  <a:srgbClr val="191E3A"/>
                </a:solidFill>
                <a:latin typeface="DM Sans Bold"/>
                <a:ea typeface="DM Sans Bold"/>
                <a:cs typeface="DM Sans Bold"/>
                <a:sym typeface="DM Sans Bold"/>
              </a:rPr>
              <a:t>Website: </a:t>
            </a:r>
            <a:r>
              <a:rPr lang="en-US" sz="2799">
                <a:solidFill>
                  <a:srgbClr val="191E3A"/>
                </a:solidFill>
                <a:latin typeface="DM Sans"/>
                <a:ea typeface="DM Sans"/>
                <a:cs typeface="DM Sans"/>
                <a:sym typeface="DM Sans"/>
              </a:rPr>
              <a:t>https://axion.pwr.edu.pl/pl/</a:t>
            </a:r>
          </a:p>
          <a:p>
            <a:pPr algn="l">
              <a:lnSpc>
                <a:spcPts val="3525"/>
              </a:lnSpc>
            </a:pPr>
            <a:r>
              <a:rPr lang="en-US" sz="2799" b="true">
                <a:solidFill>
                  <a:srgbClr val="191E3A"/>
                </a:solidFill>
                <a:latin typeface="DM Sans Bold"/>
                <a:ea typeface="DM Sans Bold"/>
                <a:cs typeface="DM Sans Bold"/>
                <a:sym typeface="DM Sans Bold"/>
              </a:rPr>
              <a:t>LinkedIn: </a:t>
            </a:r>
            <a:r>
              <a:rPr lang="en-US" sz="2799">
                <a:solidFill>
                  <a:srgbClr val="191E3A"/>
                </a:solidFill>
                <a:latin typeface="DM Sans"/>
                <a:ea typeface="DM Sans"/>
                <a:cs typeface="DM Sans"/>
                <a:sym typeface="DM Sans"/>
              </a:rPr>
              <a:t>KN Axion</a:t>
            </a:r>
          </a:p>
          <a:p>
            <a:pPr algn="l">
              <a:lnSpc>
                <a:spcPts val="3527"/>
              </a:lnSpc>
            </a:pPr>
            <a:r>
              <a:rPr lang="en-US" sz="2799" b="true">
                <a:solidFill>
                  <a:srgbClr val="191E3A"/>
                </a:solidFill>
                <a:latin typeface="DM Sans Bold"/>
                <a:ea typeface="DM Sans Bold"/>
                <a:cs typeface="DM Sans Bold"/>
                <a:sym typeface="DM Sans Bold"/>
              </a:rPr>
              <a:t>Acknowledgment:</a:t>
            </a:r>
          </a:p>
        </p:txBody>
      </p:sp>
    </p:spTree>
  </p:cSld>
  <p:clrMapOvr>
    <a:masterClrMapping/>
  </p:clrMapOvr>
  <p:transition spd="fast">
    <p:fade/>
  </p:transition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4453" y="-6353"/>
            <a:ext cx="22580168" cy="10299697"/>
            <a:chOff x="0" y="0"/>
            <a:chExt cx="30106890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106382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30106382">
                  <a:moveTo>
                    <a:pt x="0" y="0"/>
                  </a:moveTo>
                  <a:lnTo>
                    <a:pt x="30106382" y="0"/>
                  </a:lnTo>
                  <a:lnTo>
                    <a:pt x="30106382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6353" y="-6353"/>
            <a:ext cx="1704337" cy="10299697"/>
            <a:chOff x="0" y="0"/>
            <a:chExt cx="2272449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7241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272411">
                  <a:moveTo>
                    <a:pt x="0" y="0"/>
                  </a:moveTo>
                  <a:lnTo>
                    <a:pt x="2272411" y="0"/>
                  </a:lnTo>
                  <a:lnTo>
                    <a:pt x="227241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90243" y="377695"/>
            <a:ext cx="1311145" cy="1311145"/>
            <a:chOff x="0" y="0"/>
            <a:chExt cx="1748193" cy="1748193"/>
          </a:xfrm>
        </p:grpSpPr>
        <p:sp>
          <p:nvSpPr>
            <p:cNvPr name="Freeform 7" id="7" descr="Picture 2"/>
            <p:cNvSpPr/>
            <p:nvPr/>
          </p:nvSpPr>
          <p:spPr>
            <a:xfrm flipH="false" flipV="false" rot="0">
              <a:off x="0" y="0"/>
              <a:ext cx="1748155" cy="1748155"/>
            </a:xfrm>
            <a:custGeom>
              <a:avLst/>
              <a:gdLst/>
              <a:ahLst/>
              <a:cxnLst/>
              <a:rect r="r" b="b" t="t" l="l"/>
              <a:pathLst>
                <a:path h="1748155" w="1748155">
                  <a:moveTo>
                    <a:pt x="0" y="0"/>
                  </a:moveTo>
                  <a:lnTo>
                    <a:pt x="1748155" y="0"/>
                  </a:lnTo>
                  <a:lnTo>
                    <a:pt x="1748155" y="1748155"/>
                  </a:lnTo>
                  <a:lnTo>
                    <a:pt x="0" y="174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" b="-2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39367" y="1812922"/>
            <a:ext cx="1612897" cy="6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Axion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Student Research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025358" y="2893862"/>
            <a:ext cx="5355338" cy="1787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20"/>
              </a:lnSpc>
            </a:pPr>
            <a:r>
              <a:rPr lang="en-US" sz="11766" b="true">
                <a:solidFill>
                  <a:srgbClr val="FFFFFF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Addon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-6353" y="9567415"/>
            <a:ext cx="170433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02 / 16</a:t>
            </a:r>
          </a:p>
        </p:txBody>
      </p:sp>
    </p:spTree>
  </p:cSld>
  <p:clrMapOvr>
    <a:masterClrMapping/>
  </p:clrMapOvr>
  <p:transition spd="fast">
    <p:fade/>
  </p:transition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704337" cy="10299697"/>
            <a:chOff x="0" y="0"/>
            <a:chExt cx="2272449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241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272411">
                  <a:moveTo>
                    <a:pt x="0" y="0"/>
                  </a:moveTo>
                  <a:lnTo>
                    <a:pt x="2272411" y="0"/>
                  </a:lnTo>
                  <a:lnTo>
                    <a:pt x="227241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243" y="377695"/>
            <a:ext cx="1311145" cy="1311145"/>
            <a:chOff x="0" y="0"/>
            <a:chExt cx="1748193" cy="1748193"/>
          </a:xfrm>
        </p:grpSpPr>
        <p:sp>
          <p:nvSpPr>
            <p:cNvPr name="Freeform 5" id="5" descr="Picture 2"/>
            <p:cNvSpPr/>
            <p:nvPr/>
          </p:nvSpPr>
          <p:spPr>
            <a:xfrm flipH="false" flipV="false" rot="0">
              <a:off x="0" y="0"/>
              <a:ext cx="1748155" cy="1748155"/>
            </a:xfrm>
            <a:custGeom>
              <a:avLst/>
              <a:gdLst/>
              <a:ahLst/>
              <a:cxnLst/>
              <a:rect r="r" b="b" t="t" l="l"/>
              <a:pathLst>
                <a:path h="1748155" w="1748155">
                  <a:moveTo>
                    <a:pt x="0" y="0"/>
                  </a:moveTo>
                  <a:lnTo>
                    <a:pt x="1748155" y="0"/>
                  </a:lnTo>
                  <a:lnTo>
                    <a:pt x="1748155" y="1748155"/>
                  </a:lnTo>
                  <a:lnTo>
                    <a:pt x="0" y="174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217673" y="9384535"/>
            <a:ext cx="2573750" cy="671065"/>
            <a:chOff x="0" y="0"/>
            <a:chExt cx="3431667" cy="894753"/>
          </a:xfrm>
        </p:grpSpPr>
        <p:sp>
          <p:nvSpPr>
            <p:cNvPr name="Freeform 7" id="7" descr="Picture 10"/>
            <p:cNvSpPr/>
            <p:nvPr/>
          </p:nvSpPr>
          <p:spPr>
            <a:xfrm flipH="false" flipV="false" rot="0">
              <a:off x="0" y="0"/>
              <a:ext cx="3431667" cy="894715"/>
            </a:xfrm>
            <a:custGeom>
              <a:avLst/>
              <a:gdLst/>
              <a:ahLst/>
              <a:cxnLst/>
              <a:rect r="r" b="b" t="t" l="l"/>
              <a:pathLst>
                <a:path h="894715" w="3431667">
                  <a:moveTo>
                    <a:pt x="0" y="0"/>
                  </a:moveTo>
                  <a:lnTo>
                    <a:pt x="3431667" y="0"/>
                  </a:lnTo>
                  <a:lnTo>
                    <a:pt x="3431667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3" t="0" r="-753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430212" y="9366247"/>
            <a:ext cx="1388688" cy="671065"/>
            <a:chOff x="0" y="0"/>
            <a:chExt cx="1851584" cy="894753"/>
          </a:xfrm>
        </p:grpSpPr>
        <p:sp>
          <p:nvSpPr>
            <p:cNvPr name="Freeform 9" id="9" descr="Picture 11"/>
            <p:cNvSpPr/>
            <p:nvPr/>
          </p:nvSpPr>
          <p:spPr>
            <a:xfrm flipH="false" flipV="false" rot="0">
              <a:off x="0" y="0"/>
              <a:ext cx="1851533" cy="894715"/>
            </a:xfrm>
            <a:custGeom>
              <a:avLst/>
              <a:gdLst/>
              <a:ahLst/>
              <a:cxnLst/>
              <a:rect r="r" b="b" t="t" l="l"/>
              <a:pathLst>
                <a:path h="894715" w="1851533">
                  <a:moveTo>
                    <a:pt x="0" y="0"/>
                  </a:moveTo>
                  <a:lnTo>
                    <a:pt x="1851533" y="0"/>
                  </a:lnTo>
                  <a:lnTo>
                    <a:pt x="1851533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79" t="0" r="-382" b="-4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2024863" y="2124832"/>
            <a:ext cx="15865100" cy="5278791"/>
          </a:xfrm>
          <a:custGeom>
            <a:avLst/>
            <a:gdLst/>
            <a:ahLst/>
            <a:cxnLst/>
            <a:rect r="r" b="b" t="t" l="l"/>
            <a:pathLst>
              <a:path h="5278791" w="15865100">
                <a:moveTo>
                  <a:pt x="0" y="0"/>
                </a:moveTo>
                <a:lnTo>
                  <a:pt x="15865100" y="0"/>
                </a:lnTo>
                <a:lnTo>
                  <a:pt x="15865100" y="5278792"/>
                </a:lnTo>
                <a:lnTo>
                  <a:pt x="0" y="52787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519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9367" y="1812922"/>
            <a:ext cx="1612897" cy="6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Axion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Student Research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-6353" y="9567415"/>
            <a:ext cx="170433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13 / 16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51883" y="1184272"/>
            <a:ext cx="351963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Results???????</a:t>
            </a:r>
          </a:p>
        </p:txBody>
      </p:sp>
      <p:sp>
        <p:nvSpPr>
          <p:cNvPr name="AutoShape 14" id="14"/>
          <p:cNvSpPr/>
          <p:nvPr/>
        </p:nvSpPr>
        <p:spPr>
          <a:xfrm flipV="true">
            <a:off x="13143777" y="6886394"/>
            <a:ext cx="415209" cy="517230"/>
          </a:xfrm>
          <a:prstGeom prst="line">
            <a:avLst/>
          </a:prstGeom>
          <a:ln cap="flat" w="38100">
            <a:solidFill>
              <a:srgbClr val="667085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5" id="15"/>
          <p:cNvSpPr txBox="true"/>
          <p:nvPr/>
        </p:nvSpPr>
        <p:spPr>
          <a:xfrm rot="0">
            <a:off x="12149760" y="7592370"/>
            <a:ext cx="3204285" cy="317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8"/>
              </a:lnSpc>
            </a:pPr>
            <a:r>
              <a:rPr lang="en-US" sz="1762" i="true">
                <a:solidFill>
                  <a:srgbClr val="667085"/>
                </a:solidFill>
                <a:latin typeface="Arimo Italics"/>
                <a:ea typeface="Arimo Italics"/>
                <a:cs typeface="Arimo Italics"/>
                <a:sym typeface="Arimo Italics"/>
              </a:rPr>
              <a:t>colapse predicted by protocol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704337" cy="10299697"/>
            <a:chOff x="0" y="0"/>
            <a:chExt cx="2272449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241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272411">
                  <a:moveTo>
                    <a:pt x="0" y="0"/>
                  </a:moveTo>
                  <a:lnTo>
                    <a:pt x="2272411" y="0"/>
                  </a:lnTo>
                  <a:lnTo>
                    <a:pt x="227241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243" y="377695"/>
            <a:ext cx="1311145" cy="1311145"/>
            <a:chOff x="0" y="0"/>
            <a:chExt cx="1748193" cy="1748193"/>
          </a:xfrm>
        </p:grpSpPr>
        <p:sp>
          <p:nvSpPr>
            <p:cNvPr name="Freeform 5" id="5" descr="Picture 2"/>
            <p:cNvSpPr/>
            <p:nvPr/>
          </p:nvSpPr>
          <p:spPr>
            <a:xfrm flipH="false" flipV="false" rot="0">
              <a:off x="0" y="0"/>
              <a:ext cx="1748155" cy="1748155"/>
            </a:xfrm>
            <a:custGeom>
              <a:avLst/>
              <a:gdLst/>
              <a:ahLst/>
              <a:cxnLst/>
              <a:rect r="r" b="b" t="t" l="l"/>
              <a:pathLst>
                <a:path h="1748155" w="1748155">
                  <a:moveTo>
                    <a:pt x="0" y="0"/>
                  </a:moveTo>
                  <a:lnTo>
                    <a:pt x="1748155" y="0"/>
                  </a:lnTo>
                  <a:lnTo>
                    <a:pt x="1748155" y="1748155"/>
                  </a:lnTo>
                  <a:lnTo>
                    <a:pt x="0" y="174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664307" y="8708744"/>
            <a:ext cx="14862553" cy="966623"/>
            <a:chOff x="0" y="0"/>
            <a:chExt cx="19816737" cy="12888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816741" cy="1288836"/>
            </a:xfrm>
            <a:custGeom>
              <a:avLst/>
              <a:gdLst/>
              <a:ahLst/>
              <a:cxnLst/>
              <a:rect r="r" b="b" t="t" l="l"/>
              <a:pathLst>
                <a:path h="1288836" w="19816741">
                  <a:moveTo>
                    <a:pt x="0" y="0"/>
                  </a:moveTo>
                  <a:lnTo>
                    <a:pt x="19816741" y="0"/>
                  </a:lnTo>
                  <a:lnTo>
                    <a:pt x="19816741" y="1288836"/>
                  </a:lnTo>
                  <a:lnTo>
                    <a:pt x="0" y="12888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3172" r="0" b="-21601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9816737" cy="12983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9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217673" y="9384535"/>
            <a:ext cx="2573750" cy="671065"/>
            <a:chOff x="0" y="0"/>
            <a:chExt cx="3431667" cy="894753"/>
          </a:xfrm>
        </p:grpSpPr>
        <p:sp>
          <p:nvSpPr>
            <p:cNvPr name="Freeform 10" id="10" descr="Picture 10"/>
            <p:cNvSpPr/>
            <p:nvPr/>
          </p:nvSpPr>
          <p:spPr>
            <a:xfrm flipH="false" flipV="false" rot="0">
              <a:off x="0" y="0"/>
              <a:ext cx="3431667" cy="894715"/>
            </a:xfrm>
            <a:custGeom>
              <a:avLst/>
              <a:gdLst/>
              <a:ahLst/>
              <a:cxnLst/>
              <a:rect r="r" b="b" t="t" l="l"/>
              <a:pathLst>
                <a:path h="894715" w="3431667">
                  <a:moveTo>
                    <a:pt x="0" y="0"/>
                  </a:moveTo>
                  <a:lnTo>
                    <a:pt x="3431667" y="0"/>
                  </a:lnTo>
                  <a:lnTo>
                    <a:pt x="3431667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53" t="0" r="-753" b="-4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430212" y="9366247"/>
            <a:ext cx="1388688" cy="671065"/>
            <a:chOff x="0" y="0"/>
            <a:chExt cx="1851584" cy="894753"/>
          </a:xfrm>
        </p:grpSpPr>
        <p:sp>
          <p:nvSpPr>
            <p:cNvPr name="Freeform 12" id="12" descr="Picture 11"/>
            <p:cNvSpPr/>
            <p:nvPr/>
          </p:nvSpPr>
          <p:spPr>
            <a:xfrm flipH="false" flipV="false" rot="0">
              <a:off x="0" y="0"/>
              <a:ext cx="1851533" cy="894715"/>
            </a:xfrm>
            <a:custGeom>
              <a:avLst/>
              <a:gdLst/>
              <a:ahLst/>
              <a:cxnLst/>
              <a:rect r="r" b="b" t="t" l="l"/>
              <a:pathLst>
                <a:path h="894715" w="1851533">
                  <a:moveTo>
                    <a:pt x="0" y="0"/>
                  </a:moveTo>
                  <a:lnTo>
                    <a:pt x="1851533" y="0"/>
                  </a:lnTo>
                  <a:lnTo>
                    <a:pt x="1851533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79" t="0" r="-382" b="-4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2664307" y="2956466"/>
            <a:ext cx="6624518" cy="5196106"/>
          </a:xfrm>
          <a:custGeom>
            <a:avLst/>
            <a:gdLst/>
            <a:ahLst/>
            <a:cxnLst/>
            <a:rect r="r" b="b" t="t" l="l"/>
            <a:pathLst>
              <a:path h="5196106" w="6624518">
                <a:moveTo>
                  <a:pt x="0" y="0"/>
                </a:moveTo>
                <a:lnTo>
                  <a:pt x="6624518" y="0"/>
                </a:lnTo>
                <a:lnTo>
                  <a:pt x="6624518" y="5196106"/>
                </a:lnTo>
                <a:lnTo>
                  <a:pt x="0" y="51961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9367" y="1812922"/>
            <a:ext cx="1612897" cy="6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Axion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Student Research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51883" y="1184272"/>
            <a:ext cx="7513551" cy="638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Expressibility </a:t>
            </a: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- Full results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0372998" y="2956466"/>
            <a:ext cx="7153862" cy="4922061"/>
          </a:xfrm>
          <a:custGeom>
            <a:avLst/>
            <a:gdLst/>
            <a:ahLst/>
            <a:cxnLst/>
            <a:rect r="r" b="b" t="t" l="l"/>
            <a:pathLst>
              <a:path h="4922061" w="7153862">
                <a:moveTo>
                  <a:pt x="0" y="0"/>
                </a:moveTo>
                <a:lnTo>
                  <a:pt x="7153862" y="0"/>
                </a:lnTo>
                <a:lnTo>
                  <a:pt x="7153862" y="4922061"/>
                </a:lnTo>
                <a:lnTo>
                  <a:pt x="0" y="49220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2520" r="-929" b="-1432"/>
            </a:stretch>
          </a:blipFill>
        </p:spPr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DAHN8_Myrzw</dc:identifier>
  <dcterms:modified xsi:type="dcterms:W3CDTF">2011-08-01T06:04:30Z</dcterms:modified>
  <cp:revision>1</cp:revision>
  <dc:title>Dania - IEEE QCCL 2026 (draft) 2.pptx</dc:title>
</cp:coreProperties>
</file>