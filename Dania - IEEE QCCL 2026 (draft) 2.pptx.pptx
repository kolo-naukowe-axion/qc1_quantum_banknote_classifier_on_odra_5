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8288000" cy="10287000"/>
  <p:notesSz cx="6858000" cy="9144000"/>
  <p:embeddedFontLst>
    <p:embeddedFont>
      <p:font typeface="Libre Baskerville" charset="1" panose="02000000000000000000"/>
      <p:regular r:id="rId44"/>
    </p:embeddedFont>
    <p:embeddedFont>
      <p:font typeface="Libre Baskerville Bold" charset="1" panose="02000000000000000000"/>
      <p:regular r:id="rId45"/>
    </p:embeddedFont>
    <p:embeddedFont>
      <p:font typeface="DM Sans" charset="1" panose="00000000000000000000"/>
      <p:regular r:id="rId46"/>
    </p:embeddedFont>
    <p:embeddedFont>
      <p:font typeface="DM Sans Bold" charset="1" panose="00000000000000000000"/>
      <p:regular r:id="rId47"/>
    </p:embeddedFont>
    <p:embeddedFont>
      <p:font typeface="DM Sans Italics" charset="1" panose="00000000000000000000"/>
      <p:regular r:id="rId48"/>
    </p:embeddedFont>
    <p:embeddedFont>
      <p:font typeface="DM Sans Bold Italics" charset="1" panose="00000000000000000000"/>
      <p:regular r:id="rId49"/>
    </p:embeddedFont>
    <p:embeddedFont>
      <p:font typeface="Arimo" charset="1" panose="020B0604020202020204"/>
      <p:regular r:id="rId53"/>
    </p:embeddedFont>
    <p:embeddedFont>
      <p:font typeface="Open Sans" charset="1" panose="020B0606030504020204"/>
      <p:regular r:id="rId56"/>
    </p:embeddedFont>
    <p:embeddedFont>
      <p:font typeface="Arimo Italics" charset="1" panose="020B0604020202090204"/>
      <p:regular r:id="rId57"/>
    </p:embeddedFont>
    <p:embeddedFont>
      <p:font typeface="Arimo Bold Italics" charset="1" panose="020B0704020202090204"/>
      <p:regular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Relationship Id="rId50" Type="http://schemas.openxmlformats.org/officeDocument/2006/relationships/notesMaster" Target="notesMasters/notesMaster1.xml"/><Relationship Id="rId51" Type="http://schemas.openxmlformats.org/officeDocument/2006/relationships/theme" Target="theme/theme2.xml"/><Relationship Id="rId52" Type="http://schemas.openxmlformats.org/officeDocument/2006/relationships/notesSlide" Target="notesSlides/notesSlide1.xml"/><Relationship Id="rId53" Type="http://schemas.openxmlformats.org/officeDocument/2006/relationships/font" Target="fonts/font53.fntdata"/><Relationship Id="rId54" Type="http://schemas.openxmlformats.org/officeDocument/2006/relationships/notesSlide" Target="notesSlides/notesSlide2.xml"/><Relationship Id="rId55" Type="http://schemas.openxmlformats.org/officeDocument/2006/relationships/notesSlide" Target="notesSlides/notesSlide3.xml"/><Relationship Id="rId56" Type="http://schemas.openxmlformats.org/officeDocument/2006/relationships/font" Target="fonts/font56.fntdata"/><Relationship Id="rId57" Type="http://schemas.openxmlformats.org/officeDocument/2006/relationships/font" Target="fonts/font57.fntdata"/><Relationship Id="rId58" Type="http://schemas.openxmlformats.org/officeDocument/2006/relationships/font" Target="fonts/font5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zaznaczyc strzlka roznice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podkreslenie ze badamy architekture nie quantum advantage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The pilot controls the main sources of uncertainty: first, the number of shots, which affects finite-shot measurement noise; second, the number of samples, meaning random parameter samples or test inputs; and third, repeated hardware runs, which capture drift and calibration changes of the QPU.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jpeg"/><Relationship Id="rId7" Type="http://schemas.openxmlformats.org/officeDocument/2006/relationships/image" Target="../media/image6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jpe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pennylane.ai/profile/glassnotes" TargetMode="External"/><Relationship Id="rId6" Type="http://schemas.openxmlformats.org/officeDocument/2006/relationships/image" Target="../media/image4.jpe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2.png"/><Relationship Id="rId6" Type="http://schemas.openxmlformats.org/officeDocument/2006/relationships/image" Target="../media/image4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34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3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3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Kolo-Naukowe-Axion/QC1_Quantum_Banknote_Classifier_on_ODRA_5" TargetMode="External"/><Relationship Id="rId4" Type="http://schemas.openxmlformats.org/officeDocument/2006/relationships/image" Target="../media/image3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hyperlink" Target="mailto:kn.axion@pwr.edu.pl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-6353"/>
            <a:ext cx="3487426" cy="10299697"/>
            <a:chOff x="0" y="0"/>
            <a:chExt cx="4649902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4985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4649851">
                  <a:moveTo>
                    <a:pt x="0" y="0"/>
                  </a:moveTo>
                  <a:lnTo>
                    <a:pt x="4649851" y="0"/>
                  </a:lnTo>
                  <a:lnTo>
                    <a:pt x="464985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0887" y="1090927"/>
            <a:ext cx="1932937" cy="1932937"/>
            <a:chOff x="0" y="0"/>
            <a:chExt cx="2577249" cy="2577249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2577211" cy="2577211"/>
            </a:xfrm>
            <a:custGeom>
              <a:avLst/>
              <a:gdLst/>
              <a:ahLst/>
              <a:cxnLst/>
              <a:rect r="r" b="b" t="t" l="l"/>
              <a:pathLst>
                <a:path h="2577211" w="2577211">
                  <a:moveTo>
                    <a:pt x="0" y="0"/>
                  </a:moveTo>
                  <a:lnTo>
                    <a:pt x="2577211" y="0"/>
                  </a:lnTo>
                  <a:lnTo>
                    <a:pt x="2577211" y="2577211"/>
                  </a:lnTo>
                  <a:lnTo>
                    <a:pt x="0" y="2577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6527" y="3239767"/>
            <a:ext cx="3121666" cy="77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Axion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Student Research 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17007" y="2955855"/>
            <a:ext cx="13454377" cy="2069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sz="4200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Hardware-Efficient Ansatz Design </a:t>
            </a:r>
          </a:p>
          <a:p>
            <a:pPr algn="ctr">
              <a:lnSpc>
                <a:spcPts val="5544"/>
              </a:lnSpc>
            </a:pPr>
            <a:r>
              <a:rPr lang="en-US" sz="4200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and Noise-Aware Analysis of a Variational Quantum Classifier for IQM Spark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04923" y="6608484"/>
            <a:ext cx="13454377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2026 IEEE International Conference on Quantum Control, Computing and Learning</a:t>
            </a: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25C73"/>
                </a:solidFill>
                <a:latin typeface="DM Sans"/>
                <a:ea typeface="DM Sans"/>
                <a:cs typeface="DM Sans"/>
                <a:sym typeface="DM Sans"/>
              </a:rPr>
              <a:t>Aalborg, Denmark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933114" y="9320527"/>
            <a:ext cx="2858310" cy="744217"/>
            <a:chOff x="0" y="0"/>
            <a:chExt cx="3811079" cy="992289"/>
          </a:xfrm>
        </p:grpSpPr>
        <p:sp>
          <p:nvSpPr>
            <p:cNvPr name="Freeform 10" id="10" descr="Picture 6"/>
            <p:cNvSpPr/>
            <p:nvPr/>
          </p:nvSpPr>
          <p:spPr>
            <a:xfrm flipH="false" flipV="false" rot="0">
              <a:off x="0" y="0"/>
              <a:ext cx="3811143" cy="992251"/>
            </a:xfrm>
            <a:custGeom>
              <a:avLst/>
              <a:gdLst/>
              <a:ahLst/>
              <a:cxnLst/>
              <a:rect r="r" b="b" t="t" l="l"/>
              <a:pathLst>
                <a:path h="992251" w="3811143">
                  <a:moveTo>
                    <a:pt x="0" y="0"/>
                  </a:moveTo>
                  <a:lnTo>
                    <a:pt x="3811143" y="0"/>
                  </a:lnTo>
                  <a:lnTo>
                    <a:pt x="3811143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2" t="0" r="-681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47037" y="9302239"/>
            <a:ext cx="1541574" cy="744217"/>
            <a:chOff x="0" y="0"/>
            <a:chExt cx="2055432" cy="992289"/>
          </a:xfrm>
        </p:grpSpPr>
        <p:sp>
          <p:nvSpPr>
            <p:cNvPr name="Freeform 12" id="12" descr="Picture 7"/>
            <p:cNvSpPr/>
            <p:nvPr/>
          </p:nvSpPr>
          <p:spPr>
            <a:xfrm flipH="false" flipV="false" rot="0">
              <a:off x="0" y="0"/>
              <a:ext cx="2055495" cy="992251"/>
            </a:xfrm>
            <a:custGeom>
              <a:avLst/>
              <a:gdLst/>
              <a:ahLst/>
              <a:cxnLst/>
              <a:rect r="r" b="b" t="t" l="l"/>
              <a:pathLst>
                <a:path h="992251" w="2055495">
                  <a:moveTo>
                    <a:pt x="0" y="0"/>
                  </a:moveTo>
                  <a:lnTo>
                    <a:pt x="2055495" y="0"/>
                  </a:lnTo>
                  <a:lnTo>
                    <a:pt x="2055495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29" t="0" r="-327" b="-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631497" y="5319586"/>
            <a:ext cx="1222539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Iwo Wojtakajtis*, Maria Płatek*, Rafał Balicki*, Michał Szczęsny*, Karina Leśkiewicz*, Tomasz Kajdanowicz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09 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3927" y="1181857"/>
            <a:ext cx="136862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Idea: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33927" y="2124832"/>
            <a:ext cx="15557497" cy="1252811"/>
            <a:chOff x="0" y="0"/>
            <a:chExt cx="20743329" cy="167041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743329" cy="1670415"/>
              <a:chOff x="0" y="0"/>
              <a:chExt cx="20743329" cy="167041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743418" cy="1670504"/>
              </a:xfrm>
              <a:custGeom>
                <a:avLst/>
                <a:gdLst/>
                <a:ahLst/>
                <a:cxnLst/>
                <a:rect r="r" b="b" t="t" l="l"/>
                <a:pathLst>
                  <a:path h="1670504" w="20743418">
                    <a:moveTo>
                      <a:pt x="0" y="183804"/>
                    </a:moveTo>
                    <a:cubicBezTo>
                      <a:pt x="0" y="8220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82205"/>
                      <a:pt x="20743418" y="183804"/>
                    </a:cubicBezTo>
                    <a:lnTo>
                      <a:pt x="20743418" y="1486732"/>
                    </a:lnTo>
                    <a:cubicBezTo>
                      <a:pt x="20743418" y="1588158"/>
                      <a:pt x="20682586" y="1670504"/>
                      <a:pt x="20607401" y="1670504"/>
                    </a:cubicBezTo>
                    <a:lnTo>
                      <a:pt x="136017" y="1670504"/>
                    </a:lnTo>
                    <a:cubicBezTo>
                      <a:pt x="60833" y="1670364"/>
                      <a:pt x="0" y="1588158"/>
                      <a:pt x="0" y="1486732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63296" y="217589"/>
              <a:ext cx="19816737" cy="1204027"/>
              <a:chOff x="0" y="0"/>
              <a:chExt cx="19816737" cy="120402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816741" cy="1204033"/>
              </a:xfrm>
              <a:custGeom>
                <a:avLst/>
                <a:gdLst/>
                <a:ahLst/>
                <a:cxnLst/>
                <a:rect r="r" b="b" t="t" l="l"/>
                <a:pathLst>
                  <a:path h="1204033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3"/>
                    </a:lnTo>
                    <a:lnTo>
                      <a:pt x="0" y="120403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9816737" cy="12135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599">
                    <a:solidFill>
                      <a:srgbClr val="191E3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Measuring problem metrics on QPU is computationally heavy. We need protocol to evaluate ansatz with smaller cost. 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7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8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09 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3927" y="1181857"/>
            <a:ext cx="136862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Idea: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33927" y="2124832"/>
            <a:ext cx="15557497" cy="1252811"/>
            <a:chOff x="0" y="0"/>
            <a:chExt cx="20743329" cy="167041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743329" cy="1670415"/>
              <a:chOff x="0" y="0"/>
              <a:chExt cx="20743329" cy="167041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743418" cy="1670504"/>
              </a:xfrm>
              <a:custGeom>
                <a:avLst/>
                <a:gdLst/>
                <a:ahLst/>
                <a:cxnLst/>
                <a:rect r="r" b="b" t="t" l="l"/>
                <a:pathLst>
                  <a:path h="1670504" w="20743418">
                    <a:moveTo>
                      <a:pt x="0" y="183804"/>
                    </a:moveTo>
                    <a:cubicBezTo>
                      <a:pt x="0" y="8220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82205"/>
                      <a:pt x="20743418" y="183804"/>
                    </a:cubicBezTo>
                    <a:lnTo>
                      <a:pt x="20743418" y="1486732"/>
                    </a:lnTo>
                    <a:cubicBezTo>
                      <a:pt x="20743418" y="1588158"/>
                      <a:pt x="20682586" y="1670504"/>
                      <a:pt x="20607401" y="1670504"/>
                    </a:cubicBezTo>
                    <a:lnTo>
                      <a:pt x="136017" y="1670504"/>
                    </a:lnTo>
                    <a:cubicBezTo>
                      <a:pt x="60833" y="1670364"/>
                      <a:pt x="0" y="1588158"/>
                      <a:pt x="0" y="1486732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63296" y="217589"/>
              <a:ext cx="19816737" cy="1204027"/>
              <a:chOff x="0" y="0"/>
              <a:chExt cx="19816737" cy="120402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816741" cy="1204033"/>
              </a:xfrm>
              <a:custGeom>
                <a:avLst/>
                <a:gdLst/>
                <a:ahLst/>
                <a:cxnLst/>
                <a:rect r="r" b="b" t="t" l="l"/>
                <a:pathLst>
                  <a:path h="1204033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3"/>
                    </a:lnTo>
                    <a:lnTo>
                      <a:pt x="0" y="120403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9816737" cy="12135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599">
                    <a:solidFill>
                      <a:srgbClr val="191E3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Measuring problem metrics on QPU is computationally heavy. We need protocol to evaluate ansatz with smaller cost. 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7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8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233927" y="4023381"/>
            <a:ext cx="260226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Problem: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233927" y="4966356"/>
            <a:ext cx="15557497" cy="903020"/>
            <a:chOff x="0" y="0"/>
            <a:chExt cx="20743329" cy="120402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0743329" cy="1204027"/>
              <a:chOff x="0" y="0"/>
              <a:chExt cx="20743329" cy="120402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743418" cy="1204116"/>
              </a:xfrm>
              <a:custGeom>
                <a:avLst/>
                <a:gdLst/>
                <a:ahLst/>
                <a:cxnLst/>
                <a:rect r="r" b="b" t="t" l="l"/>
                <a:pathLst>
                  <a:path h="1204116" w="20743418">
                    <a:moveTo>
                      <a:pt x="0" y="132485"/>
                    </a:moveTo>
                    <a:cubicBezTo>
                      <a:pt x="0" y="59253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59253"/>
                      <a:pt x="20743418" y="132485"/>
                    </a:cubicBezTo>
                    <a:lnTo>
                      <a:pt x="20743418" y="1071629"/>
                    </a:lnTo>
                    <a:cubicBezTo>
                      <a:pt x="20743418" y="1144737"/>
                      <a:pt x="20682586" y="1204116"/>
                      <a:pt x="20607401" y="1204116"/>
                    </a:cubicBezTo>
                    <a:lnTo>
                      <a:pt x="136017" y="1204116"/>
                    </a:lnTo>
                    <a:cubicBezTo>
                      <a:pt x="60833" y="1203990"/>
                      <a:pt x="0" y="1144737"/>
                      <a:pt x="0" y="1071629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463296" y="273050"/>
              <a:ext cx="19816737" cy="657927"/>
              <a:chOff x="0" y="0"/>
              <a:chExt cx="19816737" cy="65792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816741" cy="657933"/>
              </a:xfrm>
              <a:custGeom>
                <a:avLst/>
                <a:gdLst/>
                <a:ahLst/>
                <a:cxnLst/>
                <a:rect r="r" b="b" t="t" l="l"/>
                <a:pathLst>
                  <a:path h="657933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657933"/>
                    </a:lnTo>
                    <a:lnTo>
                      <a:pt x="0" y="65793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54712" r="0" b="-519054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9525"/>
                <a:ext cx="19816737" cy="6674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599">
                    <a:solidFill>
                      <a:srgbClr val="191E3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Simulator based test results don’t always align with their hardware equivalents. </a:t>
                </a: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09 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3927" y="1181857"/>
            <a:ext cx="136862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Idea: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33927" y="2124832"/>
            <a:ext cx="15557497" cy="1252811"/>
            <a:chOff x="0" y="0"/>
            <a:chExt cx="20743329" cy="167041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743329" cy="1670415"/>
              <a:chOff x="0" y="0"/>
              <a:chExt cx="20743329" cy="167041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743418" cy="1670504"/>
              </a:xfrm>
              <a:custGeom>
                <a:avLst/>
                <a:gdLst/>
                <a:ahLst/>
                <a:cxnLst/>
                <a:rect r="r" b="b" t="t" l="l"/>
                <a:pathLst>
                  <a:path h="1670504" w="20743418">
                    <a:moveTo>
                      <a:pt x="0" y="183804"/>
                    </a:moveTo>
                    <a:cubicBezTo>
                      <a:pt x="0" y="8220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82205"/>
                      <a:pt x="20743418" y="183804"/>
                    </a:cubicBezTo>
                    <a:lnTo>
                      <a:pt x="20743418" y="1486732"/>
                    </a:lnTo>
                    <a:cubicBezTo>
                      <a:pt x="20743418" y="1588158"/>
                      <a:pt x="20682586" y="1670504"/>
                      <a:pt x="20607401" y="1670504"/>
                    </a:cubicBezTo>
                    <a:lnTo>
                      <a:pt x="136017" y="1670504"/>
                    </a:lnTo>
                    <a:cubicBezTo>
                      <a:pt x="60833" y="1670364"/>
                      <a:pt x="0" y="1588158"/>
                      <a:pt x="0" y="1486732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63296" y="217589"/>
              <a:ext cx="19816737" cy="1204027"/>
              <a:chOff x="0" y="0"/>
              <a:chExt cx="19816737" cy="120402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816741" cy="1204033"/>
              </a:xfrm>
              <a:custGeom>
                <a:avLst/>
                <a:gdLst/>
                <a:ahLst/>
                <a:cxnLst/>
                <a:rect r="r" b="b" t="t" l="l"/>
                <a:pathLst>
                  <a:path h="1204033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3"/>
                    </a:lnTo>
                    <a:lnTo>
                      <a:pt x="0" y="120403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9816737" cy="12135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599">
                    <a:solidFill>
                      <a:srgbClr val="191E3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Measuring problem metrics on QPU is computationally heavy. We need protocol to evaluate ansatz with smaller cost. 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7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8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233927" y="4023381"/>
            <a:ext cx="260226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Problem: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233927" y="4966356"/>
            <a:ext cx="15557497" cy="903020"/>
            <a:chOff x="0" y="0"/>
            <a:chExt cx="20743329" cy="120402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0743329" cy="1204027"/>
              <a:chOff x="0" y="0"/>
              <a:chExt cx="20743329" cy="120402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743418" cy="1204116"/>
              </a:xfrm>
              <a:custGeom>
                <a:avLst/>
                <a:gdLst/>
                <a:ahLst/>
                <a:cxnLst/>
                <a:rect r="r" b="b" t="t" l="l"/>
                <a:pathLst>
                  <a:path h="1204116" w="20743418">
                    <a:moveTo>
                      <a:pt x="0" y="132485"/>
                    </a:moveTo>
                    <a:cubicBezTo>
                      <a:pt x="0" y="59253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59253"/>
                      <a:pt x="20743418" y="132485"/>
                    </a:cubicBezTo>
                    <a:lnTo>
                      <a:pt x="20743418" y="1071629"/>
                    </a:lnTo>
                    <a:cubicBezTo>
                      <a:pt x="20743418" y="1144737"/>
                      <a:pt x="20682586" y="1204116"/>
                      <a:pt x="20607401" y="1204116"/>
                    </a:cubicBezTo>
                    <a:lnTo>
                      <a:pt x="136017" y="1204116"/>
                    </a:lnTo>
                    <a:cubicBezTo>
                      <a:pt x="60833" y="1203990"/>
                      <a:pt x="0" y="1144737"/>
                      <a:pt x="0" y="1071629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463296" y="273050"/>
              <a:ext cx="19816737" cy="657927"/>
              <a:chOff x="0" y="0"/>
              <a:chExt cx="19816737" cy="65792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816741" cy="657933"/>
              </a:xfrm>
              <a:custGeom>
                <a:avLst/>
                <a:gdLst/>
                <a:ahLst/>
                <a:cxnLst/>
                <a:rect r="r" b="b" t="t" l="l"/>
                <a:pathLst>
                  <a:path h="657933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657933"/>
                    </a:lnTo>
                    <a:lnTo>
                      <a:pt x="0" y="65793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54712" r="0" b="-519054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9525"/>
                <a:ext cx="19816737" cy="6674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599">
                    <a:solidFill>
                      <a:srgbClr val="191E3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Simulator based test results don’t always align with their hardware equivalents. </a:t>
                </a:r>
              </a:p>
            </p:txBody>
          </p:sp>
        </p:grpSp>
      </p:grpSp>
      <p:sp>
        <p:nvSpPr>
          <p:cNvPr name="TextBox 26" id="26"/>
          <p:cNvSpPr txBox="true"/>
          <p:nvPr/>
        </p:nvSpPr>
        <p:spPr>
          <a:xfrm rot="0">
            <a:off x="2275524" y="6517077"/>
            <a:ext cx="256066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Solution: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233927" y="7460052"/>
            <a:ext cx="15557497" cy="903020"/>
            <a:chOff x="0" y="0"/>
            <a:chExt cx="20743329" cy="1204027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743329" cy="1204027"/>
              <a:chOff x="0" y="0"/>
              <a:chExt cx="20743329" cy="120402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0743418" cy="1204116"/>
              </a:xfrm>
              <a:custGeom>
                <a:avLst/>
                <a:gdLst/>
                <a:ahLst/>
                <a:cxnLst/>
                <a:rect r="r" b="b" t="t" l="l"/>
                <a:pathLst>
                  <a:path h="1204116" w="20743418">
                    <a:moveTo>
                      <a:pt x="0" y="132485"/>
                    </a:moveTo>
                    <a:cubicBezTo>
                      <a:pt x="0" y="59253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59253"/>
                      <a:pt x="20743418" y="132485"/>
                    </a:cubicBezTo>
                    <a:lnTo>
                      <a:pt x="20743418" y="1071629"/>
                    </a:lnTo>
                    <a:cubicBezTo>
                      <a:pt x="20743418" y="1144737"/>
                      <a:pt x="20682586" y="1204116"/>
                      <a:pt x="20607401" y="1204116"/>
                    </a:cubicBezTo>
                    <a:lnTo>
                      <a:pt x="136017" y="1204116"/>
                    </a:lnTo>
                    <a:cubicBezTo>
                      <a:pt x="60833" y="1203990"/>
                      <a:pt x="0" y="1144737"/>
                      <a:pt x="0" y="1071629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475996" y="273050"/>
              <a:ext cx="19816737" cy="657927"/>
              <a:chOff x="0" y="0"/>
              <a:chExt cx="19816737" cy="65792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9816741" cy="657933"/>
              </a:xfrm>
              <a:custGeom>
                <a:avLst/>
                <a:gdLst/>
                <a:ahLst/>
                <a:cxnLst/>
                <a:rect r="r" b="b" t="t" l="l"/>
                <a:pathLst>
                  <a:path h="657933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657933"/>
                    </a:lnTo>
                    <a:lnTo>
                      <a:pt x="0" y="65793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54712" r="0" b="-519054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9816737" cy="6674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599">
                    <a:solidFill>
                      <a:srgbClr val="191E3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We propose a protocol fully based on hardware computation.</a:t>
                </a: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09 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28957" y="1184272"/>
            <a:ext cx="1034653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 QPU-Side Verification Framework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28957" y="2427218"/>
            <a:ext cx="15557497" cy="927097"/>
            <a:chOff x="0" y="0"/>
            <a:chExt cx="20743329" cy="12361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43418" cy="1236218"/>
            </a:xfrm>
            <a:custGeom>
              <a:avLst/>
              <a:gdLst/>
              <a:ahLst/>
              <a:cxnLst/>
              <a:rect r="r" b="b" t="t" l="l"/>
              <a:pathLst>
                <a:path h="1236218" w="20743418">
                  <a:moveTo>
                    <a:pt x="0" y="136017"/>
                  </a:moveTo>
                  <a:cubicBezTo>
                    <a:pt x="0" y="60833"/>
                    <a:pt x="60833" y="0"/>
                    <a:pt x="136017" y="0"/>
                  </a:cubicBezTo>
                  <a:lnTo>
                    <a:pt x="20607401" y="0"/>
                  </a:lnTo>
                  <a:cubicBezTo>
                    <a:pt x="20682458" y="0"/>
                    <a:pt x="20743418" y="60833"/>
                    <a:pt x="20743418" y="136017"/>
                  </a:cubicBezTo>
                  <a:lnTo>
                    <a:pt x="20743418" y="1100201"/>
                  </a:lnTo>
                  <a:cubicBezTo>
                    <a:pt x="20743418" y="1175258"/>
                    <a:pt x="20682586" y="1236218"/>
                    <a:pt x="20607401" y="1236218"/>
                  </a:cubicBezTo>
                  <a:lnTo>
                    <a:pt x="136017" y="1236218"/>
                  </a:lnTo>
                  <a:cubicBezTo>
                    <a:pt x="60833" y="1236091"/>
                    <a:pt x="0" y="1175258"/>
                    <a:pt x="0" y="1100201"/>
                  </a:cubicBezTo>
                  <a:close/>
                </a:path>
              </a:pathLst>
            </a:custGeom>
            <a:solidFill>
              <a:srgbClr val="ECEFF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76429" y="2590409"/>
            <a:ext cx="14862553" cy="493445"/>
            <a:chOff x="0" y="0"/>
            <a:chExt cx="19816737" cy="6579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16741" cy="657933"/>
            </a:xfrm>
            <a:custGeom>
              <a:avLst/>
              <a:gdLst/>
              <a:ahLst/>
              <a:cxnLst/>
              <a:rect r="r" b="b" t="t" l="l"/>
              <a:pathLst>
                <a:path h="657933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657933"/>
                  </a:lnTo>
                  <a:lnTo>
                    <a:pt x="0" y="6579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712" r="0" b="-5190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816737" cy="6674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4"/>
                </a:lnSpc>
              </a:pPr>
              <a:r>
                <a:rPr lang="en-US" sz="2599">
                  <a:solidFill>
                    <a:srgbClr val="191E3A"/>
                  </a:solidFill>
                  <a:latin typeface="DM Sans"/>
                  <a:ea typeface="DM Sans"/>
                  <a:cs typeface="DM Sans"/>
                  <a:sym typeface="DM Sans"/>
                </a:rPr>
                <a:t>Our contribution: </a:t>
              </a:r>
              <a:r>
                <a:rPr lang="en-US" sz="2599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three hardware-measurable metrics that together verify an ansatz on the QPU.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28957" y="4125839"/>
            <a:ext cx="15149393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8" indent="-356234" lvl="1">
              <a:lnSpc>
                <a:spcPts val="3959"/>
              </a:lnSpc>
              <a:buAutoNum type="arabicPeriod" startAt="1"/>
            </a:pPr>
            <a:r>
              <a:rPr lang="en-US" b="true" sz="3299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Fidelity</a:t>
            </a:r>
            <a:r>
              <a:rPr lang="en-US" sz="32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 - how well can we represent the ideal state?</a:t>
            </a:r>
          </a:p>
          <a:p>
            <a:pPr algn="l" marL="712468" indent="-356234" lvl="1">
              <a:lnSpc>
                <a:spcPts val="3959"/>
              </a:lnSpc>
              <a:buAutoNum type="arabicPeriod" startAt="1"/>
            </a:pPr>
            <a:r>
              <a:rPr lang="en-US" b="true" sz="3299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KL</a:t>
            </a:r>
            <a:r>
              <a:rPr lang="en-US" sz="32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3299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- expressibility</a:t>
            </a:r>
            <a:r>
              <a:rPr lang="en-US" sz="32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 - how does QPU noise change expressibility?</a:t>
            </a:r>
          </a:p>
          <a:p>
            <a:pPr algn="l" marL="712468" indent="-356234" lvl="1">
              <a:lnSpc>
                <a:spcPts val="3959"/>
              </a:lnSpc>
              <a:buAutoNum type="arabicPeriod" startAt="1"/>
            </a:pPr>
            <a:r>
              <a:rPr lang="en-US" b="true" sz="3299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Meyer - Wallach</a:t>
            </a:r>
            <a:r>
              <a:rPr lang="en-US" sz="32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 - how entangled is each qubit?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74749" y="8116987"/>
            <a:ext cx="1483875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All three are conducted on-device and </a:t>
            </a:r>
            <a:r>
              <a:rPr lang="en-US" b="true" sz="2899" i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together</a:t>
            </a:r>
            <a:r>
              <a:rPr lang="en-US" sz="28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give insight on on-hardware behavior.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7" id="17" descr="Picture 17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9" id="19" descr="Picture 18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7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8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995127" y="3994718"/>
            <a:ext cx="5504470" cy="3142435"/>
          </a:xfrm>
          <a:custGeom>
            <a:avLst/>
            <a:gdLst/>
            <a:ahLst/>
            <a:cxnLst/>
            <a:rect r="r" b="b" t="t" l="l"/>
            <a:pathLst>
              <a:path h="3142435" w="5504470">
                <a:moveTo>
                  <a:pt x="0" y="0"/>
                </a:moveTo>
                <a:lnTo>
                  <a:pt x="5504470" y="0"/>
                </a:lnTo>
                <a:lnTo>
                  <a:pt x="5504470" y="3142436"/>
                </a:lnTo>
                <a:lnTo>
                  <a:pt x="0" y="3142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692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87258" y="4266749"/>
            <a:ext cx="6690529" cy="2975561"/>
          </a:xfrm>
          <a:custGeom>
            <a:avLst/>
            <a:gdLst/>
            <a:ahLst/>
            <a:cxnLst/>
            <a:rect r="r" b="b" t="t" l="l"/>
            <a:pathLst>
              <a:path h="2975561" w="6690529">
                <a:moveTo>
                  <a:pt x="0" y="0"/>
                </a:moveTo>
                <a:lnTo>
                  <a:pt x="6690529" y="0"/>
                </a:lnTo>
                <a:lnTo>
                  <a:pt x="6690529" y="2975561"/>
                </a:lnTo>
                <a:lnTo>
                  <a:pt x="0" y="29755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97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08 / 16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47493" y="1184272"/>
            <a:ext cx="1233825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Two Ansatz Families - case study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47493" y="9003535"/>
            <a:ext cx="11362006" cy="88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i="true">
                <a:solidFill>
                  <a:srgbClr val="525C7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S. Sim, P. D. Johnson, and A. Aspuru‐Guzik, "Expressibility and entangling capability of parameterized quantum circuits for hybrid quantum‐classical algorithms," Adv. Quantum Technol., vol. 2, no. 12, p. 1900070, Dec. 2019, doi: 10.1002/qute.201900070.</a:t>
            </a:r>
          </a:p>
          <a:p>
            <a:pPr algn="l">
              <a:lnSpc>
                <a:spcPts val="1799"/>
              </a:lnSpc>
            </a:pPr>
          </a:p>
          <a:p>
            <a:pPr algn="l">
              <a:lnSpc>
                <a:spcPts val="18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147493" y="3411711"/>
            <a:ext cx="3280744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>
                <a:solidFill>
                  <a:srgbClr val="667085"/>
                </a:solidFill>
                <a:latin typeface="Arimo"/>
                <a:ea typeface="Arimo"/>
                <a:cs typeface="Arimo"/>
                <a:sym typeface="Arimo"/>
              </a:rPr>
              <a:t>CRX / CRY / ring entanglement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47493" y="2987531"/>
            <a:ext cx="446476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ansatz_simulator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3436438"/>
            <a:ext cx="3663293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>
                <a:solidFill>
                  <a:srgbClr val="667085"/>
                </a:solidFill>
                <a:latin typeface="Arimo"/>
                <a:ea typeface="Arimo"/>
                <a:cs typeface="Arimo"/>
                <a:sym typeface="Arimo"/>
              </a:rPr>
              <a:t>RZ + CZ native / ring entanglement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2987531"/>
            <a:ext cx="50086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ansatz_odra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6133552" y="6918491"/>
            <a:ext cx="278516" cy="647637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4971882" y="7605861"/>
            <a:ext cx="3280744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>
                <a:solidFill>
                  <a:srgbClr val="667085"/>
                </a:solidFill>
                <a:latin typeface="Arimo"/>
                <a:ea typeface="Arimo"/>
                <a:cs typeface="Arimo"/>
                <a:sym typeface="Arimo"/>
              </a:rPr>
              <a:t>parameterized entangling gate </a:t>
            </a:r>
          </a:p>
        </p:txBody>
      </p:sp>
      <p:sp>
        <p:nvSpPr>
          <p:cNvPr name="AutoShape 22" id="22"/>
          <p:cNvSpPr/>
          <p:nvPr/>
        </p:nvSpPr>
        <p:spPr>
          <a:xfrm flipH="true" flipV="true">
            <a:off x="10679630" y="7007848"/>
            <a:ext cx="278516" cy="647637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 flipV="true">
            <a:off x="10996496" y="5565936"/>
            <a:ext cx="136573" cy="2089028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10004722" y="7634436"/>
            <a:ext cx="4483248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>
                <a:solidFill>
                  <a:srgbClr val="667085"/>
                </a:solidFill>
                <a:latin typeface="Arimo"/>
                <a:ea typeface="Arimo"/>
                <a:cs typeface="Arimo"/>
                <a:sym typeface="Arimo"/>
              </a:rPr>
              <a:t>parameterized gate + native entangling gate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1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2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687708" y="2455456"/>
            <a:ext cx="5855684" cy="5474545"/>
          </a:xfrm>
          <a:custGeom>
            <a:avLst/>
            <a:gdLst/>
            <a:ahLst/>
            <a:cxnLst/>
            <a:rect r="r" b="b" t="t" l="l"/>
            <a:pathLst>
              <a:path h="5474545" w="5855684">
                <a:moveTo>
                  <a:pt x="0" y="0"/>
                </a:moveTo>
                <a:lnTo>
                  <a:pt x="5855684" y="0"/>
                </a:lnTo>
                <a:lnTo>
                  <a:pt x="5855684" y="5474545"/>
                </a:lnTo>
                <a:lnTo>
                  <a:pt x="0" y="54745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07 / 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4042" y="1184272"/>
            <a:ext cx="920650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Experimental setup - case study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33992" y="3043151"/>
            <a:ext cx="6948718" cy="4685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sz="2400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Dataset: </a:t>
            </a:r>
            <a:r>
              <a:rPr lang="en-US" sz="24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Banknote Authentication Dataset, binary classification, well-balanced data.</a:t>
            </a:r>
          </a:p>
          <a:p>
            <a:pPr algn="l">
              <a:lnSpc>
                <a:spcPts val="3111"/>
              </a:lnSpc>
            </a:pPr>
          </a:p>
          <a:p>
            <a:pPr algn="l">
              <a:lnSpc>
                <a:spcPts val="3111"/>
              </a:lnSpc>
            </a:pPr>
            <a:r>
              <a:rPr lang="en-US" sz="2400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 IQM Spark Odra 5:</a:t>
            </a:r>
          </a:p>
          <a:p>
            <a:pPr algn="l">
              <a:lnSpc>
                <a:spcPts val="3111"/>
              </a:lnSpc>
            </a:pPr>
            <a:r>
              <a:rPr lang="en-US" sz="24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A superconducting QPU with 5 physical qubits.</a:t>
            </a:r>
          </a:p>
          <a:p>
            <a:pPr algn="l">
              <a:lnSpc>
                <a:spcPts val="3111"/>
              </a:lnSpc>
            </a:pPr>
          </a:p>
          <a:p>
            <a:pPr algn="l">
              <a:lnSpc>
                <a:spcPts val="3111"/>
              </a:lnSpc>
            </a:pPr>
            <a:r>
              <a:rPr lang="en-US" sz="2400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Topology: </a:t>
            </a:r>
            <a:r>
              <a:rPr lang="en-US" sz="24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Star topology with a third qubit </a:t>
            </a:r>
          </a:p>
          <a:p>
            <a:pPr algn="l">
              <a:lnSpc>
                <a:spcPts val="3111"/>
              </a:lnSpc>
            </a:pPr>
            <a:r>
              <a:rPr lang="en-US" sz="24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as a hub.</a:t>
            </a:r>
          </a:p>
          <a:p>
            <a:pPr algn="l">
              <a:lnSpc>
                <a:spcPts val="3111"/>
              </a:lnSpc>
            </a:pPr>
          </a:p>
          <a:p>
            <a:pPr algn="l">
              <a:lnSpc>
                <a:spcPts val="3111"/>
              </a:lnSpc>
            </a:pPr>
            <a:r>
              <a:rPr lang="en-US" sz="2400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Native gates.  </a:t>
            </a:r>
            <a:r>
              <a:rPr lang="en-US" sz="24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CZ two-qubit entangler </a:t>
            </a:r>
          </a:p>
          <a:p>
            <a:pPr algn="l">
              <a:lnSpc>
                <a:spcPts val="3111"/>
              </a:lnSpc>
            </a:pPr>
            <a:r>
              <a:rPr lang="en-US" sz="2400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and R(θ, φ) single-qubit rotations.</a:t>
            </a:r>
          </a:p>
          <a:p>
            <a:pPr algn="l">
              <a:lnSpc>
                <a:spcPts val="311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147493" y="8994010"/>
            <a:ext cx="1136200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>
                <a:solidFill>
                  <a:srgbClr val="525C7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UCI Machine Learning Repository, “</a:t>
            </a:r>
            <a:r>
              <a:rPr lang="en-US" sz="1500" i="true">
                <a:solidFill>
                  <a:srgbClr val="525C7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Banknote Authentication Dataset.”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10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3927" y="1184272"/>
            <a:ext cx="325405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Pilot Study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33927" y="2427218"/>
            <a:ext cx="15557497" cy="955672"/>
            <a:chOff x="0" y="0"/>
            <a:chExt cx="20743329" cy="12742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43418" cy="1274318"/>
            </a:xfrm>
            <a:custGeom>
              <a:avLst/>
              <a:gdLst/>
              <a:ahLst/>
              <a:cxnLst/>
              <a:rect r="r" b="b" t="t" l="l"/>
              <a:pathLst>
                <a:path h="1274318" w="20743418">
                  <a:moveTo>
                    <a:pt x="0" y="140209"/>
                  </a:moveTo>
                  <a:cubicBezTo>
                    <a:pt x="0" y="62708"/>
                    <a:pt x="60833" y="0"/>
                    <a:pt x="136017" y="0"/>
                  </a:cubicBezTo>
                  <a:lnTo>
                    <a:pt x="20607401" y="0"/>
                  </a:lnTo>
                  <a:cubicBezTo>
                    <a:pt x="20682458" y="0"/>
                    <a:pt x="20743418" y="62708"/>
                    <a:pt x="20743418" y="140209"/>
                  </a:cubicBezTo>
                  <a:lnTo>
                    <a:pt x="20743418" y="1134111"/>
                  </a:lnTo>
                  <a:cubicBezTo>
                    <a:pt x="20743418" y="1211482"/>
                    <a:pt x="20682586" y="1274318"/>
                    <a:pt x="20607401" y="1274318"/>
                  </a:cubicBezTo>
                  <a:lnTo>
                    <a:pt x="136017" y="1274318"/>
                  </a:lnTo>
                  <a:cubicBezTo>
                    <a:pt x="60833" y="1274190"/>
                    <a:pt x="0" y="1211482"/>
                    <a:pt x="0" y="1134111"/>
                  </a:cubicBezTo>
                  <a:close/>
                </a:path>
              </a:pathLst>
            </a:custGeom>
            <a:solidFill>
              <a:srgbClr val="ECEFF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581399" y="2479869"/>
            <a:ext cx="14862553" cy="903020"/>
            <a:chOff x="0" y="0"/>
            <a:chExt cx="19816737" cy="12040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16741" cy="1204033"/>
            </a:xfrm>
            <a:custGeom>
              <a:avLst/>
              <a:gdLst/>
              <a:ahLst/>
              <a:cxnLst/>
              <a:rect r="r" b="b" t="t" l="l"/>
              <a:pathLst>
                <a:path h="1204033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1204033"/>
                  </a:lnTo>
                  <a:lnTo>
                    <a:pt x="0" y="12040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117" r="0" b="-2382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816737" cy="1213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4"/>
                </a:lnSpc>
              </a:pPr>
              <a:r>
                <a:rPr lang="en-US" sz="2599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A short pilot run selects the </a:t>
              </a:r>
              <a:r>
                <a:rPr lang="en-US" b="true" sz="2599" i="true">
                  <a:solidFill>
                    <a:srgbClr val="191E3A"/>
                  </a:solidFill>
                  <a:latin typeface="DM Sans Bold Italics"/>
                  <a:ea typeface="DM Sans Bold Italics"/>
                  <a:cs typeface="DM Sans Bold Italics"/>
                  <a:sym typeface="DM Sans Bold Italics"/>
                </a:rPr>
                <a:t>hardware budget</a:t>
              </a:r>
              <a:r>
                <a:rPr lang="en-US" sz="2599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 before the full experiment, so results are statistically reliable and comparable.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5" id="15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53" t="0" r="-753" b="-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7" id="17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79" t="0" r="-382" b="-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233927" y="3982964"/>
            <a:ext cx="14722574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shots</a:t>
            </a: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– repetitions of one circuit per evaluation;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average over shots to fight </a:t>
            </a: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quantum measurement noise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repeats</a:t>
            </a: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– independent re-runs of that evaluation;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average over repeats to reduce </a:t>
            </a: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IQM SPARK callibration drift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46792" y="6777019"/>
            <a:ext cx="4102271" cy="1945464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02377" y="6900101"/>
            <a:ext cx="3483095" cy="1139908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355485" y="6707029"/>
            <a:ext cx="4869180" cy="2079363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77118" y="8024675"/>
            <a:ext cx="9738360" cy="244952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546994" y="7890819"/>
            <a:ext cx="6117064" cy="2003472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5878" y="9576940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2/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5759" y="1146172"/>
            <a:ext cx="44160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Meyer-W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allach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3979" y="2427218"/>
            <a:ext cx="15737444" cy="1428264"/>
            <a:chOff x="0" y="0"/>
            <a:chExt cx="20983259" cy="190435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983259" cy="1904352"/>
              <a:chOff x="0" y="0"/>
              <a:chExt cx="20983259" cy="19043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983347" cy="1904441"/>
              </a:xfrm>
              <a:custGeom>
                <a:avLst/>
                <a:gdLst/>
                <a:ahLst/>
                <a:cxnLst/>
                <a:rect r="r" b="b" t="t" l="l"/>
                <a:pathLst>
                  <a:path h="1904441" w="20983347">
                    <a:moveTo>
                      <a:pt x="0" y="209545"/>
                    </a:moveTo>
                    <a:cubicBezTo>
                      <a:pt x="0" y="93718"/>
                      <a:pt x="61537" y="0"/>
                      <a:pt x="137590" y="0"/>
                    </a:cubicBezTo>
                    <a:lnTo>
                      <a:pt x="20845759" y="0"/>
                    </a:lnTo>
                    <a:cubicBezTo>
                      <a:pt x="20921684" y="0"/>
                      <a:pt x="20983347" y="93718"/>
                      <a:pt x="20983347" y="209545"/>
                    </a:cubicBezTo>
                    <a:lnTo>
                      <a:pt x="20983347" y="1694944"/>
                    </a:lnTo>
                    <a:cubicBezTo>
                      <a:pt x="20983347" y="1810575"/>
                      <a:pt x="20921813" y="1904441"/>
                      <a:pt x="20845759" y="1904441"/>
                    </a:cubicBezTo>
                    <a:lnTo>
                      <a:pt x="137590" y="1904441"/>
                    </a:lnTo>
                    <a:cubicBezTo>
                      <a:pt x="61537" y="1904293"/>
                      <a:pt x="0" y="1810575"/>
                      <a:pt x="0" y="169494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06800" y="350162"/>
              <a:ext cx="17255788" cy="1204028"/>
              <a:chOff x="0" y="0"/>
              <a:chExt cx="15684578" cy="10943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684582" cy="1094402"/>
              </a:xfrm>
              <a:custGeom>
                <a:avLst/>
                <a:gdLst/>
                <a:ahLst/>
                <a:cxnLst/>
                <a:rect r="r" b="b" t="t" l="l"/>
                <a:pathLst>
                  <a:path h="1094402" w="15684582">
                    <a:moveTo>
                      <a:pt x="0" y="0"/>
                    </a:moveTo>
                    <a:lnTo>
                      <a:pt x="15684582" y="0"/>
                    </a:lnTo>
                    <a:lnTo>
                      <a:pt x="15684582" y="1094402"/>
                    </a:lnTo>
                    <a:lnTo>
                      <a:pt x="0" y="1094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33481" r="-26345" b="-272163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5684578" cy="110392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Meye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r-Wallach gives a hardware-cheap measure of global entanglement from reduced states matrices.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53979" y="4484131"/>
            <a:ext cx="13312090" cy="12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N random parameter vectors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631109" y="5287717"/>
            <a:ext cx="5025781" cy="1443096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5878" y="9576940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2/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5759" y="1146172"/>
            <a:ext cx="44160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Meyer-W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allach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3979" y="2427218"/>
            <a:ext cx="15737444" cy="1428264"/>
            <a:chOff x="0" y="0"/>
            <a:chExt cx="20983259" cy="190435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983259" cy="1904352"/>
              <a:chOff x="0" y="0"/>
              <a:chExt cx="20983259" cy="19043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983347" cy="1904441"/>
              </a:xfrm>
              <a:custGeom>
                <a:avLst/>
                <a:gdLst/>
                <a:ahLst/>
                <a:cxnLst/>
                <a:rect r="r" b="b" t="t" l="l"/>
                <a:pathLst>
                  <a:path h="1904441" w="20983347">
                    <a:moveTo>
                      <a:pt x="0" y="209545"/>
                    </a:moveTo>
                    <a:cubicBezTo>
                      <a:pt x="0" y="93718"/>
                      <a:pt x="61537" y="0"/>
                      <a:pt x="137590" y="0"/>
                    </a:cubicBezTo>
                    <a:lnTo>
                      <a:pt x="20845759" y="0"/>
                    </a:lnTo>
                    <a:cubicBezTo>
                      <a:pt x="20921684" y="0"/>
                      <a:pt x="20983347" y="93718"/>
                      <a:pt x="20983347" y="209545"/>
                    </a:cubicBezTo>
                    <a:lnTo>
                      <a:pt x="20983347" y="1694944"/>
                    </a:lnTo>
                    <a:cubicBezTo>
                      <a:pt x="20983347" y="1810575"/>
                      <a:pt x="20921813" y="1904441"/>
                      <a:pt x="20845759" y="1904441"/>
                    </a:cubicBezTo>
                    <a:lnTo>
                      <a:pt x="137590" y="1904441"/>
                    </a:lnTo>
                    <a:cubicBezTo>
                      <a:pt x="61537" y="1904293"/>
                      <a:pt x="0" y="1810575"/>
                      <a:pt x="0" y="169494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06800" y="350162"/>
              <a:ext cx="17255788" cy="1204028"/>
              <a:chOff x="0" y="0"/>
              <a:chExt cx="15684578" cy="10943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684582" cy="1094402"/>
              </a:xfrm>
              <a:custGeom>
                <a:avLst/>
                <a:gdLst/>
                <a:ahLst/>
                <a:cxnLst/>
                <a:rect r="r" b="b" t="t" l="l"/>
                <a:pathLst>
                  <a:path h="1094402" w="15684582">
                    <a:moveTo>
                      <a:pt x="0" y="0"/>
                    </a:moveTo>
                    <a:lnTo>
                      <a:pt x="15684582" y="0"/>
                    </a:lnTo>
                    <a:lnTo>
                      <a:pt x="15684582" y="1094402"/>
                    </a:lnTo>
                    <a:lnTo>
                      <a:pt x="0" y="1094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33481" r="-26345" b="-272163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5684578" cy="110392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Meye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r-Wallach gives a hardware-cheap measure of global entanglement from reduced states matrices. 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53979" y="4484131"/>
            <a:ext cx="13312090" cy="245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N random parameter vectors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 N states on IQM Spark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714395" y="5501377"/>
            <a:ext cx="4859210" cy="1417688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5878" y="9576940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2/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5759" y="1146172"/>
            <a:ext cx="44160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Meyer-W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allach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3979" y="2427218"/>
            <a:ext cx="15737444" cy="1428264"/>
            <a:chOff x="0" y="0"/>
            <a:chExt cx="20983259" cy="190435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983259" cy="1904352"/>
              <a:chOff x="0" y="0"/>
              <a:chExt cx="20983259" cy="19043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983347" cy="1904441"/>
              </a:xfrm>
              <a:custGeom>
                <a:avLst/>
                <a:gdLst/>
                <a:ahLst/>
                <a:cxnLst/>
                <a:rect r="r" b="b" t="t" l="l"/>
                <a:pathLst>
                  <a:path h="1904441" w="20983347">
                    <a:moveTo>
                      <a:pt x="0" y="209545"/>
                    </a:moveTo>
                    <a:cubicBezTo>
                      <a:pt x="0" y="93718"/>
                      <a:pt x="61537" y="0"/>
                      <a:pt x="137590" y="0"/>
                    </a:cubicBezTo>
                    <a:lnTo>
                      <a:pt x="20845759" y="0"/>
                    </a:lnTo>
                    <a:cubicBezTo>
                      <a:pt x="20921684" y="0"/>
                      <a:pt x="20983347" y="93718"/>
                      <a:pt x="20983347" y="209545"/>
                    </a:cubicBezTo>
                    <a:lnTo>
                      <a:pt x="20983347" y="1694944"/>
                    </a:lnTo>
                    <a:cubicBezTo>
                      <a:pt x="20983347" y="1810575"/>
                      <a:pt x="20921813" y="1904441"/>
                      <a:pt x="20845759" y="1904441"/>
                    </a:cubicBezTo>
                    <a:lnTo>
                      <a:pt x="137590" y="1904441"/>
                    </a:lnTo>
                    <a:cubicBezTo>
                      <a:pt x="61537" y="1904293"/>
                      <a:pt x="0" y="1810575"/>
                      <a:pt x="0" y="169494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06800" y="350162"/>
              <a:ext cx="17255788" cy="1204028"/>
              <a:chOff x="0" y="0"/>
              <a:chExt cx="15684578" cy="10943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684582" cy="1094402"/>
              </a:xfrm>
              <a:custGeom>
                <a:avLst/>
                <a:gdLst/>
                <a:ahLst/>
                <a:cxnLst/>
                <a:rect r="r" b="b" t="t" l="l"/>
                <a:pathLst>
                  <a:path h="1094402" w="15684582">
                    <a:moveTo>
                      <a:pt x="0" y="0"/>
                    </a:moveTo>
                    <a:lnTo>
                      <a:pt x="15684582" y="0"/>
                    </a:lnTo>
                    <a:lnTo>
                      <a:pt x="15684582" y="1094402"/>
                    </a:lnTo>
                    <a:lnTo>
                      <a:pt x="0" y="1094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33481" r="-26345" b="-272163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5684578" cy="110392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Meye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r-Wallach gives a hardware-cheap measure of global entanglement from reduced states matrices.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53979" y="4484131"/>
            <a:ext cx="13312090" cy="245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N random parameter vectors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 N states on IQM Spark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Reconstruct reduced density matrices 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4871416" y="6363951"/>
            <a:ext cx="9507914" cy="1142612"/>
            <a:chOff x="0" y="0"/>
            <a:chExt cx="8454352" cy="101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54390" cy="1016000"/>
            </a:xfrm>
            <a:custGeom>
              <a:avLst/>
              <a:gdLst/>
              <a:ahLst/>
              <a:cxnLst/>
              <a:rect r="r" b="b" t="t" l="l"/>
              <a:pathLst>
                <a:path h="1016000" w="8454390">
                  <a:moveTo>
                    <a:pt x="0" y="0"/>
                  </a:moveTo>
                  <a:lnTo>
                    <a:pt x="8454390" y="0"/>
                  </a:lnTo>
                  <a:lnTo>
                    <a:pt x="8454390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3929" b="-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5878" y="9576940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2/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5759" y="1146172"/>
            <a:ext cx="44160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Meyer-W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allach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3979" y="2427218"/>
            <a:ext cx="15737444" cy="1428264"/>
            <a:chOff x="0" y="0"/>
            <a:chExt cx="20983259" cy="190435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983259" cy="1904352"/>
              <a:chOff x="0" y="0"/>
              <a:chExt cx="20983259" cy="19043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983347" cy="1904441"/>
              </a:xfrm>
              <a:custGeom>
                <a:avLst/>
                <a:gdLst/>
                <a:ahLst/>
                <a:cxnLst/>
                <a:rect r="r" b="b" t="t" l="l"/>
                <a:pathLst>
                  <a:path h="1904441" w="20983347">
                    <a:moveTo>
                      <a:pt x="0" y="209545"/>
                    </a:moveTo>
                    <a:cubicBezTo>
                      <a:pt x="0" y="93718"/>
                      <a:pt x="61537" y="0"/>
                      <a:pt x="137590" y="0"/>
                    </a:cubicBezTo>
                    <a:lnTo>
                      <a:pt x="20845759" y="0"/>
                    </a:lnTo>
                    <a:cubicBezTo>
                      <a:pt x="20921684" y="0"/>
                      <a:pt x="20983347" y="93718"/>
                      <a:pt x="20983347" y="209545"/>
                    </a:cubicBezTo>
                    <a:lnTo>
                      <a:pt x="20983347" y="1694944"/>
                    </a:lnTo>
                    <a:cubicBezTo>
                      <a:pt x="20983347" y="1810575"/>
                      <a:pt x="20921813" y="1904441"/>
                      <a:pt x="20845759" y="1904441"/>
                    </a:cubicBezTo>
                    <a:lnTo>
                      <a:pt x="137590" y="1904441"/>
                    </a:lnTo>
                    <a:cubicBezTo>
                      <a:pt x="61537" y="1904293"/>
                      <a:pt x="0" y="1810575"/>
                      <a:pt x="0" y="169494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06800" y="350162"/>
              <a:ext cx="17255788" cy="1204028"/>
              <a:chOff x="0" y="0"/>
              <a:chExt cx="15684578" cy="10943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684582" cy="1094402"/>
              </a:xfrm>
              <a:custGeom>
                <a:avLst/>
                <a:gdLst/>
                <a:ahLst/>
                <a:cxnLst/>
                <a:rect r="r" b="b" t="t" l="l"/>
                <a:pathLst>
                  <a:path h="1094402" w="15684582">
                    <a:moveTo>
                      <a:pt x="0" y="0"/>
                    </a:moveTo>
                    <a:lnTo>
                      <a:pt x="15684582" y="0"/>
                    </a:lnTo>
                    <a:lnTo>
                      <a:pt x="15684582" y="1094402"/>
                    </a:lnTo>
                    <a:lnTo>
                      <a:pt x="0" y="1094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33481" r="-26345" b="-272163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5684578" cy="110392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Meye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r-Wallach gives a hardware-cheap measure of global entanglement from reduced states matrices.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53979" y="4484131"/>
            <a:ext cx="13312090" cy="28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N random parameter vectors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 N states on IQM Spark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Reconstruct reduced density matrices 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Compute Meyer-Wallach score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6102209" y="6569527"/>
            <a:ext cx="7008226" cy="1550610"/>
            <a:chOff x="0" y="0"/>
            <a:chExt cx="6887959" cy="152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87972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87972">
                  <a:moveTo>
                    <a:pt x="0" y="0"/>
                  </a:moveTo>
                  <a:lnTo>
                    <a:pt x="6887972" y="0"/>
                  </a:lnTo>
                  <a:lnTo>
                    <a:pt x="6887972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36010" b="-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5878" y="9576940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2/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5759" y="1146172"/>
            <a:ext cx="44160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Meyer-W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allach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3979" y="2427218"/>
            <a:ext cx="15737444" cy="1428264"/>
            <a:chOff x="0" y="0"/>
            <a:chExt cx="20983259" cy="190435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983259" cy="1904352"/>
              <a:chOff x="0" y="0"/>
              <a:chExt cx="20983259" cy="19043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983347" cy="1904441"/>
              </a:xfrm>
              <a:custGeom>
                <a:avLst/>
                <a:gdLst/>
                <a:ahLst/>
                <a:cxnLst/>
                <a:rect r="r" b="b" t="t" l="l"/>
                <a:pathLst>
                  <a:path h="1904441" w="20983347">
                    <a:moveTo>
                      <a:pt x="0" y="209545"/>
                    </a:moveTo>
                    <a:cubicBezTo>
                      <a:pt x="0" y="93718"/>
                      <a:pt x="61537" y="0"/>
                      <a:pt x="137590" y="0"/>
                    </a:cubicBezTo>
                    <a:lnTo>
                      <a:pt x="20845759" y="0"/>
                    </a:lnTo>
                    <a:cubicBezTo>
                      <a:pt x="20921684" y="0"/>
                      <a:pt x="20983347" y="93718"/>
                      <a:pt x="20983347" y="209545"/>
                    </a:cubicBezTo>
                    <a:lnTo>
                      <a:pt x="20983347" y="1694944"/>
                    </a:lnTo>
                    <a:cubicBezTo>
                      <a:pt x="20983347" y="1810575"/>
                      <a:pt x="20921813" y="1904441"/>
                      <a:pt x="20845759" y="1904441"/>
                    </a:cubicBezTo>
                    <a:lnTo>
                      <a:pt x="137590" y="1904441"/>
                    </a:lnTo>
                    <a:cubicBezTo>
                      <a:pt x="61537" y="1904293"/>
                      <a:pt x="0" y="1810575"/>
                      <a:pt x="0" y="169494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06800" y="350162"/>
              <a:ext cx="17255788" cy="1204028"/>
              <a:chOff x="0" y="0"/>
              <a:chExt cx="15684578" cy="10943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684582" cy="1094402"/>
              </a:xfrm>
              <a:custGeom>
                <a:avLst/>
                <a:gdLst/>
                <a:ahLst/>
                <a:cxnLst/>
                <a:rect r="r" b="b" t="t" l="l"/>
                <a:pathLst>
                  <a:path h="1094402" w="15684582">
                    <a:moveTo>
                      <a:pt x="0" y="0"/>
                    </a:moveTo>
                    <a:lnTo>
                      <a:pt x="15684582" y="0"/>
                    </a:lnTo>
                    <a:lnTo>
                      <a:pt x="15684582" y="1094402"/>
                    </a:lnTo>
                    <a:lnTo>
                      <a:pt x="0" y="1094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33481" r="-26345" b="-272163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5684578" cy="110392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Meye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r-Wallach gives a hardware-cheap measure of global entanglement from reduced states matrices.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6" id="16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8" id="18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53979" y="4484131"/>
            <a:ext cx="13312090" cy="28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N random parameter vectors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 N states on IQM Spark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Reconstruct reduced density matrices 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Compute Meyer-Wallach score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6501567" y="6674458"/>
            <a:ext cx="6247611" cy="1340747"/>
            <a:chOff x="0" y="0"/>
            <a:chExt cx="6514059" cy="13979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14084" cy="1397889"/>
            </a:xfrm>
            <a:custGeom>
              <a:avLst/>
              <a:gdLst/>
              <a:ahLst/>
              <a:cxnLst/>
              <a:rect r="r" b="b" t="t" l="l"/>
              <a:pathLst>
                <a:path h="1397889" w="6514084">
                  <a:moveTo>
                    <a:pt x="0" y="0"/>
                  </a:moveTo>
                  <a:lnTo>
                    <a:pt x="6514084" y="0"/>
                  </a:lnTo>
                  <a:lnTo>
                    <a:pt x="6514084" y="1397889"/>
                  </a:lnTo>
                  <a:lnTo>
                    <a:pt x="0" y="1397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28908" b="-2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99355" y="2202179"/>
            <a:ext cx="14862553" cy="721294"/>
            <a:chOff x="0" y="0"/>
            <a:chExt cx="19816737" cy="961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6741" cy="961731"/>
            </a:xfrm>
            <a:custGeom>
              <a:avLst/>
              <a:gdLst/>
              <a:ahLst/>
              <a:cxnLst/>
              <a:rect r="r" b="b" t="t" l="l"/>
              <a:pathLst>
                <a:path h="961731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961731"/>
                  </a:lnTo>
                  <a:lnTo>
                    <a:pt x="0" y="961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486" r="0" b="-32350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816737" cy="97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151883" y="2427218"/>
            <a:ext cx="15557497" cy="948403"/>
            <a:chOff x="0" y="0"/>
            <a:chExt cx="20743329" cy="126453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743329" cy="1264538"/>
              <a:chOff x="0" y="0"/>
              <a:chExt cx="20743329" cy="126453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743418" cy="1264627"/>
              </a:xfrm>
              <a:custGeom>
                <a:avLst/>
                <a:gdLst/>
                <a:ahLst/>
                <a:cxnLst/>
                <a:rect r="r" b="b" t="t" l="l"/>
                <a:pathLst>
                  <a:path h="1264627" w="20743418">
                    <a:moveTo>
                      <a:pt x="0" y="139143"/>
                    </a:moveTo>
                    <a:cubicBezTo>
                      <a:pt x="0" y="62231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62231"/>
                      <a:pt x="20743418" y="139143"/>
                    </a:cubicBezTo>
                    <a:lnTo>
                      <a:pt x="20743418" y="1125486"/>
                    </a:lnTo>
                    <a:cubicBezTo>
                      <a:pt x="20743418" y="1202268"/>
                      <a:pt x="20682586" y="1264627"/>
                      <a:pt x="20607401" y="1264627"/>
                    </a:cubicBezTo>
                    <a:lnTo>
                      <a:pt x="136017" y="1264627"/>
                    </a:lnTo>
                    <a:cubicBezTo>
                      <a:pt x="60833" y="1264499"/>
                      <a:pt x="0" y="1202268"/>
                      <a:pt x="0" y="1125486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38777" y="151406"/>
              <a:ext cx="19816737" cy="961725"/>
              <a:chOff x="0" y="0"/>
              <a:chExt cx="19816737" cy="96172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816741" cy="961731"/>
              </a:xfrm>
              <a:custGeom>
                <a:avLst/>
                <a:gdLst/>
                <a:ahLst/>
                <a:cxnLst/>
                <a:rect r="r" b="b" t="t" l="l"/>
                <a:pathLst>
                  <a:path h="961731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961731"/>
                    </a:lnTo>
                    <a:lnTo>
                      <a:pt x="0" y="96173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79486" r="0" b="-323503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9816737" cy="9712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Simulator-based test suggests a difference, that is not present/observable on QPU</a:t>
                </a:r>
              </a:p>
            </p:txBody>
          </p:sp>
        </p:grpSp>
      </p:grpSp>
      <p:sp>
        <p:nvSpPr>
          <p:cNvPr name="Freeform 19" id="19"/>
          <p:cNvSpPr/>
          <p:nvPr/>
        </p:nvSpPr>
        <p:spPr>
          <a:xfrm flipH="false" flipV="false" rot="0">
            <a:off x="2053175" y="3756621"/>
            <a:ext cx="7545351" cy="4579085"/>
          </a:xfrm>
          <a:custGeom>
            <a:avLst/>
            <a:gdLst/>
            <a:ahLst/>
            <a:cxnLst/>
            <a:rect r="r" b="b" t="t" l="l"/>
            <a:pathLst>
              <a:path h="4579085" w="7545351">
                <a:moveTo>
                  <a:pt x="0" y="0"/>
                </a:moveTo>
                <a:lnTo>
                  <a:pt x="7545351" y="0"/>
                </a:lnTo>
                <a:lnTo>
                  <a:pt x="7545351" y="4579085"/>
                </a:lnTo>
                <a:lnTo>
                  <a:pt x="0" y="45790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253332" y="3832541"/>
            <a:ext cx="7456048" cy="4624638"/>
          </a:xfrm>
          <a:custGeom>
            <a:avLst/>
            <a:gdLst/>
            <a:ahLst/>
            <a:cxnLst/>
            <a:rect r="r" b="b" t="t" l="l"/>
            <a:pathLst>
              <a:path h="4624638" w="7456048">
                <a:moveTo>
                  <a:pt x="0" y="0"/>
                </a:moveTo>
                <a:lnTo>
                  <a:pt x="7456048" y="0"/>
                </a:lnTo>
                <a:lnTo>
                  <a:pt x="7456048" y="4624638"/>
                </a:lnTo>
                <a:lnTo>
                  <a:pt x="0" y="46246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13 / 16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51883" y="1184272"/>
            <a:ext cx="6958757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Meyer-Wallach - Results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67288" y="8555436"/>
            <a:ext cx="10716169" cy="39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Hardware                                                                    Simulator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09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8445" y="1184272"/>
            <a:ext cx="3874145" cy="6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xpressibility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192925" y="9462640"/>
            <a:ext cx="1052829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>
                <a:solidFill>
                  <a:srgbClr val="525C7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Und</a:t>
            </a:r>
            <a:r>
              <a:rPr lang="en-US" sz="1500" i="true">
                <a:solidFill>
                  <a:srgbClr val="525C7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erstanding the Haar measure, </a:t>
            </a:r>
            <a:r>
              <a:rPr lang="en-US" sz="1500" i="true" u="sng">
                <a:solidFill>
                  <a:srgbClr val="525C73"/>
                </a:solidFill>
                <a:latin typeface="DM Sans Italics"/>
                <a:ea typeface="DM Sans Italics"/>
                <a:cs typeface="DM Sans Italics"/>
                <a:sym typeface="DM Sans Italics"/>
                <a:hlinkClick r:id="rId5" tooltip="https://pennylane.ai/profile/glassnotes"/>
              </a:rPr>
              <a:t>Olivia Di Matteo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018445" y="2427218"/>
            <a:ext cx="15557497" cy="948403"/>
            <a:chOff x="0" y="0"/>
            <a:chExt cx="20743329" cy="126453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0743329" cy="1264538"/>
              <a:chOff x="0" y="0"/>
              <a:chExt cx="20743329" cy="126453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743418" cy="1264627"/>
              </a:xfrm>
              <a:custGeom>
                <a:avLst/>
                <a:gdLst/>
                <a:ahLst/>
                <a:cxnLst/>
                <a:rect r="r" b="b" t="t" l="l"/>
                <a:pathLst>
                  <a:path h="1264627" w="20743418">
                    <a:moveTo>
                      <a:pt x="0" y="139143"/>
                    </a:moveTo>
                    <a:cubicBezTo>
                      <a:pt x="0" y="62231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62231"/>
                      <a:pt x="20743418" y="139143"/>
                    </a:cubicBezTo>
                    <a:lnTo>
                      <a:pt x="20743418" y="1125486"/>
                    </a:lnTo>
                    <a:cubicBezTo>
                      <a:pt x="20743418" y="1202268"/>
                      <a:pt x="20682586" y="1264627"/>
                      <a:pt x="20607401" y="1264627"/>
                    </a:cubicBezTo>
                    <a:lnTo>
                      <a:pt x="136017" y="1264627"/>
                    </a:lnTo>
                    <a:cubicBezTo>
                      <a:pt x="60833" y="1264499"/>
                      <a:pt x="0" y="1202268"/>
                      <a:pt x="0" y="1125486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238777" y="151406"/>
              <a:ext cx="19816737" cy="961725"/>
              <a:chOff x="0" y="0"/>
              <a:chExt cx="19816737" cy="96172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816741" cy="961731"/>
              </a:xfrm>
              <a:custGeom>
                <a:avLst/>
                <a:gdLst/>
                <a:ahLst/>
                <a:cxnLst/>
                <a:rect r="r" b="b" t="t" l="l"/>
                <a:pathLst>
                  <a:path h="961731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961731"/>
                    </a:lnTo>
                    <a:lnTo>
                      <a:pt x="0" y="96173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379486" r="0" b="-323503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19816737" cy="9712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Expressibility me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asures how broadly an ansatz explores state space, against the Haar ideal.</a:t>
                </a: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4743878" y="3864165"/>
            <a:ext cx="10078880" cy="4602624"/>
            <a:chOff x="0" y="0"/>
            <a:chExt cx="13438507" cy="61368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7301674" y="0"/>
              <a:ext cx="6136832" cy="6136832"/>
            </a:xfrm>
            <a:custGeom>
              <a:avLst/>
              <a:gdLst/>
              <a:ahLst/>
              <a:cxnLst/>
              <a:rect r="r" b="b" t="t" l="l"/>
              <a:pathLst>
                <a:path h="6136832" w="6136832">
                  <a:moveTo>
                    <a:pt x="0" y="0"/>
                  </a:moveTo>
                  <a:lnTo>
                    <a:pt x="6136833" y="0"/>
                  </a:lnTo>
                  <a:lnTo>
                    <a:pt x="6136833" y="6136832"/>
                  </a:lnTo>
                  <a:lnTo>
                    <a:pt x="0" y="6136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36832" cy="6136832"/>
            </a:xfrm>
            <a:custGeom>
              <a:avLst/>
              <a:gdLst/>
              <a:ahLst/>
              <a:cxnLst/>
              <a:rect r="r" b="b" t="t" l="l"/>
              <a:pathLst>
                <a:path h="6136832" w="6136832">
                  <a:moveTo>
                    <a:pt x="0" y="0"/>
                  </a:moveTo>
                  <a:lnTo>
                    <a:pt x="6136832" y="0"/>
                  </a:lnTo>
                  <a:lnTo>
                    <a:pt x="6136832" y="6136832"/>
                  </a:lnTo>
                  <a:lnTo>
                    <a:pt x="0" y="6136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566012" y="-76200"/>
              <a:ext cx="3003761" cy="921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13"/>
                </a:lnSpc>
                <a:spcBef>
                  <a:spcPct val="0"/>
                </a:spcBef>
              </a:pPr>
              <a:r>
                <a:rPr lang="en-US" sz="4223">
                  <a:solidFill>
                    <a:srgbClr val="191E3A"/>
                  </a:solidFill>
                  <a:latin typeface="Open Sans"/>
                  <a:ea typeface="Open Sans"/>
                  <a:cs typeface="Open Sans"/>
                  <a:sym typeface="Open Sans"/>
                </a:rPr>
                <a:t>Random: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9583899" y="-18998"/>
              <a:ext cx="1682933" cy="864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3"/>
                </a:lnSpc>
                <a:spcBef>
                  <a:spcPct val="0"/>
                </a:spcBef>
              </a:pPr>
              <a:r>
                <a:rPr lang="en-US" sz="3937">
                  <a:solidFill>
                    <a:srgbClr val="191E3A"/>
                  </a:solidFill>
                  <a:latin typeface="Open Sans"/>
                  <a:ea typeface="Open Sans"/>
                  <a:cs typeface="Open Sans"/>
                  <a:sym typeface="Open Sans"/>
                </a:rPr>
                <a:t>Haar: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300">
                <a:solidFill>
                  <a:srgbClr val="E4E4E4"/>
                </a:solidFill>
              </a:rPr>
              <a:t>10 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8445" y="1184272"/>
            <a:ext cx="109982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sz="4200" b="1">
                <a:solidFill>
                  <a:srgbClr val="191E3A"/>
                </a:solidFill>
              </a:rPr>
              <a:t>Expressibility — two complementary views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18445" y="2427218"/>
            <a:ext cx="15557497" cy="1130131"/>
            <a:chOff x="0" y="0"/>
            <a:chExt cx="20743329" cy="150684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743329" cy="1506841"/>
              <a:chOff x="0" y="0"/>
              <a:chExt cx="20743329" cy="150684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743418" cy="1506930"/>
              </a:xfrm>
              <a:custGeom>
                <a:avLst/>
                <a:gdLst/>
                <a:ahLst/>
                <a:cxnLst/>
                <a:rect r="r" b="b" t="t" l="l"/>
                <a:pathLst>
                  <a:path h="1506930" w="20743418">
                    <a:moveTo>
                      <a:pt x="0" y="165805"/>
                    </a:moveTo>
                    <a:cubicBezTo>
                      <a:pt x="0" y="7415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74155"/>
                      <a:pt x="20743418" y="165805"/>
                    </a:cubicBezTo>
                    <a:lnTo>
                      <a:pt x="20743418" y="1341145"/>
                    </a:lnTo>
                    <a:cubicBezTo>
                      <a:pt x="20743418" y="1432639"/>
                      <a:pt x="20682586" y="1506930"/>
                      <a:pt x="20607401" y="1506930"/>
                    </a:cubicBezTo>
                    <a:lnTo>
                      <a:pt x="136017" y="1506930"/>
                    </a:lnTo>
                    <a:cubicBezTo>
                      <a:pt x="60833" y="1506795"/>
                      <a:pt x="0" y="1432639"/>
                      <a:pt x="0" y="1341145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38777" y="151406"/>
              <a:ext cx="19816737" cy="1204028"/>
              <a:chOff x="0" y="0"/>
              <a:chExt cx="19816737" cy="120402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816741" cy="1204034"/>
              </a:xfrm>
              <a:custGeom>
                <a:avLst/>
                <a:gdLst/>
                <a:ahLst/>
                <a:cxnLst/>
                <a:rect r="r" b="b" t="t" l="l"/>
                <a:pathLst>
                  <a:path h="12040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4"/>
                    </a:lnTo>
                    <a:lnTo>
                      <a:pt x="0" y="12040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9816737" cy="12135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Kullback-Leibler (KL) divergence is a statistical measure that quantifies how much two probability distribution differ.</a:t>
                </a:r>
              </a:p>
            </p:txBody>
          </p:sp>
        </p:grpSp>
      </p:grpSp>
      <p:sp>
        <p:nvSpPr>
          <p:cNvPr id="19" name="TextBox 18"/>
          <p:cNvSpPr txBox="1"/>
          <p:nvPr/>
        </p:nvSpPr>
        <p:spPr>
          <a:xfrm>
            <a:off x="502920" y="1874519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>
                <a:solidFill>
                  <a:srgbClr val="444444"/>
                </a:solidFill>
              </a:rPr>
              <a:t>How broadly does the ansatz explore state space?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82880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</a:rPr>
              <a:t>QPU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286000"/>
            <a:ext cx="5120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Expressibility on real IQM Spark hardware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Includes noise, drift, and tomography error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Answers: what actually happens on device?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Metric: D_KL(P_QPU || P_Haar)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82880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00000"/>
                </a:solidFill>
              </a:rPr>
              <a:t>Simulator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286000"/>
            <a:ext cx="5120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Ideal noiseless expressibility (statevector)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Upper bound for the same circuit definitions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Answers: what could the ansatz do without noise?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Metric: D_KL(P_Sim || P_Haar)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893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444444"/>
                </a:solidFill>
              </a:rPr>
              <a:t>Same random parameter pairs, ansätze, depths, bins, and KL definition → results are directly comparable.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300">
                <a:solidFill>
                  <a:srgbClr val="E4E4E4"/>
                </a:solidFill>
              </a:rPr>
              <a:t>10 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8445" y="1184272"/>
            <a:ext cx="7290643" cy="6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sz="4200" b="1">
                <a:solidFill>
                  <a:srgbClr val="191E3A"/>
                </a:solidFill>
              </a:rPr>
              <a:t>KL expressibility — shared protocol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18445" y="2427218"/>
            <a:ext cx="15557497" cy="1130131"/>
            <a:chOff x="0" y="0"/>
            <a:chExt cx="20743329" cy="150684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743329" cy="1506841"/>
              <a:chOff x="0" y="0"/>
              <a:chExt cx="20743329" cy="150684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743418" cy="1506930"/>
              </a:xfrm>
              <a:custGeom>
                <a:avLst/>
                <a:gdLst/>
                <a:ahLst/>
                <a:cxnLst/>
                <a:rect r="r" b="b" t="t" l="l"/>
                <a:pathLst>
                  <a:path h="1506930" w="20743418">
                    <a:moveTo>
                      <a:pt x="0" y="165805"/>
                    </a:moveTo>
                    <a:cubicBezTo>
                      <a:pt x="0" y="7415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74155"/>
                      <a:pt x="20743418" y="165805"/>
                    </a:cubicBezTo>
                    <a:lnTo>
                      <a:pt x="20743418" y="1341145"/>
                    </a:lnTo>
                    <a:cubicBezTo>
                      <a:pt x="20743418" y="1432639"/>
                      <a:pt x="20682586" y="1506930"/>
                      <a:pt x="20607401" y="1506930"/>
                    </a:cubicBezTo>
                    <a:lnTo>
                      <a:pt x="136017" y="1506930"/>
                    </a:lnTo>
                    <a:cubicBezTo>
                      <a:pt x="60833" y="1506795"/>
                      <a:pt x="0" y="1432639"/>
                      <a:pt x="0" y="1341145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38777" y="151406"/>
              <a:ext cx="19816737" cy="1204028"/>
              <a:chOff x="0" y="0"/>
              <a:chExt cx="19816737" cy="120402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816741" cy="1204034"/>
              </a:xfrm>
              <a:custGeom>
                <a:avLst/>
                <a:gdLst/>
                <a:ahLst/>
                <a:cxnLst/>
                <a:rect r="r" b="b" t="t" l="l"/>
                <a:pathLst>
                  <a:path h="12040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4"/>
                    </a:lnTo>
                    <a:lnTo>
                      <a:pt x="0" y="12040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9816737" cy="12135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Kullback-Leibler (KL) divergence is a statistical measure that quantifies how much two probability distribution differ.</a:t>
                </a: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2519079" y="9219562"/>
            <a:ext cx="10911132" cy="68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sz="1400">
                <a:solidFill>
                  <a:srgbClr val="000000"/>
                </a:solidFill>
              </a:rPr>
              <a:t>Sim et al., Adv. Quantum Technol. 2019  ·  Haar reference: Olivia Di Matteo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965960"/>
            <a:ext cx="107899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</a:rPr>
              <a:t>Shared steps (both QPU and Simulator):</a:t>
            </a:r>
          </a:p>
          <a:p>
            <a:pPr algn="l"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</a:rPr>
              <a:t>1. Sample random parameter pairs (θ_a, θ_b) — matched seeds</a:t>
            </a:r>
          </a:p>
          <a:p>
            <a:pPr algn="l"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</a:rPr>
              <a:t>2. For each ansatz and depth, collect pairwise state overlaps F</a:t>
            </a:r>
          </a:p>
          <a:p>
            <a:pPr algn="l"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</a:rPr>
              <a:t>3. Build empirical histogram P(F) and compare to analytic P_Haar(F)</a:t>
            </a:r>
          </a:p>
          <a:p>
            <a:pPr algn="l"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</a:rPr>
              <a:t>4. Expressibility score: D_KL(P_emp || P_Haar)  —  lower is better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300">
                <a:solidFill>
                  <a:srgbClr val="E4E4E4"/>
                </a:solidFill>
              </a:rPr>
              <a:t>10 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8445" y="1184272"/>
            <a:ext cx="7290643" cy="6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sz="4200" b="1">
                <a:solidFill>
                  <a:srgbClr val="191E3A"/>
                </a:solidFill>
              </a:rPr>
              <a:t>KL expressibility — QPU vs Simulator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18445" y="2427218"/>
            <a:ext cx="15557497" cy="1130131"/>
            <a:chOff x="0" y="0"/>
            <a:chExt cx="20743329" cy="150684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743329" cy="1506841"/>
              <a:chOff x="0" y="0"/>
              <a:chExt cx="20743329" cy="150684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743418" cy="1506930"/>
              </a:xfrm>
              <a:custGeom>
                <a:avLst/>
                <a:gdLst/>
                <a:ahLst/>
                <a:cxnLst/>
                <a:rect r="r" b="b" t="t" l="l"/>
                <a:pathLst>
                  <a:path h="1506930" w="20743418">
                    <a:moveTo>
                      <a:pt x="0" y="165805"/>
                    </a:moveTo>
                    <a:cubicBezTo>
                      <a:pt x="0" y="7415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74155"/>
                      <a:pt x="20743418" y="165805"/>
                    </a:cubicBezTo>
                    <a:lnTo>
                      <a:pt x="20743418" y="1341145"/>
                    </a:lnTo>
                    <a:cubicBezTo>
                      <a:pt x="20743418" y="1432639"/>
                      <a:pt x="20682586" y="1506930"/>
                      <a:pt x="20607401" y="1506930"/>
                    </a:cubicBezTo>
                    <a:lnTo>
                      <a:pt x="136017" y="1506930"/>
                    </a:lnTo>
                    <a:cubicBezTo>
                      <a:pt x="60833" y="1506795"/>
                      <a:pt x="0" y="1432639"/>
                      <a:pt x="0" y="1341145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38777" y="151406"/>
              <a:ext cx="19816737" cy="1204028"/>
              <a:chOff x="0" y="0"/>
              <a:chExt cx="19816737" cy="120402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816741" cy="1204034"/>
              </a:xfrm>
              <a:custGeom>
                <a:avLst/>
                <a:gdLst/>
                <a:ahLst/>
                <a:cxnLst/>
                <a:rect r="r" b="b" t="t" l="l"/>
                <a:pathLst>
                  <a:path h="12040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4"/>
                    </a:lnTo>
                    <a:lnTo>
                      <a:pt x="0" y="12040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9816737" cy="12135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Kullback-Leibler (KL) divergence is a statistical measure that quantifies how much two probability distribution differ.</a:t>
                </a: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2519079" y="9219562"/>
            <a:ext cx="10911132" cy="68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sz="1400">
                <a:solidFill>
                  <a:srgbClr val="000000"/>
                </a:solidFill>
              </a:rPr>
              <a:t>Same ansätze (ansatz_odra, ansatz_simulator) and depths on both tracks.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82880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</a:rPr>
              <a:t>QPU (IQM Spark)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286000"/>
            <a:ext cx="5120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Prepare two states on hardware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Full Pauli tomography (3^n bases)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F = Tr(ρ_a ρ_b) with shot noise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Costly — pilot-chosen shots, pairs, iterations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D_KL(P_QPU || P_Haar)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82880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00000"/>
                </a:solidFill>
              </a:rPr>
              <a:t>Simulator (statevector)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286000"/>
            <a:ext cx="5120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Evolve two ideal statevectors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Exact overlap |⟨ψ_a|ψ_b⟩|²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Noiseless fidelities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Cheap — thousands of pairs (e.g. 5000)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</a:rPr>
              <a:t>D_KL(P_Sim || P_Haar)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300">
                <a:solidFill>
                  <a:srgbClr val="E4E4E4"/>
                </a:solidFill>
              </a:rPr>
              <a:t>10 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8445" y="1184272"/>
            <a:ext cx="7290643" cy="6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sz="4200" b="1">
                <a:solidFill>
                  <a:srgbClr val="191E3A"/>
                </a:solidFill>
              </a:rPr>
              <a:t>KL expressibility — from fidelities to score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18445" y="2427218"/>
            <a:ext cx="15557497" cy="1130131"/>
            <a:chOff x="0" y="0"/>
            <a:chExt cx="20743329" cy="150684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743329" cy="1506841"/>
              <a:chOff x="0" y="0"/>
              <a:chExt cx="20743329" cy="150684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743418" cy="1506930"/>
              </a:xfrm>
              <a:custGeom>
                <a:avLst/>
                <a:gdLst/>
                <a:ahLst/>
                <a:cxnLst/>
                <a:rect r="r" b="b" t="t" l="l"/>
                <a:pathLst>
                  <a:path h="1506930" w="20743418">
                    <a:moveTo>
                      <a:pt x="0" y="165805"/>
                    </a:moveTo>
                    <a:cubicBezTo>
                      <a:pt x="0" y="7415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74155"/>
                      <a:pt x="20743418" y="165805"/>
                    </a:cubicBezTo>
                    <a:lnTo>
                      <a:pt x="20743418" y="1341145"/>
                    </a:lnTo>
                    <a:cubicBezTo>
                      <a:pt x="20743418" y="1432639"/>
                      <a:pt x="20682586" y="1506930"/>
                      <a:pt x="20607401" y="1506930"/>
                    </a:cubicBezTo>
                    <a:lnTo>
                      <a:pt x="136017" y="1506930"/>
                    </a:lnTo>
                    <a:cubicBezTo>
                      <a:pt x="60833" y="1506795"/>
                      <a:pt x="0" y="1432639"/>
                      <a:pt x="0" y="1341145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38777" y="151406"/>
              <a:ext cx="19816737" cy="1204028"/>
              <a:chOff x="0" y="0"/>
              <a:chExt cx="19816737" cy="120402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816741" cy="1204034"/>
              </a:xfrm>
              <a:custGeom>
                <a:avLst/>
                <a:gdLst/>
                <a:ahLst/>
                <a:cxnLst/>
                <a:rect r="r" b="b" t="t" l="l"/>
                <a:pathLst>
                  <a:path h="12040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4"/>
                    </a:lnTo>
                    <a:lnTo>
                      <a:pt x="0" y="12040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9816737" cy="12135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Kullback-Leibler (KL) divergence is a statistical measure that quantifies how much two probability distribution differ.</a:t>
                </a: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2519079" y="9219562"/>
            <a:ext cx="10911132" cy="68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sz="1400">
                <a:solidFill>
                  <a:srgbClr val="000000"/>
                </a:solidFill>
              </a:rPr>
              <a:t>Both tracks converge to the same analysis pipeline.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82880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θ pairs  →  QPU: tomography on Spark  |  Sim: statevector evolution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           →  pairwise fidelities F  →  histogram P(F)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444444"/>
                </a:solidFill>
              </a:rPr>
              <a:t>           →  compare to P_Haar  →  KL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00400"/>
            <a:ext cx="10789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</a:rPr>
              <a:t>• Same n_bins, ε-smoothing, and bootstrap confidence intervals</a:t>
            </a:r>
          </a:p>
          <a:p>
            <a:pPr algn="l"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</a:rPr>
              <a:t>• Both ansätze tested at the same depths</a:t>
            </a:r>
          </a:p>
          <a:p>
            <a:pPr algn="l"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</a:rPr>
              <a:t>• Sim: both ansätze approach Haar at depth 4; QPU shows a larger odra–simulator gap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8445" y="1184272"/>
            <a:ext cx="7290643" cy="6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KL expressibility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protocol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18445" y="2427218"/>
            <a:ext cx="15557497" cy="1130131"/>
            <a:chOff x="0" y="0"/>
            <a:chExt cx="20743329" cy="150684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743329" cy="1506841"/>
              <a:chOff x="0" y="0"/>
              <a:chExt cx="20743329" cy="150684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743418" cy="1506930"/>
              </a:xfrm>
              <a:custGeom>
                <a:avLst/>
                <a:gdLst/>
                <a:ahLst/>
                <a:cxnLst/>
                <a:rect r="r" b="b" t="t" l="l"/>
                <a:pathLst>
                  <a:path h="1506930" w="20743418">
                    <a:moveTo>
                      <a:pt x="0" y="165805"/>
                    </a:moveTo>
                    <a:cubicBezTo>
                      <a:pt x="0" y="74155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74155"/>
                      <a:pt x="20743418" y="165805"/>
                    </a:cubicBezTo>
                    <a:lnTo>
                      <a:pt x="20743418" y="1341145"/>
                    </a:lnTo>
                    <a:cubicBezTo>
                      <a:pt x="20743418" y="1432639"/>
                      <a:pt x="20682586" y="1506930"/>
                      <a:pt x="20607401" y="1506930"/>
                    </a:cubicBezTo>
                    <a:lnTo>
                      <a:pt x="136017" y="1506930"/>
                    </a:lnTo>
                    <a:cubicBezTo>
                      <a:pt x="60833" y="1506795"/>
                      <a:pt x="0" y="1432639"/>
                      <a:pt x="0" y="1341145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38777" y="151406"/>
              <a:ext cx="19816737" cy="1204028"/>
              <a:chOff x="0" y="0"/>
              <a:chExt cx="19816737" cy="120402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816741" cy="1204034"/>
              </a:xfrm>
              <a:custGeom>
                <a:avLst/>
                <a:gdLst/>
                <a:ahLst/>
                <a:cxnLst/>
                <a:rect r="r" b="b" t="t" l="l"/>
                <a:pathLst>
                  <a:path h="12040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204034"/>
                    </a:lnTo>
                    <a:lnTo>
                      <a:pt x="0" y="12040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03117" r="0" b="-238276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9816737" cy="12135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Kullback-Leibler (KL) divergence is a statistical measure that quantifies how much two probability distribution differ.</a:t>
                </a: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2519079" y="9219562"/>
            <a:ext cx="10911132" cy="68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lang="en-US" sz="1500" i="true">
                <a:solidFill>
                  <a:srgbClr val="70707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S. Sim, P. D. Johnson, and A. Aspuru‐Guzik, "Expressibility and entangling capability of parameterized quantum circuits for hybrid quantum‐classical algorithms," Adv. Quantum Technol., vol. 2, no. 12, p. 1900070, Dec. 2019, doi: 10.1002/qute.201900070.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3726" y="3547749"/>
            <a:ext cx="13312090" cy="245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Sample random parameter pairs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 both states on IQM Spark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Reconstruct density matrices with full Pauli tomography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Compute hardware-hardware overlap</a:t>
            </a:r>
          </a:p>
          <a:p>
            <a:pPr algn="l" marL="561344" indent="-280672" lvl="1">
              <a:lnSpc>
                <a:spcPts val="3244"/>
              </a:lnSpc>
              <a:spcBef>
                <a:spcPct val="0"/>
              </a:spcBef>
              <a:buAutoNum type="arabicPeriod" startAt="1"/>
            </a:pPr>
            <a:r>
              <a:rPr lang="en-US" sz="26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Compare empirical fidelity histogram with Haar reference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60198" y="5197370"/>
            <a:ext cx="10697779" cy="239162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4307" y="8708744"/>
            <a:ext cx="14862553" cy="966623"/>
            <a:chOff x="0" y="0"/>
            <a:chExt cx="19816737" cy="1288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6741" cy="1288836"/>
            </a:xfrm>
            <a:custGeom>
              <a:avLst/>
              <a:gdLst/>
              <a:ahLst/>
              <a:cxnLst/>
              <a:rect r="r" b="b" t="t" l="l"/>
              <a:pathLst>
                <a:path h="1288836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1288836"/>
                  </a:lnTo>
                  <a:lnTo>
                    <a:pt x="0" y="12888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172" r="0" b="-2160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816737" cy="129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151883" y="2526036"/>
            <a:ext cx="15557497" cy="948403"/>
            <a:chOff x="0" y="0"/>
            <a:chExt cx="20743329" cy="1264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743418" cy="1264627"/>
            </a:xfrm>
            <a:custGeom>
              <a:avLst/>
              <a:gdLst/>
              <a:ahLst/>
              <a:cxnLst/>
              <a:rect r="r" b="b" t="t" l="l"/>
              <a:pathLst>
                <a:path h="1264627" w="20743418">
                  <a:moveTo>
                    <a:pt x="0" y="139143"/>
                  </a:moveTo>
                  <a:cubicBezTo>
                    <a:pt x="0" y="62231"/>
                    <a:pt x="60833" y="0"/>
                    <a:pt x="136017" y="0"/>
                  </a:cubicBezTo>
                  <a:lnTo>
                    <a:pt x="20607401" y="0"/>
                  </a:lnTo>
                  <a:cubicBezTo>
                    <a:pt x="20682458" y="0"/>
                    <a:pt x="20743418" y="62231"/>
                    <a:pt x="20743418" y="139143"/>
                  </a:cubicBezTo>
                  <a:lnTo>
                    <a:pt x="20743418" y="1125486"/>
                  </a:lnTo>
                  <a:cubicBezTo>
                    <a:pt x="20743418" y="1202268"/>
                    <a:pt x="20682586" y="1264627"/>
                    <a:pt x="20607401" y="1264627"/>
                  </a:cubicBezTo>
                  <a:lnTo>
                    <a:pt x="136017" y="1264627"/>
                  </a:lnTo>
                  <a:cubicBezTo>
                    <a:pt x="60833" y="1264499"/>
                    <a:pt x="0" y="1202268"/>
                    <a:pt x="0" y="1125486"/>
                  </a:cubicBezTo>
                  <a:close/>
                </a:path>
              </a:pathLst>
            </a:custGeom>
            <a:solidFill>
              <a:srgbClr val="ECEFF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30966" y="2639591"/>
            <a:ext cx="14862553" cy="721294"/>
            <a:chOff x="0" y="0"/>
            <a:chExt cx="19816737" cy="9617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16741" cy="961731"/>
            </a:xfrm>
            <a:custGeom>
              <a:avLst/>
              <a:gdLst/>
              <a:ahLst/>
              <a:cxnLst/>
              <a:rect r="r" b="b" t="t" l="l"/>
              <a:pathLst>
                <a:path h="961731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961731"/>
                  </a:lnTo>
                  <a:lnTo>
                    <a:pt x="0" y="961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486" r="0" b="-32350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9816737" cy="97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4"/>
                </a:lnSpc>
              </a:pPr>
              <a:r>
                <a:rPr lang="en-US" sz="26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What happened when we swapped to </a:t>
              </a:r>
              <a:r>
                <a:rPr lang="en-US" sz="26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non-parameterized gates.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095584" y="4078821"/>
            <a:ext cx="5808888" cy="4259852"/>
          </a:xfrm>
          <a:custGeom>
            <a:avLst/>
            <a:gdLst/>
            <a:ahLst/>
            <a:cxnLst/>
            <a:rect r="r" b="b" t="t" l="l"/>
            <a:pathLst>
              <a:path h="4259852" w="5808888">
                <a:moveTo>
                  <a:pt x="0" y="0"/>
                </a:moveTo>
                <a:lnTo>
                  <a:pt x="5808888" y="0"/>
                </a:lnTo>
                <a:lnTo>
                  <a:pt x="5808888" y="4259851"/>
                </a:lnTo>
                <a:lnTo>
                  <a:pt x="0" y="4259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025737" y="4078821"/>
            <a:ext cx="5710876" cy="4171424"/>
          </a:xfrm>
          <a:custGeom>
            <a:avLst/>
            <a:gdLst/>
            <a:ahLst/>
            <a:cxnLst/>
            <a:rect r="r" b="b" t="t" l="l"/>
            <a:pathLst>
              <a:path h="4171424" w="5710876">
                <a:moveTo>
                  <a:pt x="0" y="0"/>
                </a:moveTo>
                <a:lnTo>
                  <a:pt x="5710876" y="0"/>
                </a:lnTo>
                <a:lnTo>
                  <a:pt x="5710876" y="4171424"/>
                </a:lnTo>
                <a:lnTo>
                  <a:pt x="0" y="41714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48" t="0" r="0" b="-211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 / 16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51883" y="1184272"/>
            <a:ext cx="641746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Expressibility 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- Results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41497" y="3341835"/>
            <a:ext cx="4605005" cy="56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</a:p>
          <a:p>
            <a:pPr algn="l">
              <a:lnSpc>
                <a:spcPts val="2221"/>
              </a:lnSpc>
            </a:pPr>
            <a:r>
              <a:rPr lang="en-US" sz="1713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KL - divergance</a:t>
            </a:r>
            <a:r>
              <a:rPr lang="en-US" sz="1713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 ∈ [0,∞] - </a:t>
            </a:r>
            <a:r>
              <a:rPr lang="en-US" sz="1713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lower is better.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4307" y="8708744"/>
            <a:ext cx="14862553" cy="966623"/>
            <a:chOff x="0" y="0"/>
            <a:chExt cx="19816737" cy="1288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6741" cy="1288836"/>
            </a:xfrm>
            <a:custGeom>
              <a:avLst/>
              <a:gdLst/>
              <a:ahLst/>
              <a:cxnLst/>
              <a:rect r="r" b="b" t="t" l="l"/>
              <a:pathLst>
                <a:path h="1288836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1288836"/>
                  </a:lnTo>
                  <a:lnTo>
                    <a:pt x="0" y="12888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172" r="0" b="-2160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816737" cy="129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151883" y="2526036"/>
            <a:ext cx="15557497" cy="948403"/>
            <a:chOff x="0" y="0"/>
            <a:chExt cx="20743329" cy="1264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743418" cy="1264627"/>
            </a:xfrm>
            <a:custGeom>
              <a:avLst/>
              <a:gdLst/>
              <a:ahLst/>
              <a:cxnLst/>
              <a:rect r="r" b="b" t="t" l="l"/>
              <a:pathLst>
                <a:path h="1264627" w="20743418">
                  <a:moveTo>
                    <a:pt x="0" y="139143"/>
                  </a:moveTo>
                  <a:cubicBezTo>
                    <a:pt x="0" y="62231"/>
                    <a:pt x="60833" y="0"/>
                    <a:pt x="136017" y="0"/>
                  </a:cubicBezTo>
                  <a:lnTo>
                    <a:pt x="20607401" y="0"/>
                  </a:lnTo>
                  <a:cubicBezTo>
                    <a:pt x="20682458" y="0"/>
                    <a:pt x="20743418" y="62231"/>
                    <a:pt x="20743418" y="139143"/>
                  </a:cubicBezTo>
                  <a:lnTo>
                    <a:pt x="20743418" y="1125486"/>
                  </a:lnTo>
                  <a:cubicBezTo>
                    <a:pt x="20743418" y="1202268"/>
                    <a:pt x="20682586" y="1264627"/>
                    <a:pt x="20607401" y="1264627"/>
                  </a:cubicBezTo>
                  <a:lnTo>
                    <a:pt x="136017" y="1264627"/>
                  </a:lnTo>
                  <a:cubicBezTo>
                    <a:pt x="60833" y="1264499"/>
                    <a:pt x="0" y="1202268"/>
                    <a:pt x="0" y="1125486"/>
                  </a:cubicBezTo>
                  <a:close/>
                </a:path>
              </a:pathLst>
            </a:custGeom>
            <a:solidFill>
              <a:srgbClr val="ECEFF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30966" y="2639591"/>
            <a:ext cx="14862553" cy="721294"/>
            <a:chOff x="0" y="0"/>
            <a:chExt cx="19816737" cy="9617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16741" cy="961731"/>
            </a:xfrm>
            <a:custGeom>
              <a:avLst/>
              <a:gdLst/>
              <a:ahLst/>
              <a:cxnLst/>
              <a:rect r="r" b="b" t="t" l="l"/>
              <a:pathLst>
                <a:path h="961731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961731"/>
                  </a:lnTo>
                  <a:lnTo>
                    <a:pt x="0" y="961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486" r="0" b="-32350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9816737" cy="97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4"/>
                </a:lnSpc>
              </a:pPr>
              <a:r>
                <a:rPr lang="en-US" sz="26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What happened when we swapped to </a:t>
              </a:r>
              <a:r>
                <a:rPr lang="en-US" sz="26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non-parameterized gates.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095584" y="4078821"/>
            <a:ext cx="5808888" cy="4259852"/>
          </a:xfrm>
          <a:custGeom>
            <a:avLst/>
            <a:gdLst/>
            <a:ahLst/>
            <a:cxnLst/>
            <a:rect r="r" b="b" t="t" l="l"/>
            <a:pathLst>
              <a:path h="4259852" w="5808888">
                <a:moveTo>
                  <a:pt x="0" y="0"/>
                </a:moveTo>
                <a:lnTo>
                  <a:pt x="5808888" y="0"/>
                </a:lnTo>
                <a:lnTo>
                  <a:pt x="5808888" y="4259851"/>
                </a:lnTo>
                <a:lnTo>
                  <a:pt x="0" y="4259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025737" y="4078821"/>
            <a:ext cx="5710876" cy="4171424"/>
          </a:xfrm>
          <a:custGeom>
            <a:avLst/>
            <a:gdLst/>
            <a:ahLst/>
            <a:cxnLst/>
            <a:rect r="r" b="b" t="t" l="l"/>
            <a:pathLst>
              <a:path h="4171424" w="5710876">
                <a:moveTo>
                  <a:pt x="0" y="0"/>
                </a:moveTo>
                <a:lnTo>
                  <a:pt x="5710876" y="0"/>
                </a:lnTo>
                <a:lnTo>
                  <a:pt x="5710876" y="4171424"/>
                </a:lnTo>
                <a:lnTo>
                  <a:pt x="0" y="41714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48" t="0" r="0" b="-211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 / 16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51883" y="1184272"/>
            <a:ext cx="641746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Expressibility 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- Results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37310" y="8513481"/>
            <a:ext cx="1398664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At equal depth the native ansatz explores less of the state space than the simulator ansatz.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41497" y="3341835"/>
            <a:ext cx="4605005" cy="56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</a:p>
          <a:p>
            <a:pPr algn="l">
              <a:lnSpc>
                <a:spcPts val="2221"/>
              </a:lnSpc>
            </a:pPr>
            <a:r>
              <a:rPr lang="en-US" sz="1713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KL - divergance</a:t>
            </a:r>
            <a:r>
              <a:rPr lang="en-US" sz="1713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 ∈ [0,∞] - </a:t>
            </a:r>
            <a:r>
              <a:rPr lang="en-US" sz="1713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lower is better.</a:t>
            </a:r>
          </a:p>
        </p:txBody>
      </p:sp>
      <p:sp>
        <p:nvSpPr>
          <p:cNvPr name="AutoShape 25" id="25"/>
          <p:cNvSpPr/>
          <p:nvPr/>
        </p:nvSpPr>
        <p:spPr>
          <a:xfrm flipH="true">
            <a:off x="4956144" y="5143500"/>
            <a:ext cx="1181594" cy="19047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>
            <a:off x="6964669" y="5436123"/>
            <a:ext cx="0" cy="1855740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 flipH="true">
            <a:off x="11464904" y="5658047"/>
            <a:ext cx="395547" cy="1476202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12552044" y="5162547"/>
            <a:ext cx="878168" cy="0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9" id="29"/>
          <p:cNvSpPr txBox="true"/>
          <p:nvPr/>
        </p:nvSpPr>
        <p:spPr>
          <a:xfrm rot="0">
            <a:off x="6350644" y="5048711"/>
            <a:ext cx="981708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  <a:spcBef>
                <a:spcPct val="0"/>
              </a:spcBef>
            </a:pPr>
            <a:r>
              <a:rPr lang="en-US" sz="1500" i="true">
                <a:solidFill>
                  <a:srgbClr val="667085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odra worse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60388" y="5133970"/>
            <a:ext cx="1000125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  <a:spcBef>
                <a:spcPct val="0"/>
              </a:spcBef>
            </a:pPr>
            <a:r>
              <a:rPr lang="en-US" sz="1500" i="true">
                <a:solidFill>
                  <a:srgbClr val="667085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odra better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36888" y="2427218"/>
            <a:ext cx="15557497" cy="948403"/>
            <a:chOff x="0" y="0"/>
            <a:chExt cx="20743329" cy="126453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0743329" cy="1264538"/>
              <a:chOff x="0" y="0"/>
              <a:chExt cx="20743329" cy="126453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743418" cy="1264627"/>
              </a:xfrm>
              <a:custGeom>
                <a:avLst/>
                <a:gdLst/>
                <a:ahLst/>
                <a:cxnLst/>
                <a:rect r="r" b="b" t="t" l="l"/>
                <a:pathLst>
                  <a:path h="1264627" w="20743418">
                    <a:moveTo>
                      <a:pt x="0" y="139143"/>
                    </a:moveTo>
                    <a:cubicBezTo>
                      <a:pt x="0" y="62231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62231"/>
                      <a:pt x="20743418" y="139143"/>
                    </a:cubicBezTo>
                    <a:lnTo>
                      <a:pt x="20743418" y="1125486"/>
                    </a:lnTo>
                    <a:cubicBezTo>
                      <a:pt x="20743418" y="1202268"/>
                      <a:pt x="20682586" y="1264627"/>
                      <a:pt x="20607401" y="1264627"/>
                    </a:cubicBezTo>
                    <a:lnTo>
                      <a:pt x="136017" y="1264627"/>
                    </a:lnTo>
                    <a:cubicBezTo>
                      <a:pt x="60833" y="1264499"/>
                      <a:pt x="0" y="1202268"/>
                      <a:pt x="0" y="1125486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463296" y="109881"/>
              <a:ext cx="19816737" cy="961725"/>
              <a:chOff x="0" y="0"/>
              <a:chExt cx="19816737" cy="96172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816741" cy="961731"/>
              </a:xfrm>
              <a:custGeom>
                <a:avLst/>
                <a:gdLst/>
                <a:ahLst/>
                <a:cxnLst/>
                <a:rect r="r" b="b" t="t" l="l"/>
                <a:pathLst>
                  <a:path h="961731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961731"/>
                    </a:lnTo>
                    <a:lnTo>
                      <a:pt x="0" y="96173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79486" r="0" b="-323503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19816737" cy="9712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Fidelity checks how well QPU prepare the state 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our simulation intended.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3" id="13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5" id="15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46456" y="4412197"/>
            <a:ext cx="9738360" cy="221544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01266" y="7315946"/>
            <a:ext cx="6084769" cy="2275497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07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36888" y="1184272"/>
            <a:ext cx="741197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Fidelity - tomography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236531" y="5993440"/>
            <a:ext cx="5644408" cy="216133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2136888" y="3685698"/>
            <a:ext cx="13217297" cy="89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7"/>
              </a:lnSpc>
            </a:pPr>
            <a:r>
              <a:rPr lang="en-US" sz="27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We reconstruct the hardware density matrix from Pauli-basis measurements on the QPU and compare it with the ideal simulated state through fidelity.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18102" y="2427218"/>
            <a:ext cx="15557497" cy="948403"/>
            <a:chOff x="0" y="0"/>
            <a:chExt cx="20743329" cy="126453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743329" cy="1264538"/>
              <a:chOff x="0" y="0"/>
              <a:chExt cx="20743329" cy="126453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743418" cy="1264627"/>
              </a:xfrm>
              <a:custGeom>
                <a:avLst/>
                <a:gdLst/>
                <a:ahLst/>
                <a:cxnLst/>
                <a:rect r="r" b="b" t="t" l="l"/>
                <a:pathLst>
                  <a:path h="1264627" w="20743418">
                    <a:moveTo>
                      <a:pt x="0" y="139143"/>
                    </a:moveTo>
                    <a:cubicBezTo>
                      <a:pt x="0" y="62231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62231"/>
                      <a:pt x="20743418" y="139143"/>
                    </a:cubicBezTo>
                    <a:lnTo>
                      <a:pt x="20743418" y="1125486"/>
                    </a:lnTo>
                    <a:cubicBezTo>
                      <a:pt x="20743418" y="1202268"/>
                      <a:pt x="20682586" y="1264627"/>
                      <a:pt x="20607401" y="1264627"/>
                    </a:cubicBezTo>
                    <a:lnTo>
                      <a:pt x="136017" y="1264627"/>
                    </a:lnTo>
                    <a:cubicBezTo>
                      <a:pt x="60833" y="1264499"/>
                      <a:pt x="0" y="1202268"/>
                      <a:pt x="0" y="1125486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238777" y="151406"/>
              <a:ext cx="19816737" cy="961725"/>
              <a:chOff x="0" y="0"/>
              <a:chExt cx="19816737" cy="96172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816741" cy="961731"/>
              </a:xfrm>
              <a:custGeom>
                <a:avLst/>
                <a:gdLst/>
                <a:ahLst/>
                <a:cxnLst/>
                <a:rect r="r" b="b" t="t" l="l"/>
                <a:pathLst>
                  <a:path h="961731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961731"/>
                    </a:lnTo>
                    <a:lnTo>
                      <a:pt x="0" y="961731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79486" r="0" b="-323503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19816737" cy="9712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How much does the decomposition affects both ansatze.</a:t>
                </a:r>
              </a:p>
            </p:txBody>
          </p:sp>
        </p:grpSp>
      </p:grpSp>
      <p:sp>
        <p:nvSpPr>
          <p:cNvPr name="Freeform 16" id="16"/>
          <p:cNvSpPr/>
          <p:nvPr/>
        </p:nvSpPr>
        <p:spPr>
          <a:xfrm flipH="false" flipV="false" rot="0">
            <a:off x="5451938" y="3494944"/>
            <a:ext cx="7978274" cy="4856775"/>
          </a:xfrm>
          <a:custGeom>
            <a:avLst/>
            <a:gdLst/>
            <a:ahLst/>
            <a:cxnLst/>
            <a:rect r="r" b="b" t="t" l="l"/>
            <a:pathLst>
              <a:path h="4856775" w="7978274">
                <a:moveTo>
                  <a:pt x="0" y="0"/>
                </a:moveTo>
                <a:lnTo>
                  <a:pt x="7978274" y="0"/>
                </a:lnTo>
                <a:lnTo>
                  <a:pt x="7978274" y="4856774"/>
                </a:lnTo>
                <a:lnTo>
                  <a:pt x="0" y="48567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15878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08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18102" y="1184272"/>
            <a:ext cx="454580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Fidelity - 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43645" y="3308761"/>
            <a:ext cx="4605005" cy="56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</a:p>
          <a:p>
            <a:pPr algn="l">
              <a:lnSpc>
                <a:spcPts val="2221"/>
              </a:lnSpc>
            </a:pPr>
            <a:r>
              <a:rPr lang="en-US" sz="1713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State fidelity ∈ [0,1] - </a:t>
            </a:r>
            <a:r>
              <a:rPr lang="en-US" sz="1713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higher is better.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451938" y="3494944"/>
            <a:ext cx="7978274" cy="4856775"/>
          </a:xfrm>
          <a:custGeom>
            <a:avLst/>
            <a:gdLst/>
            <a:ahLst/>
            <a:cxnLst/>
            <a:rect r="r" b="b" t="t" l="l"/>
            <a:pathLst>
              <a:path h="4856775" w="7978274">
                <a:moveTo>
                  <a:pt x="0" y="0"/>
                </a:moveTo>
                <a:lnTo>
                  <a:pt x="7978274" y="0"/>
                </a:lnTo>
                <a:lnTo>
                  <a:pt x="7978274" y="4856774"/>
                </a:lnTo>
                <a:lnTo>
                  <a:pt x="0" y="48567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15878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08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18102" y="1184272"/>
            <a:ext cx="454580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Fidelity - results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43645" y="3308761"/>
            <a:ext cx="4605005" cy="56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</a:p>
          <a:p>
            <a:pPr algn="l">
              <a:lnSpc>
                <a:spcPts val="2221"/>
              </a:lnSpc>
            </a:pPr>
            <a:r>
              <a:rPr lang="en-US" sz="1713">
                <a:solidFill>
                  <a:srgbClr val="0B1020"/>
                </a:solidFill>
                <a:latin typeface="DM Sans"/>
                <a:ea typeface="DM Sans"/>
                <a:cs typeface="DM Sans"/>
                <a:sym typeface="DM Sans"/>
              </a:rPr>
              <a:t>State fidelity ∈ [0,1] - </a:t>
            </a:r>
            <a:r>
              <a:rPr lang="en-US" sz="1713" b="true">
                <a:solidFill>
                  <a:srgbClr val="0B1020"/>
                </a:solidFill>
                <a:latin typeface="DM Sans Bold"/>
                <a:ea typeface="DM Sans Bold"/>
                <a:cs typeface="DM Sans Bold"/>
                <a:sym typeface="DM Sans Bold"/>
              </a:rPr>
              <a:t>higher is better.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44615" y="8471041"/>
            <a:ext cx="1290447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ansatz_simulator has </a:t>
            </a:r>
            <a:r>
              <a:rPr lang="en-US" b="true" sz="2599" i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significantly worse 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results on real hardware than ansatz_odra</a:t>
            </a:r>
          </a:p>
          <a:p>
            <a:pPr algn="ctr">
              <a:lnSpc>
                <a:spcPts val="3119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Depth 6 results suggest its collapse on hardware.</a:t>
            </a:r>
          </a:p>
        </p:txBody>
      </p:sp>
      <p:sp>
        <p:nvSpPr>
          <p:cNvPr name="AutoShape 16" id="16"/>
          <p:cNvSpPr/>
          <p:nvPr/>
        </p:nvSpPr>
        <p:spPr>
          <a:xfrm flipH="true">
            <a:off x="12476916" y="6487204"/>
            <a:ext cx="1098019" cy="281493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7" id="17"/>
          <p:cNvSpPr txBox="true"/>
          <p:nvPr/>
        </p:nvSpPr>
        <p:spPr>
          <a:xfrm rot="0">
            <a:off x="13746252" y="6300043"/>
            <a:ext cx="3124596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 i="true">
                <a:solidFill>
                  <a:srgbClr val="667085"/>
                </a:solidFill>
                <a:latin typeface="Arimo Italics"/>
                <a:ea typeface="Arimo Italics"/>
                <a:cs typeface="Arimo Italics"/>
                <a:sym typeface="Arimo Italics"/>
              </a:rPr>
              <a:t>suggest the ansatz collapse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9336627" y="5091325"/>
            <a:ext cx="208896" cy="1114112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flipH="true">
            <a:off x="8237948" y="4942356"/>
            <a:ext cx="1093671" cy="297938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9486352" y="4625185"/>
            <a:ext cx="3124596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 i="true">
                <a:solidFill>
                  <a:srgbClr val="667085"/>
                </a:solidFill>
                <a:latin typeface="Arimo Italics"/>
                <a:ea typeface="Arimo Italics"/>
                <a:cs typeface="Arimo Italics"/>
                <a:sym typeface="Arimo Italics"/>
              </a:rPr>
              <a:t>more than 10pp difference</a:t>
            </a:r>
          </a:p>
        </p:txBody>
      </p:sp>
      <p:sp>
        <p:nvSpPr>
          <p:cNvPr name="AutoShape 21" id="21"/>
          <p:cNvSpPr/>
          <p:nvPr/>
        </p:nvSpPr>
        <p:spPr>
          <a:xfrm>
            <a:off x="9911584" y="5103401"/>
            <a:ext cx="1231559" cy="1779596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2118102" y="2427218"/>
            <a:ext cx="15557497" cy="948403"/>
            <a:chOff x="0" y="0"/>
            <a:chExt cx="20743329" cy="126453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0743329" cy="1264538"/>
              <a:chOff x="0" y="0"/>
              <a:chExt cx="20743329" cy="126453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0743418" cy="1264627"/>
              </a:xfrm>
              <a:custGeom>
                <a:avLst/>
                <a:gdLst/>
                <a:ahLst/>
                <a:cxnLst/>
                <a:rect r="r" b="b" t="t" l="l"/>
                <a:pathLst>
                  <a:path h="1264627" w="20743418">
                    <a:moveTo>
                      <a:pt x="0" y="139143"/>
                    </a:moveTo>
                    <a:cubicBezTo>
                      <a:pt x="0" y="62231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62231"/>
                      <a:pt x="20743418" y="139143"/>
                    </a:cubicBezTo>
                    <a:lnTo>
                      <a:pt x="20743418" y="1125486"/>
                    </a:lnTo>
                    <a:cubicBezTo>
                      <a:pt x="20743418" y="1202268"/>
                      <a:pt x="20682586" y="1264627"/>
                      <a:pt x="20607401" y="1264627"/>
                    </a:cubicBezTo>
                    <a:lnTo>
                      <a:pt x="136017" y="1264627"/>
                    </a:lnTo>
                    <a:cubicBezTo>
                      <a:pt x="60833" y="1264499"/>
                      <a:pt x="0" y="1202268"/>
                      <a:pt x="0" y="1125486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8777" y="151406"/>
              <a:ext cx="19816737" cy="961725"/>
              <a:chOff x="0" y="0"/>
              <a:chExt cx="19816737" cy="96172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9816741" cy="961731"/>
              </a:xfrm>
              <a:custGeom>
                <a:avLst/>
                <a:gdLst/>
                <a:ahLst/>
                <a:cxnLst/>
                <a:rect r="r" b="b" t="t" l="l"/>
                <a:pathLst>
                  <a:path h="961731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961731"/>
                    </a:lnTo>
                    <a:lnTo>
                      <a:pt x="0" y="96173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379486" r="0" b="-323503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9525"/>
                <a:ext cx="19816737" cy="9712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How much does the decomposition affects both ansatze.</a:t>
                </a: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90007" y="2264687"/>
            <a:ext cx="14182673" cy="5674848"/>
          </a:xfrm>
          <a:custGeom>
            <a:avLst/>
            <a:gdLst/>
            <a:ahLst/>
            <a:cxnLst/>
            <a:rect r="r" b="b" t="t" l="l"/>
            <a:pathLst>
              <a:path h="5674848" w="14182673">
                <a:moveTo>
                  <a:pt x="0" y="0"/>
                </a:moveTo>
                <a:lnTo>
                  <a:pt x="14182673" y="0"/>
                </a:lnTo>
                <a:lnTo>
                  <a:pt x="14182673" y="5674847"/>
                </a:lnTo>
                <a:lnTo>
                  <a:pt x="0" y="5674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1" t="-11729" r="0" b="-1593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13 / 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82264" y="1184272"/>
            <a:ext cx="1459815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Metrics gap between simulator and QPU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39229" y="8406259"/>
            <a:ext cx="264197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lower is better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90007" y="2264687"/>
            <a:ext cx="14182673" cy="5674848"/>
          </a:xfrm>
          <a:custGeom>
            <a:avLst/>
            <a:gdLst/>
            <a:ahLst/>
            <a:cxnLst/>
            <a:rect r="r" b="b" t="t" l="l"/>
            <a:pathLst>
              <a:path h="5674848" w="14182673">
                <a:moveTo>
                  <a:pt x="0" y="0"/>
                </a:moveTo>
                <a:lnTo>
                  <a:pt x="14182673" y="0"/>
                </a:lnTo>
                <a:lnTo>
                  <a:pt x="14182673" y="5674847"/>
                </a:lnTo>
                <a:lnTo>
                  <a:pt x="0" y="5674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1" t="-11729" r="0" b="-1593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13 / 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82264" y="1184272"/>
            <a:ext cx="1459815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Metrics gap between simulator and QPU</a:t>
            </a:r>
          </a:p>
        </p:txBody>
      </p:sp>
      <p:sp>
        <p:nvSpPr>
          <p:cNvPr name="AutoShape 14" id="14"/>
          <p:cNvSpPr/>
          <p:nvPr/>
        </p:nvSpPr>
        <p:spPr>
          <a:xfrm flipH="true" flipV="true">
            <a:off x="5028244" y="7702402"/>
            <a:ext cx="2556556" cy="994409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 flipV="true">
            <a:off x="10500729" y="7571632"/>
            <a:ext cx="2092937" cy="1109398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7849990" y="8639661"/>
            <a:ext cx="2788633" cy="62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 i="true">
                <a:solidFill>
                  <a:srgbClr val="667085"/>
                </a:solidFill>
                <a:latin typeface="Arimo Italics"/>
                <a:ea typeface="Arimo Italics"/>
                <a:cs typeface="Arimo Italics"/>
                <a:sym typeface="Arimo Italics"/>
              </a:rPr>
              <a:t>the transmission gap for ansatz_odra is almost 0%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39229" y="8406259"/>
            <a:ext cx="264197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lower is better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90007" y="2264687"/>
            <a:ext cx="14182673" cy="5674848"/>
          </a:xfrm>
          <a:custGeom>
            <a:avLst/>
            <a:gdLst/>
            <a:ahLst/>
            <a:cxnLst/>
            <a:rect r="r" b="b" t="t" l="l"/>
            <a:pathLst>
              <a:path h="5674848" w="14182673">
                <a:moveTo>
                  <a:pt x="0" y="0"/>
                </a:moveTo>
                <a:lnTo>
                  <a:pt x="14182673" y="0"/>
                </a:lnTo>
                <a:lnTo>
                  <a:pt x="14182673" y="5674847"/>
                </a:lnTo>
                <a:lnTo>
                  <a:pt x="0" y="5674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1" t="-11729" r="0" b="-1593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13 / 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82264" y="1184272"/>
            <a:ext cx="1459815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Metrics gap between simulator and QPU</a:t>
            </a:r>
          </a:p>
        </p:txBody>
      </p:sp>
      <p:sp>
        <p:nvSpPr>
          <p:cNvPr name="AutoShape 14" id="14"/>
          <p:cNvSpPr/>
          <p:nvPr/>
        </p:nvSpPr>
        <p:spPr>
          <a:xfrm flipH="true" flipV="true">
            <a:off x="7818118" y="7691605"/>
            <a:ext cx="702889" cy="672574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 flipV="true">
            <a:off x="11668683" y="7710059"/>
            <a:ext cx="3845613" cy="654120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8209607" y="8498498"/>
            <a:ext cx="3671331" cy="62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 i="true">
                <a:solidFill>
                  <a:srgbClr val="667085"/>
                </a:solidFill>
                <a:latin typeface="Arimo Italics"/>
                <a:ea typeface="Arimo Italics"/>
                <a:cs typeface="Arimo Italics"/>
                <a:sym typeface="Arimo Italics"/>
              </a:rPr>
              <a:t>collapse at depth 6 resulting from exceeding the device's noise budget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39229" y="8406259"/>
            <a:ext cx="264197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lower is better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08313" y="2427218"/>
            <a:ext cx="15557497" cy="1539706"/>
            <a:chOff x="0" y="0"/>
            <a:chExt cx="20743329" cy="205294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743329" cy="2052941"/>
              <a:chOff x="0" y="0"/>
              <a:chExt cx="20743329" cy="205294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743418" cy="2053030"/>
              </a:xfrm>
              <a:custGeom>
                <a:avLst/>
                <a:gdLst/>
                <a:ahLst/>
                <a:cxnLst/>
                <a:rect r="r" b="b" t="t" l="l"/>
                <a:pathLst>
                  <a:path h="2053030" w="20743418">
                    <a:moveTo>
                      <a:pt x="0" y="225895"/>
                    </a:moveTo>
                    <a:cubicBezTo>
                      <a:pt x="0" y="101030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101030"/>
                      <a:pt x="20743418" y="225895"/>
                    </a:cubicBezTo>
                    <a:lnTo>
                      <a:pt x="20743418" y="1827194"/>
                    </a:lnTo>
                    <a:cubicBezTo>
                      <a:pt x="20743418" y="1951848"/>
                      <a:pt x="20682586" y="2053030"/>
                      <a:pt x="20607401" y="2053030"/>
                    </a:cubicBezTo>
                    <a:lnTo>
                      <a:pt x="136017" y="2053030"/>
                    </a:lnTo>
                    <a:cubicBezTo>
                      <a:pt x="60833" y="2052878"/>
                      <a:pt x="0" y="1951848"/>
                      <a:pt x="0" y="182719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63296" y="109881"/>
              <a:ext cx="19816737" cy="1750128"/>
              <a:chOff x="0" y="0"/>
              <a:chExt cx="19816737" cy="175012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816741" cy="1750134"/>
              </a:xfrm>
              <a:custGeom>
                <a:avLst/>
                <a:gdLst/>
                <a:ahLst/>
                <a:cxnLst/>
                <a:rect r="r" b="b" t="t" l="l"/>
                <a:pathLst>
                  <a:path h="17501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750134"/>
                    </a:lnTo>
                    <a:lnTo>
                      <a:pt x="0" y="17501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08534" r="0" b="-132722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19816737" cy="17596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We started from a simple problem: ansätze are usually validated in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 simulation, but their real behavior depends on QPU constraints. We created framework for evaluation which consists of few tests</a:t>
                </a: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14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1883" y="1184272"/>
            <a:ext cx="347640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onclusions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08313" y="2427218"/>
            <a:ext cx="15557497" cy="1539706"/>
            <a:chOff x="0" y="0"/>
            <a:chExt cx="20743329" cy="205294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743329" cy="2052941"/>
              <a:chOff x="0" y="0"/>
              <a:chExt cx="20743329" cy="205294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743418" cy="2053030"/>
              </a:xfrm>
              <a:custGeom>
                <a:avLst/>
                <a:gdLst/>
                <a:ahLst/>
                <a:cxnLst/>
                <a:rect r="r" b="b" t="t" l="l"/>
                <a:pathLst>
                  <a:path h="2053030" w="20743418">
                    <a:moveTo>
                      <a:pt x="0" y="225895"/>
                    </a:moveTo>
                    <a:cubicBezTo>
                      <a:pt x="0" y="101030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101030"/>
                      <a:pt x="20743418" y="225895"/>
                    </a:cubicBezTo>
                    <a:lnTo>
                      <a:pt x="20743418" y="1827194"/>
                    </a:lnTo>
                    <a:cubicBezTo>
                      <a:pt x="20743418" y="1951848"/>
                      <a:pt x="20682586" y="2053030"/>
                      <a:pt x="20607401" y="2053030"/>
                    </a:cubicBezTo>
                    <a:lnTo>
                      <a:pt x="136017" y="2053030"/>
                    </a:lnTo>
                    <a:cubicBezTo>
                      <a:pt x="60833" y="2052878"/>
                      <a:pt x="0" y="1951848"/>
                      <a:pt x="0" y="182719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63296" y="109881"/>
              <a:ext cx="19816737" cy="1750128"/>
              <a:chOff x="0" y="0"/>
              <a:chExt cx="19816737" cy="175012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816741" cy="1750134"/>
              </a:xfrm>
              <a:custGeom>
                <a:avLst/>
                <a:gdLst/>
                <a:ahLst/>
                <a:cxnLst/>
                <a:rect r="r" b="b" t="t" l="l"/>
                <a:pathLst>
                  <a:path h="17501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750134"/>
                    </a:lnTo>
                    <a:lnTo>
                      <a:pt x="0" y="17501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08534" r="0" b="-132722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19816737" cy="17596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We started from a simple problem: ansätze are usually validated in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 simulation, but their real behavior depends on QPU constraints. We created framework for evaluation which consists of few tests</a:t>
                </a: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14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1883" y="1184272"/>
            <a:ext cx="347640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onclusions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67642" y="4334302"/>
            <a:ext cx="15498168" cy="8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Fidelity</a:t>
            </a:r>
          </a:p>
          <a:p>
            <a:pPr algn="l">
              <a:lnSpc>
                <a:spcPts val="3273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how well c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an we 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epresent th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 ideal state?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08313" y="2427218"/>
            <a:ext cx="15557497" cy="1539706"/>
            <a:chOff x="0" y="0"/>
            <a:chExt cx="20743329" cy="205294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743329" cy="2052941"/>
              <a:chOff x="0" y="0"/>
              <a:chExt cx="20743329" cy="205294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743418" cy="2053030"/>
              </a:xfrm>
              <a:custGeom>
                <a:avLst/>
                <a:gdLst/>
                <a:ahLst/>
                <a:cxnLst/>
                <a:rect r="r" b="b" t="t" l="l"/>
                <a:pathLst>
                  <a:path h="2053030" w="20743418">
                    <a:moveTo>
                      <a:pt x="0" y="225895"/>
                    </a:moveTo>
                    <a:cubicBezTo>
                      <a:pt x="0" y="101030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101030"/>
                      <a:pt x="20743418" y="225895"/>
                    </a:cubicBezTo>
                    <a:lnTo>
                      <a:pt x="20743418" y="1827194"/>
                    </a:lnTo>
                    <a:cubicBezTo>
                      <a:pt x="20743418" y="1951848"/>
                      <a:pt x="20682586" y="2053030"/>
                      <a:pt x="20607401" y="2053030"/>
                    </a:cubicBezTo>
                    <a:lnTo>
                      <a:pt x="136017" y="2053030"/>
                    </a:lnTo>
                    <a:cubicBezTo>
                      <a:pt x="60833" y="2052878"/>
                      <a:pt x="0" y="1951848"/>
                      <a:pt x="0" y="182719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63296" y="109881"/>
              <a:ext cx="19816737" cy="1750128"/>
              <a:chOff x="0" y="0"/>
              <a:chExt cx="19816737" cy="175012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816741" cy="1750134"/>
              </a:xfrm>
              <a:custGeom>
                <a:avLst/>
                <a:gdLst/>
                <a:ahLst/>
                <a:cxnLst/>
                <a:rect r="r" b="b" t="t" l="l"/>
                <a:pathLst>
                  <a:path h="17501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750134"/>
                    </a:lnTo>
                    <a:lnTo>
                      <a:pt x="0" y="17501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08534" r="0" b="-132722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19816737" cy="17596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We started from a simple problem: ansätze are usually validated in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 simulation, but their real behavior depends on QPU constraints. We created framework for evaluation which consists of few tests</a:t>
                </a: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14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1883" y="1184272"/>
            <a:ext cx="347640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onclusions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67642" y="4334302"/>
            <a:ext cx="15498168" cy="8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Fidelity</a:t>
            </a:r>
          </a:p>
          <a:p>
            <a:pPr algn="l">
              <a:lnSpc>
                <a:spcPts val="3273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how well c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an we 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epresent th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 ideal state?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08313" y="5514970"/>
            <a:ext cx="15498168" cy="8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KL </a:t>
            </a: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expressibility</a:t>
            </a:r>
          </a:p>
          <a:p>
            <a:pPr algn="l">
              <a:lnSpc>
                <a:spcPts val="3273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how 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does QPU noise chang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 expressibili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ty?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08313" y="2427218"/>
            <a:ext cx="15557497" cy="1539706"/>
            <a:chOff x="0" y="0"/>
            <a:chExt cx="20743329" cy="205294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743329" cy="2052941"/>
              <a:chOff x="0" y="0"/>
              <a:chExt cx="20743329" cy="205294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743418" cy="2053030"/>
              </a:xfrm>
              <a:custGeom>
                <a:avLst/>
                <a:gdLst/>
                <a:ahLst/>
                <a:cxnLst/>
                <a:rect r="r" b="b" t="t" l="l"/>
                <a:pathLst>
                  <a:path h="2053030" w="20743418">
                    <a:moveTo>
                      <a:pt x="0" y="225895"/>
                    </a:moveTo>
                    <a:cubicBezTo>
                      <a:pt x="0" y="101030"/>
                      <a:pt x="60833" y="0"/>
                      <a:pt x="136017" y="0"/>
                    </a:cubicBezTo>
                    <a:lnTo>
                      <a:pt x="20607401" y="0"/>
                    </a:lnTo>
                    <a:cubicBezTo>
                      <a:pt x="20682458" y="0"/>
                      <a:pt x="20743418" y="101030"/>
                      <a:pt x="20743418" y="225895"/>
                    </a:cubicBezTo>
                    <a:lnTo>
                      <a:pt x="20743418" y="1827194"/>
                    </a:lnTo>
                    <a:cubicBezTo>
                      <a:pt x="20743418" y="1951848"/>
                      <a:pt x="20682586" y="2053030"/>
                      <a:pt x="20607401" y="2053030"/>
                    </a:cubicBezTo>
                    <a:lnTo>
                      <a:pt x="136017" y="2053030"/>
                    </a:lnTo>
                    <a:cubicBezTo>
                      <a:pt x="60833" y="2052878"/>
                      <a:pt x="0" y="1951848"/>
                      <a:pt x="0" y="1827194"/>
                    </a:cubicBezTo>
                    <a:close/>
                  </a:path>
                </a:pathLst>
              </a:custGeom>
              <a:solidFill>
                <a:srgbClr val="ECEFF8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63296" y="109881"/>
              <a:ext cx="19816737" cy="1750128"/>
              <a:chOff x="0" y="0"/>
              <a:chExt cx="19816737" cy="175012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816741" cy="1750134"/>
              </a:xfrm>
              <a:custGeom>
                <a:avLst/>
                <a:gdLst/>
                <a:ahLst/>
                <a:cxnLst/>
                <a:rect r="r" b="b" t="t" l="l"/>
                <a:pathLst>
                  <a:path h="1750134" w="19816741">
                    <a:moveTo>
                      <a:pt x="0" y="0"/>
                    </a:moveTo>
                    <a:lnTo>
                      <a:pt x="19816741" y="0"/>
                    </a:lnTo>
                    <a:lnTo>
                      <a:pt x="19816741" y="1750134"/>
                    </a:lnTo>
                    <a:lnTo>
                      <a:pt x="0" y="175013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08534" r="0" b="-132722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19816737" cy="17596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4"/>
                  </a:lnSpc>
                </a:pP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We started from a simple problem: ansätze are usually validated in</a:t>
                </a:r>
                <a:r>
                  <a:rPr lang="en-US" sz="2600" i="true">
                    <a:solidFill>
                      <a:srgbClr val="191E3A"/>
                    </a:solidFill>
                    <a:latin typeface="DM Sans Italics"/>
                    <a:ea typeface="DM Sans Italics"/>
                    <a:cs typeface="DM Sans Italics"/>
                    <a:sym typeface="DM Sans Italics"/>
                  </a:rPr>
                  <a:t> simulation, but their real behavior depends on QPU constraints. We created framework for evaluation which consists of few tests</a:t>
                </a: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14 </a:t>
            </a: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/ 16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1883" y="1184272"/>
            <a:ext cx="347640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onclusions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67642" y="4334302"/>
            <a:ext cx="15498168" cy="8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Fidelity</a:t>
            </a:r>
          </a:p>
          <a:p>
            <a:pPr algn="l">
              <a:lnSpc>
                <a:spcPts val="3273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how well c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an we 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epresent th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 ideal state?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08313" y="5514970"/>
            <a:ext cx="15498168" cy="8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KL </a:t>
            </a: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expressibility</a:t>
            </a:r>
          </a:p>
          <a:p>
            <a:pPr algn="l">
              <a:lnSpc>
                <a:spcPts val="3273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how 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does QPU noise chang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 expressibili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ty?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08313" y="6695639"/>
            <a:ext cx="15498168" cy="8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M</a:t>
            </a: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eye</a:t>
            </a: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r-W</a:t>
            </a:r>
            <a:r>
              <a:rPr lang="en-US" sz="2599" i="true" b="true">
                <a:solidFill>
                  <a:srgbClr val="191E3A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allach</a:t>
            </a:r>
          </a:p>
          <a:p>
            <a:pPr algn="l">
              <a:lnSpc>
                <a:spcPts val="3273"/>
              </a:lnSpc>
            </a:pP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ow entangled is each qubi</a:t>
            </a:r>
            <a:r>
              <a:rPr lang="en-US" sz="2599" i="true">
                <a:solidFill>
                  <a:srgbClr val="191E3A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t?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15/16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1883" y="1184272"/>
            <a:ext cx="910070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Takeaways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151883" y="2652905"/>
            <a:ext cx="14862553" cy="721294"/>
            <a:chOff x="0" y="0"/>
            <a:chExt cx="19816737" cy="961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16741" cy="961731"/>
            </a:xfrm>
            <a:custGeom>
              <a:avLst/>
              <a:gdLst/>
              <a:ahLst/>
              <a:cxnLst/>
              <a:rect r="r" b="b" t="t" l="l"/>
              <a:pathLst>
                <a:path h="961731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961731"/>
                  </a:lnTo>
                  <a:lnTo>
                    <a:pt x="0" y="9617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9486" r="0" b="-3235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816737" cy="97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  <a:r>
                <a:rPr lang="en-US" sz="28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We need to verify the ansatz on the </a:t>
              </a:r>
              <a:r>
                <a:rPr lang="en-US" sz="2800" i="true" b="true">
                  <a:solidFill>
                    <a:srgbClr val="191E3A"/>
                  </a:solidFill>
                  <a:latin typeface="DM Sans Bold Italics"/>
                  <a:ea typeface="DM Sans Bold Italics"/>
                  <a:cs typeface="DM Sans Bold Italics"/>
                  <a:sym typeface="DM Sans Bold Italics"/>
                </a:rPr>
                <a:t>hardware</a:t>
              </a:r>
              <a:r>
                <a:rPr lang="en-US" sz="28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, not just on the simulator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15/16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1883" y="1184272"/>
            <a:ext cx="910070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Takeaways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151883" y="2652905"/>
            <a:ext cx="14862553" cy="721294"/>
            <a:chOff x="0" y="0"/>
            <a:chExt cx="19816737" cy="961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16741" cy="961731"/>
            </a:xfrm>
            <a:custGeom>
              <a:avLst/>
              <a:gdLst/>
              <a:ahLst/>
              <a:cxnLst/>
              <a:rect r="r" b="b" t="t" l="l"/>
              <a:pathLst>
                <a:path h="961731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961731"/>
                  </a:lnTo>
                  <a:lnTo>
                    <a:pt x="0" y="9617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9486" r="0" b="-3235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816737" cy="97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  <a:r>
                <a:rPr lang="en-US" sz="28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We need to verify the ansatz on the </a:t>
              </a:r>
              <a:r>
                <a:rPr lang="en-US" sz="2800" i="true" b="true">
                  <a:solidFill>
                    <a:srgbClr val="191E3A"/>
                  </a:solidFill>
                  <a:latin typeface="DM Sans Bold Italics"/>
                  <a:ea typeface="DM Sans Bold Italics"/>
                  <a:cs typeface="DM Sans Bold Italics"/>
                  <a:sym typeface="DM Sans Bold Italics"/>
                </a:rPr>
                <a:t>hardware</a:t>
              </a:r>
              <a:r>
                <a:rPr lang="en-US" sz="28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, not just on the simulator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51883" y="4118655"/>
            <a:ext cx="14862553" cy="966623"/>
            <a:chOff x="0" y="0"/>
            <a:chExt cx="19816737" cy="12888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816741" cy="1288836"/>
            </a:xfrm>
            <a:custGeom>
              <a:avLst/>
              <a:gdLst/>
              <a:ahLst/>
              <a:cxnLst/>
              <a:rect r="r" b="b" t="t" l="l"/>
              <a:pathLst>
                <a:path h="1288836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1288836"/>
                  </a:lnTo>
                  <a:lnTo>
                    <a:pt x="0" y="12888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172" r="0" b="-2160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9816737" cy="129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  <a:r>
                <a:rPr lang="en-US" sz="28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Evaluating Ansatz requires more than one metric, it should be a </a:t>
              </a:r>
              <a:r>
                <a:rPr lang="en-US" sz="2800" i="true" b="true">
                  <a:solidFill>
                    <a:srgbClr val="191E3A"/>
                  </a:solidFill>
                  <a:latin typeface="DM Sans Bold Italics"/>
                  <a:ea typeface="DM Sans Bold Italics"/>
                  <a:cs typeface="DM Sans Bold Italics"/>
                  <a:sym typeface="DM Sans Bold Italics"/>
                </a:rPr>
                <a:t>series of tests</a:t>
              </a:r>
              <a:r>
                <a:rPr lang="en-US" sz="2800" i="true">
                  <a:solidFill>
                    <a:srgbClr val="191E3A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 like the one we proposed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233927" y="5799653"/>
            <a:ext cx="15557497" cy="72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199" b="true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work:</a:t>
            </a:r>
          </a:p>
          <a:p>
            <a:pPr algn="l">
              <a:lnSpc>
                <a:spcPts val="2851"/>
              </a:lnSpc>
            </a:pPr>
            <a:r>
              <a:rPr lang="en-US" sz="21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Alternative quantum hardware, diverse datasets, and diverse problem types to ensure broad applicability.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04636" y="9483366"/>
            <a:ext cx="13083299" cy="2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700">
                <a:solidFill>
                  <a:srgbClr val="525C73"/>
                </a:solidFill>
                <a:latin typeface="DM Sans"/>
                <a:ea typeface="DM Sans"/>
                <a:cs typeface="DM Sans"/>
                <a:sym typeface="DM Sans"/>
              </a:rPr>
              <a:t>Full code and Results on GitHub: </a:t>
            </a:r>
            <a:r>
              <a:rPr lang="en-US" sz="1700" u="sng">
                <a:solidFill>
                  <a:srgbClr val="525C73"/>
                </a:solidFill>
                <a:latin typeface="DM Sans"/>
                <a:ea typeface="DM Sans"/>
                <a:cs typeface="DM Sans"/>
                <a:sym typeface="DM Sans"/>
                <a:hlinkClick r:id="rId3" tooltip="https://github.com/Kolo-Naukowe-Axion/QC1_Quantum_Banknote_Classifier_on_ODRA_5"/>
              </a:rPr>
              <a:t>QC1_Quantum_Banknote_Classifier_on_ODRA_5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607462" y="1540922"/>
            <a:ext cx="3378306" cy="3378306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926747" y="4370550"/>
            <a:ext cx="10178508" cy="1545900"/>
            <a:chOff x="0" y="0"/>
            <a:chExt cx="13571345" cy="206120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4680272" y="406397"/>
              <a:ext cx="4265406" cy="1112138"/>
              <a:chOff x="0" y="0"/>
              <a:chExt cx="3431667" cy="894753"/>
            </a:xfrm>
          </p:grpSpPr>
          <p:sp>
            <p:nvSpPr>
              <p:cNvPr name="Freeform 10" id="10" descr="Picture 10"/>
              <p:cNvSpPr/>
              <p:nvPr/>
            </p:nvSpPr>
            <p:spPr>
              <a:xfrm flipH="false" flipV="false" rot="0">
                <a:off x="0" y="0"/>
                <a:ext cx="3431667" cy="894715"/>
              </a:xfrm>
              <a:custGeom>
                <a:avLst/>
                <a:gdLst/>
                <a:ahLst/>
                <a:cxnLst/>
                <a:rect r="r" b="b" t="t" l="l"/>
                <a:pathLst>
                  <a:path h="894715" w="3431667">
                    <a:moveTo>
                      <a:pt x="0" y="0"/>
                    </a:moveTo>
                    <a:lnTo>
                      <a:pt x="3431667" y="0"/>
                    </a:lnTo>
                    <a:lnTo>
                      <a:pt x="3431667" y="894715"/>
                    </a:lnTo>
                    <a:lnTo>
                      <a:pt x="0" y="89471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53" t="0" r="-753" b="-4"/>
                </a:stretch>
              </a:blip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4265406" cy="2061201"/>
              <a:chOff x="0" y="0"/>
              <a:chExt cx="1851584" cy="894753"/>
            </a:xfrm>
          </p:grpSpPr>
          <p:sp>
            <p:nvSpPr>
              <p:cNvPr name="Freeform 12" id="12" descr="Picture 11"/>
              <p:cNvSpPr/>
              <p:nvPr/>
            </p:nvSpPr>
            <p:spPr>
              <a:xfrm flipH="false" flipV="false" rot="0">
                <a:off x="0" y="0"/>
                <a:ext cx="1851533" cy="894715"/>
              </a:xfrm>
              <a:custGeom>
                <a:avLst/>
                <a:gdLst/>
                <a:ahLst/>
                <a:cxnLst/>
                <a:rect r="r" b="b" t="t" l="l"/>
                <a:pathLst>
                  <a:path h="894715" w="1851533">
                    <a:moveTo>
                      <a:pt x="0" y="0"/>
                    </a:moveTo>
                    <a:lnTo>
                      <a:pt x="1851533" y="0"/>
                    </a:lnTo>
                    <a:lnTo>
                      <a:pt x="1851533" y="894715"/>
                    </a:lnTo>
                    <a:lnTo>
                      <a:pt x="0" y="89471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375" t="0" r="-382" b="0"/>
                </a:stretch>
              </a:blip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9361761" y="146299"/>
              <a:ext cx="4209583" cy="1632333"/>
            </a:xfrm>
            <a:custGeom>
              <a:avLst/>
              <a:gdLst/>
              <a:ahLst/>
              <a:cxnLst/>
              <a:rect r="r" b="b" t="t" l="l"/>
              <a:pathLst>
                <a:path h="1632333" w="4209583">
                  <a:moveTo>
                    <a:pt x="0" y="0"/>
                  </a:moveTo>
                  <a:lnTo>
                    <a:pt x="4209584" y="0"/>
                  </a:lnTo>
                  <a:lnTo>
                    <a:pt x="4209584" y="1632333"/>
                  </a:lnTo>
                  <a:lnTo>
                    <a:pt x="0" y="1632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78667" b="-1367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151883" y="5972164"/>
            <a:ext cx="5047667" cy="3785750"/>
          </a:xfrm>
          <a:custGeom>
            <a:avLst/>
            <a:gdLst/>
            <a:ahLst/>
            <a:cxnLst/>
            <a:rect r="r" b="b" t="t" l="l"/>
            <a:pathLst>
              <a:path h="3785750" w="5047667">
                <a:moveTo>
                  <a:pt x="0" y="0"/>
                </a:moveTo>
                <a:lnTo>
                  <a:pt x="5047667" y="0"/>
                </a:lnTo>
                <a:lnTo>
                  <a:pt x="5047667" y="3785751"/>
                </a:lnTo>
                <a:lnTo>
                  <a:pt x="0" y="37857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16/16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51883" y="1184272"/>
            <a:ext cx="595275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Contact information: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1883" y="2408168"/>
            <a:ext cx="8159553" cy="178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true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E-mail: </a:t>
            </a:r>
            <a:r>
              <a:rPr lang="en-US" sz="27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  <a:hlinkClick r:id="rId9" tooltip="mailto:kn.axion@pwr.edu.pl"/>
              </a:rPr>
              <a:t>kn.axion@pwr.edu.pl</a:t>
            </a:r>
          </a:p>
          <a:p>
            <a:pPr algn="l">
              <a:lnSpc>
                <a:spcPts val="3525"/>
              </a:lnSpc>
            </a:pPr>
            <a:r>
              <a:rPr lang="en-US" sz="2799" b="true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Website: </a:t>
            </a:r>
            <a:r>
              <a:rPr lang="en-US" sz="27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https://axion.pwr.edu.pl/pl/</a:t>
            </a:r>
          </a:p>
          <a:p>
            <a:pPr algn="l">
              <a:lnSpc>
                <a:spcPts val="3525"/>
              </a:lnSpc>
            </a:pPr>
            <a:r>
              <a:rPr lang="en-US" sz="2799" b="true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LinkedIn: </a:t>
            </a:r>
            <a:r>
              <a:rPr lang="en-US" sz="2799">
                <a:solidFill>
                  <a:srgbClr val="191E3A"/>
                </a:solidFill>
                <a:latin typeface="DM Sans"/>
                <a:ea typeface="DM Sans"/>
                <a:cs typeface="DM Sans"/>
                <a:sym typeface="DM Sans"/>
              </a:rPr>
              <a:t>KN Axion</a:t>
            </a:r>
          </a:p>
          <a:p>
            <a:pPr algn="l">
              <a:lnSpc>
                <a:spcPts val="3527"/>
              </a:lnSpc>
            </a:pPr>
            <a:r>
              <a:rPr lang="en-US" sz="2799" b="true">
                <a:solidFill>
                  <a:srgbClr val="191E3A"/>
                </a:solidFill>
                <a:latin typeface="DM Sans Bold"/>
                <a:ea typeface="DM Sans Bold"/>
                <a:cs typeface="DM Sans Bold"/>
                <a:sym typeface="DM Sans Bold"/>
              </a:rPr>
              <a:t>Acknowledgment: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453" y="-6353"/>
            <a:ext cx="22580168" cy="10299697"/>
            <a:chOff x="0" y="0"/>
            <a:chExt cx="30106890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06382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30106382">
                  <a:moveTo>
                    <a:pt x="0" y="0"/>
                  </a:moveTo>
                  <a:lnTo>
                    <a:pt x="30106382" y="0"/>
                  </a:lnTo>
                  <a:lnTo>
                    <a:pt x="30106382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7" id="7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25358" y="2893862"/>
            <a:ext cx="5355338" cy="178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20"/>
              </a:lnSpc>
            </a:pPr>
            <a:r>
              <a:rPr lang="en-US" sz="11766" b="tru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Addon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02 / 16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7" id="7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3" t="0" r="-753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9" id="9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9" t="0" r="-382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024863" y="2124832"/>
            <a:ext cx="15865100" cy="5278791"/>
          </a:xfrm>
          <a:custGeom>
            <a:avLst/>
            <a:gdLst/>
            <a:ahLst/>
            <a:cxnLst/>
            <a:rect r="r" b="b" t="t" l="l"/>
            <a:pathLst>
              <a:path h="5278791" w="15865100">
                <a:moveTo>
                  <a:pt x="0" y="0"/>
                </a:moveTo>
                <a:lnTo>
                  <a:pt x="15865100" y="0"/>
                </a:lnTo>
                <a:lnTo>
                  <a:pt x="15865100" y="5278792"/>
                </a:lnTo>
                <a:lnTo>
                  <a:pt x="0" y="52787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519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6353" y="9567415"/>
            <a:ext cx="170433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13 / 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1883" y="1184272"/>
            <a:ext cx="351963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Results???????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3143777" y="6886394"/>
            <a:ext cx="415209" cy="517230"/>
          </a:xfrm>
          <a:prstGeom prst="line">
            <a:avLst/>
          </a:prstGeom>
          <a:ln cap="flat" w="38100">
            <a:solidFill>
              <a:srgbClr val="66708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5" id="15"/>
          <p:cNvSpPr txBox="true"/>
          <p:nvPr/>
        </p:nvSpPr>
        <p:spPr>
          <a:xfrm rot="0">
            <a:off x="12149760" y="7592370"/>
            <a:ext cx="3204285" cy="3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2" i="true">
                <a:solidFill>
                  <a:srgbClr val="667085"/>
                </a:solidFill>
                <a:latin typeface="Arimo Italics"/>
                <a:ea typeface="Arimo Italics"/>
                <a:cs typeface="Arimo Italics"/>
                <a:sym typeface="Arimo Italics"/>
              </a:rPr>
              <a:t>colapse predicted by protocol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704337" cy="10299697"/>
            <a:chOff x="0" y="0"/>
            <a:chExt cx="227244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41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272411">
                  <a:moveTo>
                    <a:pt x="0" y="0"/>
                  </a:moveTo>
                  <a:lnTo>
                    <a:pt x="2272411" y="0"/>
                  </a:lnTo>
                  <a:lnTo>
                    <a:pt x="2272411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191E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243" y="377695"/>
            <a:ext cx="1311145" cy="1311145"/>
            <a:chOff x="0" y="0"/>
            <a:chExt cx="1748193" cy="1748193"/>
          </a:xfrm>
        </p:grpSpPr>
        <p:sp>
          <p:nvSpPr>
            <p:cNvPr name="Freeform 5" id="5" descr="Picture 2"/>
            <p:cNvSpPr/>
            <p:nvPr/>
          </p:nvSpPr>
          <p:spPr>
            <a:xfrm flipH="false" flipV="false" rot="0">
              <a:off x="0" y="0"/>
              <a:ext cx="1748155" cy="1748155"/>
            </a:xfrm>
            <a:custGeom>
              <a:avLst/>
              <a:gdLst/>
              <a:ahLst/>
              <a:cxnLst/>
              <a:rect r="r" b="b" t="t" l="l"/>
              <a:pathLst>
                <a:path h="1748155" w="1748155">
                  <a:moveTo>
                    <a:pt x="0" y="0"/>
                  </a:moveTo>
                  <a:lnTo>
                    <a:pt x="1748155" y="0"/>
                  </a:lnTo>
                  <a:lnTo>
                    <a:pt x="1748155" y="1748155"/>
                  </a:lnTo>
                  <a:lnTo>
                    <a:pt x="0" y="1748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4307" y="8708744"/>
            <a:ext cx="14862553" cy="966623"/>
            <a:chOff x="0" y="0"/>
            <a:chExt cx="19816737" cy="1288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6741" cy="1288836"/>
            </a:xfrm>
            <a:custGeom>
              <a:avLst/>
              <a:gdLst/>
              <a:ahLst/>
              <a:cxnLst/>
              <a:rect r="r" b="b" t="t" l="l"/>
              <a:pathLst>
                <a:path h="1288836" w="19816741">
                  <a:moveTo>
                    <a:pt x="0" y="0"/>
                  </a:moveTo>
                  <a:lnTo>
                    <a:pt x="19816741" y="0"/>
                  </a:lnTo>
                  <a:lnTo>
                    <a:pt x="19816741" y="1288836"/>
                  </a:lnTo>
                  <a:lnTo>
                    <a:pt x="0" y="12888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172" r="0" b="-2160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816737" cy="129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217673" y="9384535"/>
            <a:ext cx="2573750" cy="671065"/>
            <a:chOff x="0" y="0"/>
            <a:chExt cx="3431667" cy="894753"/>
          </a:xfrm>
        </p:grpSpPr>
        <p:sp>
          <p:nvSpPr>
            <p:cNvPr name="Freeform 10" id="10" descr="Picture 10"/>
            <p:cNvSpPr/>
            <p:nvPr/>
          </p:nvSpPr>
          <p:spPr>
            <a:xfrm flipH="false" flipV="false" rot="0">
              <a:off x="0" y="0"/>
              <a:ext cx="3431667" cy="894715"/>
            </a:xfrm>
            <a:custGeom>
              <a:avLst/>
              <a:gdLst/>
              <a:ahLst/>
              <a:cxnLst/>
              <a:rect r="r" b="b" t="t" l="l"/>
              <a:pathLst>
                <a:path h="894715" w="3431667">
                  <a:moveTo>
                    <a:pt x="0" y="0"/>
                  </a:moveTo>
                  <a:lnTo>
                    <a:pt x="3431667" y="0"/>
                  </a:lnTo>
                  <a:lnTo>
                    <a:pt x="3431667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3" t="0" r="-753" b="-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30212" y="9366247"/>
            <a:ext cx="1388688" cy="671065"/>
            <a:chOff x="0" y="0"/>
            <a:chExt cx="1851584" cy="894753"/>
          </a:xfrm>
        </p:grpSpPr>
        <p:sp>
          <p:nvSpPr>
            <p:cNvPr name="Freeform 12" id="12" descr="Picture 11"/>
            <p:cNvSpPr/>
            <p:nvPr/>
          </p:nvSpPr>
          <p:spPr>
            <a:xfrm flipH="false" flipV="false" rot="0">
              <a:off x="0" y="0"/>
              <a:ext cx="1851533" cy="894715"/>
            </a:xfrm>
            <a:custGeom>
              <a:avLst/>
              <a:gdLst/>
              <a:ahLst/>
              <a:cxnLst/>
              <a:rect r="r" b="b" t="t" l="l"/>
              <a:pathLst>
                <a:path h="894715" w="1851533">
                  <a:moveTo>
                    <a:pt x="0" y="0"/>
                  </a:moveTo>
                  <a:lnTo>
                    <a:pt x="1851533" y="0"/>
                  </a:lnTo>
                  <a:lnTo>
                    <a:pt x="1851533" y="894715"/>
                  </a:lnTo>
                  <a:lnTo>
                    <a:pt x="0" y="894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9" t="0" r="-382" b="-4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664307" y="2956466"/>
            <a:ext cx="6624518" cy="5196106"/>
          </a:xfrm>
          <a:custGeom>
            <a:avLst/>
            <a:gdLst/>
            <a:ahLst/>
            <a:cxnLst/>
            <a:rect r="r" b="b" t="t" l="l"/>
            <a:pathLst>
              <a:path h="5196106" w="6624518">
                <a:moveTo>
                  <a:pt x="0" y="0"/>
                </a:moveTo>
                <a:lnTo>
                  <a:pt x="6624518" y="0"/>
                </a:lnTo>
                <a:lnTo>
                  <a:pt x="6624518" y="5196106"/>
                </a:lnTo>
                <a:lnTo>
                  <a:pt x="0" y="51961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367" y="1812922"/>
            <a:ext cx="1612897" cy="6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Axion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Student Research</a:t>
            </a:r>
          </a:p>
          <a:p>
            <a:pPr algn="ctr">
              <a:lnSpc>
                <a:spcPts val="1346"/>
              </a:lnSpc>
            </a:pPr>
            <a:r>
              <a:rPr lang="en-US" sz="1100">
                <a:solidFill>
                  <a:srgbClr val="E4E4E4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51883" y="1184272"/>
            <a:ext cx="7513551" cy="6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Expressibility </a:t>
            </a:r>
            <a:r>
              <a:rPr lang="en-US" sz="4199" b="true">
                <a:solidFill>
                  <a:srgbClr val="191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- Full results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372998" y="2956466"/>
            <a:ext cx="7153862" cy="4922061"/>
          </a:xfrm>
          <a:custGeom>
            <a:avLst/>
            <a:gdLst/>
            <a:ahLst/>
            <a:cxnLst/>
            <a:rect r="r" b="b" t="t" l="l"/>
            <a:pathLst>
              <a:path h="4922061" w="7153862">
                <a:moveTo>
                  <a:pt x="0" y="0"/>
                </a:moveTo>
                <a:lnTo>
                  <a:pt x="7153862" y="0"/>
                </a:lnTo>
                <a:lnTo>
                  <a:pt x="7153862" y="4922061"/>
                </a:lnTo>
                <a:lnTo>
                  <a:pt x="0" y="49220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520" r="-929" b="-1432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DAHN8_Myrzw</dc:identifier>
  <dcterms:modified xsi:type="dcterms:W3CDTF">2011-08-01T06:04:30Z</dcterms:modified>
  <cp:revision>1</cp:revision>
  <dc:title>Dania - IEEE QCCL 2026 (draft) 2.pptx</dc:title>
</cp:coreProperties>
</file>