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Lst>
  <p:sldSz cx="18288000" cy="10287000"/>
  <p:notesSz cx="6858000" cy="9144000"/>
  <p:embeddedFontLst>
    <p:embeddedFont>
      <p:font typeface="Libre Baskerville" charset="1" panose="02000000000000000000"/>
      <p:regular r:id="rId25"/>
    </p:embeddedFont>
    <p:embeddedFont>
      <p:font typeface="DM Sans" charset="1" panose="00000000000000000000"/>
      <p:regular r:id="rId26"/>
    </p:embeddedFont>
    <p:embeddedFont>
      <p:font typeface="Arimo Bold" charset="1" panose="020B0704020202020204"/>
      <p:regular r:id="rId27"/>
    </p:embeddedFont>
    <p:embeddedFont>
      <p:font typeface="Arimo" charset="1" panose="020B0604020202020204"/>
      <p:regular r:id="rId28"/>
    </p:embeddedFont>
    <p:embeddedFont>
      <p:font typeface="Courier New OS Bold Italics" charset="1" panose="02070609020205090404"/>
      <p:regular r:id="rId29"/>
    </p:embeddedFont>
    <p:embeddedFont>
      <p:font typeface="DM Sans Bold" charset="1" panose="00000000000000000000"/>
      <p:regular r:id="rId30"/>
    </p:embeddedFont>
    <p:embeddedFont>
      <p:font typeface="IBM Plex Sans Bold" charset="1" panose="020B0803050203000203"/>
      <p:regular r:id="rId31"/>
    </p:embeddedFont>
    <p:embeddedFont>
      <p:font typeface="Noto Sans Thai Light" charset="1" panose="020B0402040504020204"/>
      <p:regular r:id="rId32"/>
    </p:embeddedFont>
    <p:embeddedFont>
      <p:font typeface="Open Sans" charset="1" panose="020B0606030504020204"/>
      <p:regular r:id="rId3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fonts/font25.fntdata" Type="http://schemas.openxmlformats.org/officeDocument/2006/relationships/font"/><Relationship Id="rId26" Target="fonts/font26.fntdata" Type="http://schemas.openxmlformats.org/officeDocument/2006/relationships/font"/><Relationship Id="rId27" Target="fonts/font27.fntdata" Type="http://schemas.openxmlformats.org/officeDocument/2006/relationships/font"/><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30" Target="fonts/font30.fntdata" Type="http://schemas.openxmlformats.org/officeDocument/2006/relationships/font"/><Relationship Id="rId31" Target="fonts/font31.fntdata" Type="http://schemas.openxmlformats.org/officeDocument/2006/relationships/font"/><Relationship Id="rId32" Target="fonts/font32.fntdata" Type="http://schemas.openxmlformats.org/officeDocument/2006/relationships/font"/><Relationship Id="rId33" Target="fonts/font33.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5.png" Type="http://schemas.openxmlformats.org/officeDocument/2006/relationships/image"/><Relationship Id="rId11" Target="../media/image16.svg" Type="http://schemas.openxmlformats.org/officeDocument/2006/relationships/image"/><Relationship Id="rId12" Target="../media/image17.svg" Type="http://schemas.openxmlformats.org/officeDocument/2006/relationships/image"/><Relationship Id="rId13" Target="../media/image18.png" Type="http://schemas.openxmlformats.org/officeDocument/2006/relationships/image"/><Relationship Id="rId2" Target="../media/image1.png" Type="http://schemas.openxmlformats.org/officeDocument/2006/relationships/image"/><Relationship Id="rId3" Target="../media/image8.png" Type="http://schemas.openxmlformats.org/officeDocument/2006/relationships/image"/><Relationship Id="rId4" Target="../media/image9.svg" Type="http://schemas.openxmlformats.org/officeDocument/2006/relationships/image"/><Relationship Id="rId5" Target="../media/image10.png" Type="http://schemas.openxmlformats.org/officeDocument/2006/relationships/image"/><Relationship Id="rId6" Target="../media/image11.svg" Type="http://schemas.openxmlformats.org/officeDocument/2006/relationships/image"/><Relationship Id="rId7" Target="../media/image12.pn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9.png" Type="http://schemas.openxmlformats.org/officeDocument/2006/relationships/image"/><Relationship Id="rId4" Target="../media/image20.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1.png" Type="http://schemas.openxmlformats.org/officeDocument/2006/relationships/image"/><Relationship Id="rId4" Target="../media/image22.png" Type="http://schemas.openxmlformats.org/officeDocument/2006/relationships/image"/><Relationship Id="rId5" Target="../media/image23.png" Type="http://schemas.openxmlformats.org/officeDocument/2006/relationships/image"/><Relationship Id="rId6" Target="../media/image24.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5.png" Type="http://schemas.openxmlformats.org/officeDocument/2006/relationships/image"/><Relationship Id="rId3" Target="../media/image26.png" Type="http://schemas.openxmlformats.org/officeDocument/2006/relationships/image"/><Relationship Id="rId4" Target="../media/image27.png" Type="http://schemas.openxmlformats.org/officeDocument/2006/relationships/image"/><Relationship Id="rId5" Target="../media/image28.png" Type="http://schemas.openxmlformats.org/officeDocument/2006/relationships/image"/><Relationship Id="rId6" Target="../media/image29.png" Type="http://schemas.openxmlformats.org/officeDocument/2006/relationships/image"/><Relationship Id="rId7" Target="../media/image30.png" Type="http://schemas.openxmlformats.org/officeDocument/2006/relationships/image"/><Relationship Id="rId8" Target="../media/image1.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31.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32.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33.png" Type="http://schemas.openxmlformats.org/officeDocument/2006/relationships/image"/><Relationship Id="rId4" Target="../media/image34.png" Type="http://schemas.openxmlformats.org/officeDocument/2006/relationships/image"/><Relationship Id="rId5" Target="../media/image35.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36.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7.png" Type="http://schemas.openxmlformats.org/officeDocument/2006/relationships/image"/><Relationship Id="rId3" Target="../media/image38.svg" Type="http://schemas.openxmlformats.org/officeDocument/2006/relationships/image"/><Relationship Id="rId4" Target="../media/image39.png" Type="http://schemas.openxmlformats.org/officeDocument/2006/relationships/image"/><Relationship Id="rId5" Target="../media/image40.svg" Type="http://schemas.openxmlformats.org/officeDocument/2006/relationships/image"/><Relationship Id="rId6" Target="../media/image41.png" Type="http://schemas.openxmlformats.org/officeDocument/2006/relationships/image"/><Relationship Id="rId7" Target="../media/image42.png" Type="http://schemas.openxmlformats.org/officeDocument/2006/relationships/image"/><Relationship Id="rId8" Target="../media/image43.png" Type="http://schemas.openxmlformats.org/officeDocument/2006/relationships/image"/><Relationship Id="rId9" Target="../media/image44.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7.png" Type="http://schemas.openxmlformats.org/officeDocument/2006/relationships/image"/><Relationship Id="rId3" Target="../media/image38.svg" Type="http://schemas.openxmlformats.org/officeDocument/2006/relationships/image"/><Relationship Id="rId4" Target="../media/image39.png" Type="http://schemas.openxmlformats.org/officeDocument/2006/relationships/image"/><Relationship Id="rId5" Target="../media/image40.svg" Type="http://schemas.openxmlformats.org/officeDocument/2006/relationships/image"/><Relationship Id="rId6" Target="../media/image41.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5.png" Type="http://schemas.openxmlformats.org/officeDocument/2006/relationships/image"/><Relationship Id="rId3" Target="../media/image46.svg" Type="http://schemas.openxmlformats.org/officeDocument/2006/relationships/image"/><Relationship Id="rId4" Target="../media/image47.png" Type="http://schemas.openxmlformats.org/officeDocument/2006/relationships/image"/><Relationship Id="rId5" Target="../media/image48.svg" Type="http://schemas.openxmlformats.org/officeDocument/2006/relationships/image"/><Relationship Id="rId6" Target="../media/image41.png" Type="http://schemas.openxmlformats.org/officeDocument/2006/relationships/image"/><Relationship Id="rId7" Target="../media/image49.jpeg" Type="http://schemas.openxmlformats.org/officeDocument/2006/relationships/image"/><Relationship Id="rId8" Target="../media/image50.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5.png" Type="http://schemas.openxmlformats.org/officeDocument/2006/relationships/image"/><Relationship Id="rId3" Target="../media/image46.svg" Type="http://schemas.openxmlformats.org/officeDocument/2006/relationships/image"/><Relationship Id="rId4" Target="../media/image47.png" Type="http://schemas.openxmlformats.org/officeDocument/2006/relationships/image"/><Relationship Id="rId5" Target="../media/image48.svg" Type="http://schemas.openxmlformats.org/officeDocument/2006/relationships/image"/><Relationship Id="rId6" Target="../media/image41.png" Type="http://schemas.openxmlformats.org/officeDocument/2006/relationships/image"/><Relationship Id="rId7" Target="../media/image49.jpeg" Type="http://schemas.openxmlformats.org/officeDocument/2006/relationships/image"/><Relationship Id="rId8" Target="../media/image51.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5.png" Type="http://schemas.openxmlformats.org/officeDocument/2006/relationships/image"/><Relationship Id="rId3" Target="../media/image46.svg" Type="http://schemas.openxmlformats.org/officeDocument/2006/relationships/image"/><Relationship Id="rId4" Target="../media/image47.png" Type="http://schemas.openxmlformats.org/officeDocument/2006/relationships/image"/><Relationship Id="rId5" Target="../media/image48.svg" Type="http://schemas.openxmlformats.org/officeDocument/2006/relationships/image"/><Relationship Id="rId6" Target="../media/image41.png" Type="http://schemas.openxmlformats.org/officeDocument/2006/relationships/image"/><Relationship Id="rId7" Target="../media/image49.jpeg" Type="http://schemas.openxmlformats.org/officeDocument/2006/relationships/image"/><Relationship Id="rId8" Target="../media/image52.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5.png" Type="http://schemas.openxmlformats.org/officeDocument/2006/relationships/image"/><Relationship Id="rId3" Target="../media/image46.svg" Type="http://schemas.openxmlformats.org/officeDocument/2006/relationships/image"/><Relationship Id="rId4" Target="../media/image47.png" Type="http://schemas.openxmlformats.org/officeDocument/2006/relationships/image"/><Relationship Id="rId5" Target="../media/image48.svg" Type="http://schemas.openxmlformats.org/officeDocument/2006/relationships/image"/><Relationship Id="rId6" Target="../media/image41.png" Type="http://schemas.openxmlformats.org/officeDocument/2006/relationships/image"/><Relationship Id="rId7" Target="../media/image49.jpeg" Type="http://schemas.openxmlformats.org/officeDocument/2006/relationships/image"/><Relationship Id="rId8" Target="../media/image53.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766271"/>
            <a:ext cx="2033918" cy="11819542"/>
            <a:chOff x="0" y="0"/>
            <a:chExt cx="535682" cy="3112966"/>
          </a:xfrm>
        </p:grpSpPr>
        <p:sp>
          <p:nvSpPr>
            <p:cNvPr name="Freeform 3" id="3"/>
            <p:cNvSpPr/>
            <p:nvPr/>
          </p:nvSpPr>
          <p:spPr>
            <a:xfrm flipH="false" flipV="false" rot="0">
              <a:off x="0" y="0"/>
              <a:ext cx="535682" cy="3112966"/>
            </a:xfrm>
            <a:custGeom>
              <a:avLst/>
              <a:gdLst/>
              <a:ahLst/>
              <a:cxnLst/>
              <a:rect r="r" b="b" t="t" l="l"/>
              <a:pathLst>
                <a:path h="3112966" w="535682">
                  <a:moveTo>
                    <a:pt x="194127" y="0"/>
                  </a:moveTo>
                  <a:lnTo>
                    <a:pt x="341555" y="0"/>
                  </a:lnTo>
                  <a:cubicBezTo>
                    <a:pt x="448768" y="0"/>
                    <a:pt x="535682" y="86914"/>
                    <a:pt x="535682" y="194127"/>
                  </a:cubicBezTo>
                  <a:lnTo>
                    <a:pt x="535682" y="2918839"/>
                  </a:lnTo>
                  <a:cubicBezTo>
                    <a:pt x="535682" y="3026052"/>
                    <a:pt x="448768" y="3112966"/>
                    <a:pt x="341555" y="3112966"/>
                  </a:cubicBezTo>
                  <a:lnTo>
                    <a:pt x="194127" y="3112966"/>
                  </a:lnTo>
                  <a:cubicBezTo>
                    <a:pt x="86914" y="3112966"/>
                    <a:pt x="0" y="3026052"/>
                    <a:pt x="0" y="2918839"/>
                  </a:cubicBezTo>
                  <a:lnTo>
                    <a:pt x="0" y="194127"/>
                  </a:lnTo>
                  <a:cubicBezTo>
                    <a:pt x="0" y="86914"/>
                    <a:pt x="86914" y="0"/>
                    <a:pt x="194127" y="0"/>
                  </a:cubicBezTo>
                  <a:close/>
                </a:path>
              </a:pathLst>
            </a:custGeom>
            <a:solidFill>
              <a:srgbClr val="191E3A"/>
            </a:solidFill>
          </p:spPr>
        </p:sp>
        <p:sp>
          <p:nvSpPr>
            <p:cNvPr name="TextBox 4" id="4"/>
            <p:cNvSpPr txBox="true"/>
            <p:nvPr/>
          </p:nvSpPr>
          <p:spPr>
            <a:xfrm>
              <a:off x="0" y="-38100"/>
              <a:ext cx="535682" cy="3151066"/>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0" y="-766271"/>
            <a:ext cx="3888834" cy="11819542"/>
            <a:chOff x="0" y="0"/>
            <a:chExt cx="1024220" cy="3112966"/>
          </a:xfrm>
        </p:grpSpPr>
        <p:sp>
          <p:nvSpPr>
            <p:cNvPr name="Freeform 6" id="6"/>
            <p:cNvSpPr/>
            <p:nvPr/>
          </p:nvSpPr>
          <p:spPr>
            <a:xfrm flipH="false" flipV="false" rot="0">
              <a:off x="0" y="0"/>
              <a:ext cx="1024220" cy="3112966"/>
            </a:xfrm>
            <a:custGeom>
              <a:avLst/>
              <a:gdLst/>
              <a:ahLst/>
              <a:cxnLst/>
              <a:rect r="r" b="b" t="t" l="l"/>
              <a:pathLst>
                <a:path h="3112966" w="1024220">
                  <a:moveTo>
                    <a:pt x="101531" y="0"/>
                  </a:moveTo>
                  <a:lnTo>
                    <a:pt x="922688" y="0"/>
                  </a:lnTo>
                  <a:cubicBezTo>
                    <a:pt x="949616" y="0"/>
                    <a:pt x="975441" y="10697"/>
                    <a:pt x="994482" y="29738"/>
                  </a:cubicBezTo>
                  <a:cubicBezTo>
                    <a:pt x="1013523" y="48779"/>
                    <a:pt x="1024220" y="74603"/>
                    <a:pt x="1024220" y="101531"/>
                  </a:cubicBezTo>
                  <a:lnTo>
                    <a:pt x="1024220" y="3011434"/>
                  </a:lnTo>
                  <a:cubicBezTo>
                    <a:pt x="1024220" y="3067508"/>
                    <a:pt x="978763" y="3112966"/>
                    <a:pt x="922688" y="3112966"/>
                  </a:cubicBezTo>
                  <a:lnTo>
                    <a:pt x="101531" y="3112966"/>
                  </a:lnTo>
                  <a:cubicBezTo>
                    <a:pt x="74603" y="3112966"/>
                    <a:pt x="48779" y="3102269"/>
                    <a:pt x="29738" y="3083228"/>
                  </a:cubicBezTo>
                  <a:cubicBezTo>
                    <a:pt x="10697" y="3064187"/>
                    <a:pt x="0" y="3038362"/>
                    <a:pt x="0" y="3011434"/>
                  </a:cubicBezTo>
                  <a:lnTo>
                    <a:pt x="0" y="101531"/>
                  </a:lnTo>
                  <a:cubicBezTo>
                    <a:pt x="0" y="45457"/>
                    <a:pt x="45457" y="0"/>
                    <a:pt x="101531" y="0"/>
                  </a:cubicBezTo>
                  <a:close/>
                </a:path>
              </a:pathLst>
            </a:custGeom>
            <a:solidFill>
              <a:srgbClr val="191E3A"/>
            </a:solidFill>
          </p:spPr>
        </p:sp>
        <p:sp>
          <p:nvSpPr>
            <p:cNvPr name="TextBox 7" id="7"/>
            <p:cNvSpPr txBox="true"/>
            <p:nvPr/>
          </p:nvSpPr>
          <p:spPr>
            <a:xfrm>
              <a:off x="0" y="-38100"/>
              <a:ext cx="1024220" cy="3151066"/>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false" flipV="false" rot="0">
            <a:off x="264438" y="270107"/>
            <a:ext cx="3359958" cy="3359958"/>
          </a:xfrm>
          <a:custGeom>
            <a:avLst/>
            <a:gdLst/>
            <a:ahLst/>
            <a:cxnLst/>
            <a:rect r="r" b="b" t="t" l="l"/>
            <a:pathLst>
              <a:path h="3359958" w="3359958">
                <a:moveTo>
                  <a:pt x="0" y="0"/>
                </a:moveTo>
                <a:lnTo>
                  <a:pt x="3359958" y="0"/>
                </a:lnTo>
                <a:lnTo>
                  <a:pt x="3359958" y="3359958"/>
                </a:lnTo>
                <a:lnTo>
                  <a:pt x="0" y="3359958"/>
                </a:lnTo>
                <a:lnTo>
                  <a:pt x="0" y="0"/>
                </a:lnTo>
                <a:close/>
              </a:path>
            </a:pathLst>
          </a:custGeom>
          <a:blipFill>
            <a:blip r:embed="rId2"/>
            <a:stretch>
              <a:fillRect l="0" t="0" r="0" b="0"/>
            </a:stretch>
          </a:blipFill>
        </p:spPr>
      </p:sp>
      <p:sp>
        <p:nvSpPr>
          <p:cNvPr name="TextBox 9" id="9"/>
          <p:cNvSpPr txBox="true"/>
          <p:nvPr/>
        </p:nvSpPr>
        <p:spPr>
          <a:xfrm rot="0">
            <a:off x="4115254" y="2482195"/>
            <a:ext cx="13943117" cy="3171825"/>
          </a:xfrm>
          <a:prstGeom prst="rect">
            <a:avLst/>
          </a:prstGeom>
        </p:spPr>
        <p:txBody>
          <a:bodyPr anchor="t" rtlCol="false" tIns="0" lIns="0" bIns="0" rIns="0">
            <a:spAutoFit/>
          </a:bodyPr>
          <a:lstStyle/>
          <a:p>
            <a:pPr algn="ctr">
              <a:lnSpc>
                <a:spcPts val="6300"/>
              </a:lnSpc>
            </a:pPr>
            <a:r>
              <a:rPr lang="en-US" sz="4500">
                <a:solidFill>
                  <a:srgbClr val="191E3A"/>
                </a:solidFill>
                <a:latin typeface="Libre Baskerville"/>
                <a:ea typeface="Libre Baskerville"/>
                <a:cs typeface="Libre Baskerville"/>
                <a:sym typeface="Libre Baskerville"/>
              </a:rPr>
              <a:t>Hardware-Efficient Ansatz Design </a:t>
            </a:r>
          </a:p>
          <a:p>
            <a:pPr algn="ctr">
              <a:lnSpc>
                <a:spcPts val="6300"/>
              </a:lnSpc>
            </a:pPr>
            <a:r>
              <a:rPr lang="en-US" sz="4500">
                <a:solidFill>
                  <a:srgbClr val="191E3A"/>
                </a:solidFill>
                <a:latin typeface="Libre Baskerville"/>
                <a:ea typeface="Libre Baskerville"/>
                <a:cs typeface="Libre Baskerville"/>
                <a:sym typeface="Libre Baskerville"/>
              </a:rPr>
              <a:t>and Noise-Aware</a:t>
            </a:r>
          </a:p>
          <a:p>
            <a:pPr algn="ctr">
              <a:lnSpc>
                <a:spcPts val="6300"/>
              </a:lnSpc>
            </a:pPr>
            <a:r>
              <a:rPr lang="en-US" sz="4500">
                <a:solidFill>
                  <a:srgbClr val="191E3A"/>
                </a:solidFill>
                <a:latin typeface="Libre Baskerville"/>
                <a:ea typeface="Libre Baskerville"/>
                <a:cs typeface="Libre Baskerville"/>
                <a:sym typeface="Libre Baskerville"/>
              </a:rPr>
              <a:t>Analysis of a Variational Quantum Classifier </a:t>
            </a:r>
          </a:p>
          <a:p>
            <a:pPr algn="ctr">
              <a:lnSpc>
                <a:spcPts val="6300"/>
              </a:lnSpc>
            </a:pPr>
            <a:r>
              <a:rPr lang="en-US" sz="4500">
                <a:solidFill>
                  <a:srgbClr val="191E3A"/>
                </a:solidFill>
                <a:latin typeface="Libre Baskerville"/>
                <a:ea typeface="Libre Baskerville"/>
                <a:cs typeface="Libre Baskerville"/>
                <a:sym typeface="Libre Baskerville"/>
              </a:rPr>
              <a:t>for IQM Spark</a:t>
            </a:r>
          </a:p>
        </p:txBody>
      </p:sp>
      <p:sp>
        <p:nvSpPr>
          <p:cNvPr name="TextBox 10" id="10"/>
          <p:cNvSpPr txBox="true"/>
          <p:nvPr/>
        </p:nvSpPr>
        <p:spPr>
          <a:xfrm rot="0">
            <a:off x="264438" y="3773116"/>
            <a:ext cx="3359958" cy="1019175"/>
          </a:xfrm>
          <a:prstGeom prst="rect">
            <a:avLst/>
          </a:prstGeom>
        </p:spPr>
        <p:txBody>
          <a:bodyPr anchor="t" rtlCol="false" tIns="0" lIns="0" bIns="0" rIns="0">
            <a:spAutoFit/>
          </a:bodyPr>
          <a:lstStyle/>
          <a:p>
            <a:pPr algn="ctr">
              <a:lnSpc>
                <a:spcPts val="4199"/>
              </a:lnSpc>
            </a:pPr>
            <a:r>
              <a:rPr lang="en-US" sz="2999">
                <a:solidFill>
                  <a:srgbClr val="E4E4E4"/>
                </a:solidFill>
                <a:latin typeface="Libre Baskerville"/>
                <a:ea typeface="Libre Baskerville"/>
                <a:cs typeface="Libre Baskerville"/>
                <a:sym typeface="Libre Baskerville"/>
              </a:rPr>
              <a:t>Axion </a:t>
            </a:r>
          </a:p>
          <a:p>
            <a:pPr algn="ctr">
              <a:lnSpc>
                <a:spcPts val="4199"/>
              </a:lnSpc>
            </a:pPr>
            <a:r>
              <a:rPr lang="en-US" sz="2999">
                <a:solidFill>
                  <a:srgbClr val="E4E4E4"/>
                </a:solidFill>
                <a:latin typeface="Libre Baskerville"/>
                <a:ea typeface="Libre Baskerville"/>
                <a:cs typeface="Libre Baskerville"/>
                <a:sym typeface="Libre Baskerville"/>
              </a:rPr>
              <a:t>Science Club</a:t>
            </a:r>
          </a:p>
        </p:txBody>
      </p:sp>
      <p:sp>
        <p:nvSpPr>
          <p:cNvPr name="TextBox 11" id="11"/>
          <p:cNvSpPr txBox="true"/>
          <p:nvPr/>
        </p:nvSpPr>
        <p:spPr>
          <a:xfrm rot="0">
            <a:off x="4115254" y="6016538"/>
            <a:ext cx="13943117" cy="895985"/>
          </a:xfrm>
          <a:prstGeom prst="rect">
            <a:avLst/>
          </a:prstGeom>
        </p:spPr>
        <p:txBody>
          <a:bodyPr anchor="t" rtlCol="false" tIns="0" lIns="0" bIns="0" rIns="0">
            <a:spAutoFit/>
          </a:bodyPr>
          <a:lstStyle/>
          <a:p>
            <a:pPr algn="ctr">
              <a:lnSpc>
                <a:spcPts val="3640"/>
              </a:lnSpc>
            </a:pPr>
            <a:r>
              <a:rPr lang="en-US" sz="2600">
                <a:solidFill>
                  <a:srgbClr val="000000"/>
                </a:solidFill>
                <a:latin typeface="DM Sans"/>
                <a:ea typeface="DM Sans"/>
                <a:cs typeface="DM Sans"/>
                <a:sym typeface="DM Sans"/>
              </a:rPr>
              <a:t>2026 IEEE International Conference on Quantum Control, Computing and Learning </a:t>
            </a:r>
          </a:p>
          <a:p>
            <a:pPr algn="ctr">
              <a:lnSpc>
                <a:spcPts val="3640"/>
              </a:lnSpc>
            </a:pPr>
            <a:r>
              <a:rPr lang="en-US" sz="2600">
                <a:solidFill>
                  <a:srgbClr val="000000"/>
                </a:solidFill>
                <a:latin typeface="DM Sans"/>
                <a:ea typeface="DM Sans"/>
                <a:cs typeface="DM Sans"/>
                <a:sym typeface="DM Sans"/>
              </a:rPr>
              <a:t>Aalborg, Denmark</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766271"/>
            <a:ext cx="2033918" cy="11819542"/>
            <a:chOff x="0" y="0"/>
            <a:chExt cx="535682" cy="3112966"/>
          </a:xfrm>
        </p:grpSpPr>
        <p:sp>
          <p:nvSpPr>
            <p:cNvPr name="Freeform 3" id="3"/>
            <p:cNvSpPr/>
            <p:nvPr/>
          </p:nvSpPr>
          <p:spPr>
            <a:xfrm flipH="false" flipV="false" rot="0">
              <a:off x="0" y="0"/>
              <a:ext cx="535682" cy="3112966"/>
            </a:xfrm>
            <a:custGeom>
              <a:avLst/>
              <a:gdLst/>
              <a:ahLst/>
              <a:cxnLst/>
              <a:rect r="r" b="b" t="t" l="l"/>
              <a:pathLst>
                <a:path h="3112966" w="535682">
                  <a:moveTo>
                    <a:pt x="194127" y="0"/>
                  </a:moveTo>
                  <a:lnTo>
                    <a:pt x="341555" y="0"/>
                  </a:lnTo>
                  <a:cubicBezTo>
                    <a:pt x="448768" y="0"/>
                    <a:pt x="535682" y="86914"/>
                    <a:pt x="535682" y="194127"/>
                  </a:cubicBezTo>
                  <a:lnTo>
                    <a:pt x="535682" y="2918839"/>
                  </a:lnTo>
                  <a:cubicBezTo>
                    <a:pt x="535682" y="3026052"/>
                    <a:pt x="448768" y="3112966"/>
                    <a:pt x="341555" y="3112966"/>
                  </a:cubicBezTo>
                  <a:lnTo>
                    <a:pt x="194127" y="3112966"/>
                  </a:lnTo>
                  <a:cubicBezTo>
                    <a:pt x="86914" y="3112966"/>
                    <a:pt x="0" y="3026052"/>
                    <a:pt x="0" y="2918839"/>
                  </a:cubicBezTo>
                  <a:lnTo>
                    <a:pt x="0" y="194127"/>
                  </a:lnTo>
                  <a:cubicBezTo>
                    <a:pt x="0" y="86914"/>
                    <a:pt x="86914" y="0"/>
                    <a:pt x="194127" y="0"/>
                  </a:cubicBezTo>
                  <a:close/>
                </a:path>
              </a:pathLst>
            </a:custGeom>
            <a:solidFill>
              <a:srgbClr val="191E3A"/>
            </a:solidFill>
          </p:spPr>
        </p:sp>
        <p:sp>
          <p:nvSpPr>
            <p:cNvPr name="TextBox 4" id="4"/>
            <p:cNvSpPr txBox="true"/>
            <p:nvPr/>
          </p:nvSpPr>
          <p:spPr>
            <a:xfrm>
              <a:off x="0" y="-38100"/>
              <a:ext cx="535682" cy="3151066"/>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9525" y="-766271"/>
            <a:ext cx="2425719" cy="11819542"/>
            <a:chOff x="0" y="0"/>
            <a:chExt cx="638872" cy="3112966"/>
          </a:xfrm>
        </p:grpSpPr>
        <p:sp>
          <p:nvSpPr>
            <p:cNvPr name="Freeform 6" id="6"/>
            <p:cNvSpPr/>
            <p:nvPr/>
          </p:nvSpPr>
          <p:spPr>
            <a:xfrm flipH="false" flipV="false" rot="0">
              <a:off x="0" y="0"/>
              <a:ext cx="638872" cy="3112966"/>
            </a:xfrm>
            <a:custGeom>
              <a:avLst/>
              <a:gdLst/>
              <a:ahLst/>
              <a:cxnLst/>
              <a:rect r="r" b="b" t="t" l="l"/>
              <a:pathLst>
                <a:path h="3112966" w="638872">
                  <a:moveTo>
                    <a:pt x="162772" y="0"/>
                  </a:moveTo>
                  <a:lnTo>
                    <a:pt x="476101" y="0"/>
                  </a:lnTo>
                  <a:cubicBezTo>
                    <a:pt x="519271" y="0"/>
                    <a:pt x="560672" y="17149"/>
                    <a:pt x="591198" y="47675"/>
                  </a:cubicBezTo>
                  <a:cubicBezTo>
                    <a:pt x="621723" y="78200"/>
                    <a:pt x="638872" y="119602"/>
                    <a:pt x="638872" y="162772"/>
                  </a:cubicBezTo>
                  <a:lnTo>
                    <a:pt x="638872" y="2950194"/>
                  </a:lnTo>
                  <a:cubicBezTo>
                    <a:pt x="638872" y="2993364"/>
                    <a:pt x="621723" y="3034765"/>
                    <a:pt x="591198" y="3065291"/>
                  </a:cubicBezTo>
                  <a:cubicBezTo>
                    <a:pt x="560672" y="3095816"/>
                    <a:pt x="519271" y="3112966"/>
                    <a:pt x="476101" y="3112966"/>
                  </a:cubicBezTo>
                  <a:lnTo>
                    <a:pt x="162772" y="3112966"/>
                  </a:lnTo>
                  <a:cubicBezTo>
                    <a:pt x="119602" y="3112966"/>
                    <a:pt x="78200" y="3095816"/>
                    <a:pt x="47675" y="3065291"/>
                  </a:cubicBezTo>
                  <a:cubicBezTo>
                    <a:pt x="17149" y="3034765"/>
                    <a:pt x="0" y="2993364"/>
                    <a:pt x="0" y="2950194"/>
                  </a:cubicBezTo>
                  <a:lnTo>
                    <a:pt x="0" y="162772"/>
                  </a:lnTo>
                  <a:cubicBezTo>
                    <a:pt x="0" y="119602"/>
                    <a:pt x="17149" y="78200"/>
                    <a:pt x="47675" y="47675"/>
                  </a:cubicBezTo>
                  <a:cubicBezTo>
                    <a:pt x="78200" y="17149"/>
                    <a:pt x="119602" y="0"/>
                    <a:pt x="162772" y="0"/>
                  </a:cubicBezTo>
                  <a:close/>
                </a:path>
              </a:pathLst>
            </a:custGeom>
            <a:solidFill>
              <a:srgbClr val="191E3A"/>
            </a:solidFill>
          </p:spPr>
        </p:sp>
        <p:sp>
          <p:nvSpPr>
            <p:cNvPr name="TextBox 7" id="7"/>
            <p:cNvSpPr txBox="true"/>
            <p:nvPr/>
          </p:nvSpPr>
          <p:spPr>
            <a:xfrm>
              <a:off x="0" y="-38100"/>
              <a:ext cx="638872" cy="3151066"/>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false" flipV="false" rot="0">
            <a:off x="268209" y="348842"/>
            <a:ext cx="1889301" cy="1889301"/>
          </a:xfrm>
          <a:custGeom>
            <a:avLst/>
            <a:gdLst/>
            <a:ahLst/>
            <a:cxnLst/>
            <a:rect r="r" b="b" t="t" l="l"/>
            <a:pathLst>
              <a:path h="1889301" w="1889301">
                <a:moveTo>
                  <a:pt x="0" y="0"/>
                </a:moveTo>
                <a:lnTo>
                  <a:pt x="1889301" y="0"/>
                </a:lnTo>
                <a:lnTo>
                  <a:pt x="1889301" y="1889301"/>
                </a:lnTo>
                <a:lnTo>
                  <a:pt x="0" y="1889301"/>
                </a:lnTo>
                <a:lnTo>
                  <a:pt x="0" y="0"/>
                </a:lnTo>
                <a:close/>
              </a:path>
            </a:pathLst>
          </a:custGeom>
          <a:blipFill>
            <a:blip r:embed="rId2"/>
            <a:stretch>
              <a:fillRect l="0" t="0" r="0" b="0"/>
            </a:stretch>
          </a:blipFill>
        </p:spPr>
      </p:sp>
      <p:sp>
        <p:nvSpPr>
          <p:cNvPr name="TextBox 9" id="9"/>
          <p:cNvSpPr txBox="true"/>
          <p:nvPr/>
        </p:nvSpPr>
        <p:spPr>
          <a:xfrm rot="0">
            <a:off x="2877161" y="914400"/>
            <a:ext cx="12693292" cy="1035686"/>
          </a:xfrm>
          <a:prstGeom prst="rect">
            <a:avLst/>
          </a:prstGeom>
        </p:spPr>
        <p:txBody>
          <a:bodyPr anchor="t" rtlCol="false" tIns="0" lIns="0" bIns="0" rIns="0">
            <a:spAutoFit/>
          </a:bodyPr>
          <a:lstStyle/>
          <a:p>
            <a:pPr algn="l">
              <a:lnSpc>
                <a:spcPts val="8539"/>
              </a:lnSpc>
            </a:pPr>
            <a:r>
              <a:rPr lang="en-US" sz="6099">
                <a:solidFill>
                  <a:srgbClr val="191E3A"/>
                </a:solidFill>
                <a:latin typeface="Libre Baskerville"/>
                <a:ea typeface="Libre Baskerville"/>
                <a:cs typeface="Libre Baskerville"/>
                <a:sym typeface="Libre Baskerville"/>
              </a:rPr>
              <a:t>Abstract</a:t>
            </a:r>
          </a:p>
        </p:txBody>
      </p:sp>
      <p:sp>
        <p:nvSpPr>
          <p:cNvPr name="TextBox 10" id="10"/>
          <p:cNvSpPr txBox="true"/>
          <p:nvPr/>
        </p:nvSpPr>
        <p:spPr>
          <a:xfrm rot="0">
            <a:off x="2877161" y="2171468"/>
            <a:ext cx="14722574" cy="1109345"/>
          </a:xfrm>
          <a:prstGeom prst="rect">
            <a:avLst/>
          </a:prstGeom>
        </p:spPr>
        <p:txBody>
          <a:bodyPr anchor="t" rtlCol="false" tIns="0" lIns="0" bIns="0" rIns="0">
            <a:spAutoFit/>
          </a:bodyPr>
          <a:lstStyle/>
          <a:p>
            <a:pPr algn="just">
              <a:lnSpc>
                <a:spcPts val="4480"/>
              </a:lnSpc>
            </a:pPr>
            <a:r>
              <a:rPr lang="en-US" sz="3200">
                <a:solidFill>
                  <a:srgbClr val="000000"/>
                </a:solidFill>
                <a:latin typeface="DM Sans"/>
                <a:ea typeface="DM Sans"/>
                <a:cs typeface="DM Sans"/>
                <a:sym typeface="DM Sans"/>
              </a:rPr>
              <a:t>Most candidate ansatza rchitectures were simulator-oriented. On ODRA5,that gap became visible: simulator-to-hardware metrics were large and unstable.</a:t>
            </a:r>
          </a:p>
        </p:txBody>
      </p:sp>
      <p:sp>
        <p:nvSpPr>
          <p:cNvPr name="Freeform 11" id="11"/>
          <p:cNvSpPr/>
          <p:nvPr/>
        </p:nvSpPr>
        <p:spPr>
          <a:xfrm flipH="false" flipV="false" rot="0">
            <a:off x="2877161" y="4283450"/>
            <a:ext cx="5434201" cy="1720100"/>
          </a:xfrm>
          <a:custGeom>
            <a:avLst/>
            <a:gdLst/>
            <a:ahLst/>
            <a:cxnLst/>
            <a:rect r="r" b="b" t="t" l="l"/>
            <a:pathLst>
              <a:path h="1720100" w="5434201">
                <a:moveTo>
                  <a:pt x="0" y="0"/>
                </a:moveTo>
                <a:lnTo>
                  <a:pt x="5434201" y="0"/>
                </a:lnTo>
                <a:lnTo>
                  <a:pt x="5434201" y="1720100"/>
                </a:lnTo>
                <a:lnTo>
                  <a:pt x="0" y="1720100"/>
                </a:lnTo>
                <a:lnTo>
                  <a:pt x="0" y="0"/>
                </a:lnTo>
                <a:close/>
              </a:path>
            </a:pathLst>
          </a:custGeom>
          <a:blipFill>
            <a:blip r:embed="rId3">
              <a:extLst>
                <a:ext uri="{96DAC541-7B7A-43D3-8B79-37D633B846F1}">
                  <asvg:svgBlip xmlns:asvg="http://schemas.microsoft.com/office/drawing/2016/SVG/main" r:embed="rId4"/>
                </a:ext>
              </a:extLst>
            </a:blip>
            <a:stretch>
              <a:fillRect l="-5" t="-17" r="5" b="-194"/>
            </a:stretch>
          </a:blipFill>
        </p:spPr>
      </p:sp>
      <p:sp>
        <p:nvSpPr>
          <p:cNvPr name="Freeform 12" id="12"/>
          <p:cNvSpPr/>
          <p:nvPr/>
        </p:nvSpPr>
        <p:spPr>
          <a:xfrm flipH="false" flipV="false" rot="0">
            <a:off x="11763015" y="4283450"/>
            <a:ext cx="5496285" cy="1767576"/>
          </a:xfrm>
          <a:custGeom>
            <a:avLst/>
            <a:gdLst/>
            <a:ahLst/>
            <a:cxnLst/>
            <a:rect r="r" b="b" t="t" l="l"/>
            <a:pathLst>
              <a:path h="1767576" w="5496285">
                <a:moveTo>
                  <a:pt x="0" y="0"/>
                </a:moveTo>
                <a:lnTo>
                  <a:pt x="5496285" y="0"/>
                </a:lnTo>
                <a:lnTo>
                  <a:pt x="5496285" y="1767576"/>
                </a:lnTo>
                <a:lnTo>
                  <a:pt x="0" y="176757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3" id="13"/>
          <p:cNvSpPr/>
          <p:nvPr/>
        </p:nvSpPr>
        <p:spPr>
          <a:xfrm flipH="false" flipV="false" rot="0">
            <a:off x="7497610" y="6336776"/>
            <a:ext cx="5481677" cy="1767576"/>
          </a:xfrm>
          <a:custGeom>
            <a:avLst/>
            <a:gdLst/>
            <a:ahLst/>
            <a:cxnLst/>
            <a:rect r="r" b="b" t="t" l="l"/>
            <a:pathLst>
              <a:path h="1767576" w="5481677">
                <a:moveTo>
                  <a:pt x="0" y="0"/>
                </a:moveTo>
                <a:lnTo>
                  <a:pt x="5481677" y="0"/>
                </a:lnTo>
                <a:lnTo>
                  <a:pt x="5481677" y="1767576"/>
                </a:lnTo>
                <a:lnTo>
                  <a:pt x="0" y="176757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14" id="14"/>
          <p:cNvSpPr txBox="true"/>
          <p:nvPr/>
        </p:nvSpPr>
        <p:spPr>
          <a:xfrm rot="0">
            <a:off x="3205226" y="4649482"/>
            <a:ext cx="4778070" cy="1083286"/>
          </a:xfrm>
          <a:prstGeom prst="rect">
            <a:avLst/>
          </a:prstGeom>
        </p:spPr>
        <p:txBody>
          <a:bodyPr anchor="t" rtlCol="false" tIns="0" lIns="0" bIns="0" rIns="0">
            <a:spAutoFit/>
          </a:bodyPr>
          <a:lstStyle/>
          <a:p>
            <a:pPr algn="l">
              <a:lnSpc>
                <a:spcPts val="778"/>
              </a:lnSpc>
            </a:pPr>
            <a:r>
              <a:rPr lang="en-US" b="true" sz="1557" spc="113">
                <a:solidFill>
                  <a:srgbClr val="0B1020"/>
                </a:solidFill>
                <a:latin typeface="Arimo Bold"/>
                <a:ea typeface="Arimo Bold"/>
                <a:cs typeface="Arimo Bold"/>
                <a:sym typeface="Arimo Bold"/>
              </a:rPr>
              <a:t>RESEARCH GAP</a:t>
            </a:r>
          </a:p>
          <a:p>
            <a:pPr algn="l">
              <a:lnSpc>
                <a:spcPts val="778"/>
              </a:lnSpc>
            </a:pPr>
          </a:p>
          <a:p>
            <a:pPr algn="l">
              <a:lnSpc>
                <a:spcPts val="778"/>
              </a:lnSpc>
            </a:pPr>
          </a:p>
          <a:p>
            <a:pPr algn="l">
              <a:lnSpc>
                <a:spcPts val="778"/>
              </a:lnSpc>
            </a:pPr>
          </a:p>
          <a:p>
            <a:pPr algn="l">
              <a:lnSpc>
                <a:spcPts val="838"/>
              </a:lnSpc>
            </a:pPr>
            <a:r>
              <a:rPr lang="en-US" sz="1677">
                <a:solidFill>
                  <a:srgbClr val="667085"/>
                </a:solidFill>
                <a:latin typeface="Arimo"/>
                <a:ea typeface="Arimo"/>
                <a:cs typeface="Arimo"/>
                <a:sym typeface="Arimo"/>
              </a:rPr>
              <a:t>Controlled rotations are convenient in simulation,</a:t>
            </a:r>
          </a:p>
          <a:p>
            <a:pPr algn="l">
              <a:lnSpc>
                <a:spcPts val="3713"/>
              </a:lnSpc>
            </a:pPr>
            <a:r>
              <a:rPr lang="en-US" sz="1677">
                <a:solidFill>
                  <a:srgbClr val="667085"/>
                </a:solidFill>
                <a:latin typeface="Arimo"/>
                <a:ea typeface="Arimo"/>
                <a:cs typeface="Arimo"/>
                <a:sym typeface="Arimo"/>
              </a:rPr>
              <a:t>but expensive once decomposed to hardware</a:t>
            </a:r>
          </a:p>
          <a:p>
            <a:pPr algn="l">
              <a:lnSpc>
                <a:spcPts val="838"/>
              </a:lnSpc>
            </a:pPr>
            <a:r>
              <a:rPr lang="en-US" sz="1677">
                <a:solidFill>
                  <a:srgbClr val="667085"/>
                </a:solidFill>
                <a:latin typeface="Arimo"/>
                <a:ea typeface="Arimo"/>
                <a:cs typeface="Arimo"/>
                <a:sym typeface="Arimo"/>
              </a:rPr>
              <a:t>gates.</a:t>
            </a:r>
          </a:p>
        </p:txBody>
      </p:sp>
      <p:sp>
        <p:nvSpPr>
          <p:cNvPr name="TextBox 15" id="15"/>
          <p:cNvSpPr txBox="true"/>
          <p:nvPr/>
        </p:nvSpPr>
        <p:spPr>
          <a:xfrm rot="0">
            <a:off x="12129777" y="4801649"/>
            <a:ext cx="4762762" cy="778951"/>
          </a:xfrm>
          <a:prstGeom prst="rect">
            <a:avLst/>
          </a:prstGeom>
        </p:spPr>
        <p:txBody>
          <a:bodyPr anchor="t" rtlCol="false" tIns="0" lIns="0" bIns="0" rIns="0">
            <a:spAutoFit/>
          </a:bodyPr>
          <a:lstStyle/>
          <a:p>
            <a:pPr algn="l">
              <a:lnSpc>
                <a:spcPts val="778"/>
              </a:lnSpc>
            </a:pPr>
            <a:r>
              <a:rPr lang="en-US" b="true" sz="1557" spc="115">
                <a:solidFill>
                  <a:srgbClr val="0B1020"/>
                </a:solidFill>
                <a:latin typeface="Arimo Bold"/>
                <a:ea typeface="Arimo Bold"/>
                <a:cs typeface="Arimo Bold"/>
                <a:sym typeface="Arimo Bold"/>
              </a:rPr>
              <a:t>CONTRIBUTION</a:t>
            </a:r>
          </a:p>
          <a:p>
            <a:pPr algn="l">
              <a:lnSpc>
                <a:spcPts val="838"/>
              </a:lnSpc>
            </a:pPr>
          </a:p>
          <a:p>
            <a:pPr algn="l">
              <a:lnSpc>
                <a:spcPts val="838"/>
              </a:lnSpc>
            </a:pPr>
          </a:p>
          <a:p>
            <a:pPr algn="l">
              <a:lnSpc>
                <a:spcPts val="838"/>
              </a:lnSpc>
            </a:pPr>
            <a:r>
              <a:rPr lang="en-US" sz="1677">
                <a:solidFill>
                  <a:srgbClr val="667085"/>
                </a:solidFill>
                <a:latin typeface="Arimo"/>
                <a:ea typeface="Arimo"/>
                <a:cs typeface="Arimo"/>
                <a:sym typeface="Arimo"/>
              </a:rPr>
              <a:t>We introduce an ODRA-efficient ansatz using RZ</a:t>
            </a:r>
          </a:p>
          <a:p>
            <a:pPr algn="l" rtl="true">
              <a:lnSpc>
                <a:spcPts val="838"/>
              </a:lnSpc>
            </a:pPr>
          </a:p>
          <a:p>
            <a:pPr algn="l">
              <a:lnSpc>
                <a:spcPts val="838"/>
              </a:lnSpc>
            </a:pPr>
          </a:p>
          <a:p>
            <a:pPr algn="l">
              <a:lnSpc>
                <a:spcPts val="838"/>
              </a:lnSpc>
            </a:pPr>
            <a:r>
              <a:rPr lang="en-US" sz="1677">
                <a:solidFill>
                  <a:srgbClr val="667085"/>
                </a:solidFill>
                <a:latin typeface="Arimo"/>
                <a:ea typeface="Arimo"/>
                <a:cs typeface="Arimo"/>
                <a:sym typeface="Arimo"/>
              </a:rPr>
              <a:t>rotations and CZ entanglers.</a:t>
            </a:r>
          </a:p>
        </p:txBody>
      </p:sp>
      <p:sp>
        <p:nvSpPr>
          <p:cNvPr name="TextBox 16" id="16"/>
          <p:cNvSpPr txBox="true"/>
          <p:nvPr/>
        </p:nvSpPr>
        <p:spPr>
          <a:xfrm rot="0">
            <a:off x="7816317" y="6848280"/>
            <a:ext cx="4844263" cy="839818"/>
          </a:xfrm>
          <a:prstGeom prst="rect">
            <a:avLst/>
          </a:prstGeom>
        </p:spPr>
        <p:txBody>
          <a:bodyPr anchor="t" rtlCol="false" tIns="0" lIns="0" bIns="0" rIns="0">
            <a:spAutoFit/>
          </a:bodyPr>
          <a:lstStyle/>
          <a:p>
            <a:pPr algn="l">
              <a:lnSpc>
                <a:spcPts val="778"/>
              </a:lnSpc>
            </a:pPr>
            <a:r>
              <a:rPr lang="en-US" b="true" sz="1557" spc="115">
                <a:solidFill>
                  <a:srgbClr val="0B1020"/>
                </a:solidFill>
                <a:latin typeface="Arimo Bold"/>
                <a:ea typeface="Arimo Bold"/>
                <a:cs typeface="Arimo Bold"/>
                <a:sym typeface="Arimo Bold"/>
              </a:rPr>
              <a:t>CONTROL</a:t>
            </a:r>
          </a:p>
          <a:p>
            <a:pPr algn="l">
              <a:lnSpc>
                <a:spcPts val="778"/>
              </a:lnSpc>
            </a:pPr>
          </a:p>
          <a:p>
            <a:pPr algn="l">
              <a:lnSpc>
                <a:spcPts val="778"/>
              </a:lnSpc>
            </a:pPr>
          </a:p>
          <a:p>
            <a:pPr algn="l">
              <a:lnSpc>
                <a:spcPts val="778"/>
              </a:lnSpc>
            </a:pPr>
          </a:p>
          <a:p>
            <a:pPr algn="l">
              <a:lnSpc>
                <a:spcPts val="838"/>
              </a:lnSpc>
            </a:pPr>
            <a:r>
              <a:rPr lang="en-US" sz="1677">
                <a:solidFill>
                  <a:srgbClr val="667085"/>
                </a:solidFill>
                <a:latin typeface="Arimo"/>
                <a:ea typeface="Arimo"/>
                <a:cs typeface="Arimo"/>
                <a:sym typeface="Arimo"/>
              </a:rPr>
              <a:t>Both families keep the same trimmed 5-qubit rin</a:t>
            </a:r>
          </a:p>
          <a:p>
            <a:pPr algn="r">
              <a:lnSpc>
                <a:spcPts val="838"/>
              </a:lnSpc>
            </a:pPr>
          </a:p>
          <a:p>
            <a:pPr algn="r">
              <a:lnSpc>
                <a:spcPts val="838"/>
              </a:lnSpc>
            </a:pPr>
          </a:p>
          <a:p>
            <a:pPr algn="l">
              <a:lnSpc>
                <a:spcPts val="838"/>
              </a:lnSpc>
            </a:pPr>
            <a:r>
              <a:rPr lang="en-US" sz="1677">
                <a:solidFill>
                  <a:srgbClr val="667085"/>
                </a:solidFill>
                <a:latin typeface="Arimo"/>
                <a:ea typeface="Arimo"/>
                <a:cs typeface="Arimo"/>
                <a:sym typeface="Arimo"/>
              </a:rPr>
              <a:t>structure and parameter count.</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766271"/>
            <a:ext cx="2033918" cy="11819542"/>
            <a:chOff x="0" y="0"/>
            <a:chExt cx="535682" cy="3112966"/>
          </a:xfrm>
        </p:grpSpPr>
        <p:sp>
          <p:nvSpPr>
            <p:cNvPr name="Freeform 3" id="3"/>
            <p:cNvSpPr/>
            <p:nvPr/>
          </p:nvSpPr>
          <p:spPr>
            <a:xfrm flipH="false" flipV="false" rot="0">
              <a:off x="0" y="0"/>
              <a:ext cx="535682" cy="3112966"/>
            </a:xfrm>
            <a:custGeom>
              <a:avLst/>
              <a:gdLst/>
              <a:ahLst/>
              <a:cxnLst/>
              <a:rect r="r" b="b" t="t" l="l"/>
              <a:pathLst>
                <a:path h="3112966" w="535682">
                  <a:moveTo>
                    <a:pt x="194127" y="0"/>
                  </a:moveTo>
                  <a:lnTo>
                    <a:pt x="341555" y="0"/>
                  </a:lnTo>
                  <a:cubicBezTo>
                    <a:pt x="448768" y="0"/>
                    <a:pt x="535682" y="86914"/>
                    <a:pt x="535682" y="194127"/>
                  </a:cubicBezTo>
                  <a:lnTo>
                    <a:pt x="535682" y="2918839"/>
                  </a:lnTo>
                  <a:cubicBezTo>
                    <a:pt x="535682" y="3026052"/>
                    <a:pt x="448768" y="3112966"/>
                    <a:pt x="341555" y="3112966"/>
                  </a:cubicBezTo>
                  <a:lnTo>
                    <a:pt x="194127" y="3112966"/>
                  </a:lnTo>
                  <a:cubicBezTo>
                    <a:pt x="86914" y="3112966"/>
                    <a:pt x="0" y="3026052"/>
                    <a:pt x="0" y="2918839"/>
                  </a:cubicBezTo>
                  <a:lnTo>
                    <a:pt x="0" y="194127"/>
                  </a:lnTo>
                  <a:cubicBezTo>
                    <a:pt x="0" y="86914"/>
                    <a:pt x="86914" y="0"/>
                    <a:pt x="194127" y="0"/>
                  </a:cubicBezTo>
                  <a:close/>
                </a:path>
              </a:pathLst>
            </a:custGeom>
            <a:solidFill>
              <a:srgbClr val="191E3A"/>
            </a:solidFill>
          </p:spPr>
        </p:sp>
        <p:sp>
          <p:nvSpPr>
            <p:cNvPr name="TextBox 4" id="4"/>
            <p:cNvSpPr txBox="true"/>
            <p:nvPr/>
          </p:nvSpPr>
          <p:spPr>
            <a:xfrm>
              <a:off x="0" y="-38100"/>
              <a:ext cx="535682" cy="3151066"/>
            </a:xfrm>
            <a:prstGeom prst="rect">
              <a:avLst/>
            </a:prstGeom>
          </p:spPr>
          <p:txBody>
            <a:bodyPr anchor="ctr" rtlCol="false" tIns="50800" lIns="50800" bIns="50800" rIns="50800"/>
            <a:lstStyle/>
            <a:p>
              <a:pPr algn="ctr">
                <a:lnSpc>
                  <a:spcPts val="2659"/>
                </a:lnSpc>
                <a:spcBef>
                  <a:spcPct val="0"/>
                </a:spcBef>
              </a:pPr>
            </a:p>
          </p:txBody>
        </p:sp>
      </p:grpSp>
      <p:sp>
        <p:nvSpPr>
          <p:cNvPr name="TextBox 5" id="5"/>
          <p:cNvSpPr txBox="true"/>
          <p:nvPr/>
        </p:nvSpPr>
        <p:spPr>
          <a:xfrm rot="0">
            <a:off x="2877161" y="914400"/>
            <a:ext cx="12693292" cy="1035686"/>
          </a:xfrm>
          <a:prstGeom prst="rect">
            <a:avLst/>
          </a:prstGeom>
        </p:spPr>
        <p:txBody>
          <a:bodyPr anchor="t" rtlCol="false" tIns="0" lIns="0" bIns="0" rIns="0">
            <a:spAutoFit/>
          </a:bodyPr>
          <a:lstStyle/>
          <a:p>
            <a:pPr algn="l">
              <a:lnSpc>
                <a:spcPts val="8539"/>
              </a:lnSpc>
            </a:pPr>
            <a:r>
              <a:rPr lang="en-US" sz="6099">
                <a:solidFill>
                  <a:srgbClr val="191E3A"/>
                </a:solidFill>
                <a:latin typeface="Libre Baskerville"/>
                <a:ea typeface="Libre Baskerville"/>
                <a:cs typeface="Libre Baskerville"/>
                <a:sym typeface="Libre Baskerville"/>
              </a:rPr>
              <a:t>Abstract</a:t>
            </a:r>
          </a:p>
        </p:txBody>
      </p:sp>
      <p:grpSp>
        <p:nvGrpSpPr>
          <p:cNvPr name="Group 6" id="6"/>
          <p:cNvGrpSpPr/>
          <p:nvPr/>
        </p:nvGrpSpPr>
        <p:grpSpPr>
          <a:xfrm rot="0">
            <a:off x="9525" y="-766271"/>
            <a:ext cx="2425719" cy="11819542"/>
            <a:chOff x="0" y="0"/>
            <a:chExt cx="638872" cy="3112966"/>
          </a:xfrm>
        </p:grpSpPr>
        <p:sp>
          <p:nvSpPr>
            <p:cNvPr name="Freeform 7" id="7"/>
            <p:cNvSpPr/>
            <p:nvPr/>
          </p:nvSpPr>
          <p:spPr>
            <a:xfrm flipH="false" flipV="false" rot="0">
              <a:off x="0" y="0"/>
              <a:ext cx="638872" cy="3112966"/>
            </a:xfrm>
            <a:custGeom>
              <a:avLst/>
              <a:gdLst/>
              <a:ahLst/>
              <a:cxnLst/>
              <a:rect r="r" b="b" t="t" l="l"/>
              <a:pathLst>
                <a:path h="3112966" w="638872">
                  <a:moveTo>
                    <a:pt x="162772" y="0"/>
                  </a:moveTo>
                  <a:lnTo>
                    <a:pt x="476101" y="0"/>
                  </a:lnTo>
                  <a:cubicBezTo>
                    <a:pt x="519271" y="0"/>
                    <a:pt x="560672" y="17149"/>
                    <a:pt x="591198" y="47675"/>
                  </a:cubicBezTo>
                  <a:cubicBezTo>
                    <a:pt x="621723" y="78200"/>
                    <a:pt x="638872" y="119602"/>
                    <a:pt x="638872" y="162772"/>
                  </a:cubicBezTo>
                  <a:lnTo>
                    <a:pt x="638872" y="2950194"/>
                  </a:lnTo>
                  <a:cubicBezTo>
                    <a:pt x="638872" y="2993364"/>
                    <a:pt x="621723" y="3034765"/>
                    <a:pt x="591198" y="3065291"/>
                  </a:cubicBezTo>
                  <a:cubicBezTo>
                    <a:pt x="560672" y="3095816"/>
                    <a:pt x="519271" y="3112966"/>
                    <a:pt x="476101" y="3112966"/>
                  </a:cubicBezTo>
                  <a:lnTo>
                    <a:pt x="162772" y="3112966"/>
                  </a:lnTo>
                  <a:cubicBezTo>
                    <a:pt x="119602" y="3112966"/>
                    <a:pt x="78200" y="3095816"/>
                    <a:pt x="47675" y="3065291"/>
                  </a:cubicBezTo>
                  <a:cubicBezTo>
                    <a:pt x="17149" y="3034765"/>
                    <a:pt x="0" y="2993364"/>
                    <a:pt x="0" y="2950194"/>
                  </a:cubicBezTo>
                  <a:lnTo>
                    <a:pt x="0" y="162772"/>
                  </a:lnTo>
                  <a:cubicBezTo>
                    <a:pt x="0" y="119602"/>
                    <a:pt x="17149" y="78200"/>
                    <a:pt x="47675" y="47675"/>
                  </a:cubicBezTo>
                  <a:cubicBezTo>
                    <a:pt x="78200" y="17149"/>
                    <a:pt x="119602" y="0"/>
                    <a:pt x="162772" y="0"/>
                  </a:cubicBezTo>
                  <a:close/>
                </a:path>
              </a:pathLst>
            </a:custGeom>
            <a:solidFill>
              <a:srgbClr val="191E3A"/>
            </a:solidFill>
          </p:spPr>
        </p:sp>
        <p:sp>
          <p:nvSpPr>
            <p:cNvPr name="TextBox 8" id="8"/>
            <p:cNvSpPr txBox="true"/>
            <p:nvPr/>
          </p:nvSpPr>
          <p:spPr>
            <a:xfrm>
              <a:off x="0" y="-38100"/>
              <a:ext cx="638872" cy="3151066"/>
            </a:xfrm>
            <a:prstGeom prst="rect">
              <a:avLst/>
            </a:prstGeom>
          </p:spPr>
          <p:txBody>
            <a:bodyPr anchor="ctr" rtlCol="false" tIns="50800" lIns="50800" bIns="50800" rIns="50800"/>
            <a:lstStyle/>
            <a:p>
              <a:pPr algn="ctr">
                <a:lnSpc>
                  <a:spcPts val="2659"/>
                </a:lnSpc>
                <a:spcBef>
                  <a:spcPct val="0"/>
                </a:spcBef>
              </a:pPr>
            </a:p>
          </p:txBody>
        </p:sp>
      </p:grpSp>
      <p:sp>
        <p:nvSpPr>
          <p:cNvPr name="Freeform 9" id="9"/>
          <p:cNvSpPr/>
          <p:nvPr/>
        </p:nvSpPr>
        <p:spPr>
          <a:xfrm flipH="false" flipV="false" rot="0">
            <a:off x="268209" y="348842"/>
            <a:ext cx="1889301" cy="1889301"/>
          </a:xfrm>
          <a:custGeom>
            <a:avLst/>
            <a:gdLst/>
            <a:ahLst/>
            <a:cxnLst/>
            <a:rect r="r" b="b" t="t" l="l"/>
            <a:pathLst>
              <a:path h="1889301" w="1889301">
                <a:moveTo>
                  <a:pt x="0" y="0"/>
                </a:moveTo>
                <a:lnTo>
                  <a:pt x="1889301" y="0"/>
                </a:lnTo>
                <a:lnTo>
                  <a:pt x="1889301" y="1889301"/>
                </a:lnTo>
                <a:lnTo>
                  <a:pt x="0" y="1889301"/>
                </a:lnTo>
                <a:lnTo>
                  <a:pt x="0" y="0"/>
                </a:lnTo>
                <a:close/>
              </a:path>
            </a:pathLst>
          </a:custGeom>
          <a:blipFill>
            <a:blip r:embed="rId2"/>
            <a:stretch>
              <a:fillRect l="0" t="0" r="0" b="0"/>
            </a:stretch>
          </a:blipFill>
        </p:spPr>
      </p:sp>
      <p:sp>
        <p:nvSpPr>
          <p:cNvPr name="Freeform 10" id="10"/>
          <p:cNvSpPr/>
          <p:nvPr/>
        </p:nvSpPr>
        <p:spPr>
          <a:xfrm flipH="false" flipV="false" rot="0">
            <a:off x="5082421" y="2238143"/>
            <a:ext cx="8282773" cy="3487676"/>
          </a:xfrm>
          <a:custGeom>
            <a:avLst/>
            <a:gdLst/>
            <a:ahLst/>
            <a:cxnLst/>
            <a:rect r="r" b="b" t="t" l="l"/>
            <a:pathLst>
              <a:path h="3487676" w="8282773">
                <a:moveTo>
                  <a:pt x="0" y="0"/>
                </a:moveTo>
                <a:lnTo>
                  <a:pt x="8282773" y="0"/>
                </a:lnTo>
                <a:lnTo>
                  <a:pt x="8282773" y="3487676"/>
                </a:lnTo>
                <a:lnTo>
                  <a:pt x="0" y="348767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1" id="11"/>
          <p:cNvSpPr/>
          <p:nvPr/>
        </p:nvSpPr>
        <p:spPr>
          <a:xfrm flipH="false" flipV="false" rot="0">
            <a:off x="5334410" y="2825509"/>
            <a:ext cx="7778795" cy="2647712"/>
          </a:xfrm>
          <a:custGeom>
            <a:avLst/>
            <a:gdLst/>
            <a:ahLst/>
            <a:cxnLst/>
            <a:rect r="r" b="b" t="t" l="l"/>
            <a:pathLst>
              <a:path h="2647712" w="7778795">
                <a:moveTo>
                  <a:pt x="0" y="0"/>
                </a:moveTo>
                <a:lnTo>
                  <a:pt x="7778795" y="0"/>
                </a:lnTo>
                <a:lnTo>
                  <a:pt x="7778795" y="2647712"/>
                </a:lnTo>
                <a:lnTo>
                  <a:pt x="0" y="264771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12" id="12"/>
          <p:cNvGrpSpPr/>
          <p:nvPr/>
        </p:nvGrpSpPr>
        <p:grpSpPr>
          <a:xfrm rot="0">
            <a:off x="6720350" y="2825509"/>
            <a:ext cx="5006915" cy="2647712"/>
            <a:chOff x="0" y="0"/>
            <a:chExt cx="4178808" cy="2209800"/>
          </a:xfrm>
        </p:grpSpPr>
        <p:sp>
          <p:nvSpPr>
            <p:cNvPr name="Freeform 13" id="13"/>
            <p:cNvSpPr/>
            <p:nvPr/>
          </p:nvSpPr>
          <p:spPr>
            <a:xfrm flipH="false" flipV="false" rot="0">
              <a:off x="-1155446" y="0"/>
              <a:ext cx="6489700" cy="2209800"/>
            </a:xfrm>
            <a:custGeom>
              <a:avLst/>
              <a:gdLst/>
              <a:ahLst/>
              <a:cxnLst/>
              <a:rect r="r" b="b" t="t" l="l"/>
              <a:pathLst>
                <a:path h="2209800" w="6489700">
                  <a:moveTo>
                    <a:pt x="0" y="2057400"/>
                  </a:moveTo>
                  <a:lnTo>
                    <a:pt x="0" y="152400"/>
                  </a:lnTo>
                  <a:cubicBezTo>
                    <a:pt x="0" y="132194"/>
                    <a:pt x="3861" y="112751"/>
                    <a:pt x="11595" y="94082"/>
                  </a:cubicBezTo>
                  <a:cubicBezTo>
                    <a:pt x="19329" y="75413"/>
                    <a:pt x="30353" y="58928"/>
                    <a:pt x="44641" y="44641"/>
                  </a:cubicBezTo>
                  <a:cubicBezTo>
                    <a:pt x="58928" y="30340"/>
                    <a:pt x="75413" y="19329"/>
                    <a:pt x="94082" y="11595"/>
                  </a:cubicBezTo>
                  <a:cubicBezTo>
                    <a:pt x="112751" y="3861"/>
                    <a:pt x="132194" y="0"/>
                    <a:pt x="152400" y="0"/>
                  </a:cubicBezTo>
                  <a:lnTo>
                    <a:pt x="6337300" y="0"/>
                  </a:lnTo>
                  <a:cubicBezTo>
                    <a:pt x="6357506" y="0"/>
                    <a:pt x="6376949" y="3861"/>
                    <a:pt x="6395618" y="11595"/>
                  </a:cubicBezTo>
                  <a:cubicBezTo>
                    <a:pt x="6414287" y="19329"/>
                    <a:pt x="6430772" y="30340"/>
                    <a:pt x="6445060" y="44641"/>
                  </a:cubicBezTo>
                  <a:cubicBezTo>
                    <a:pt x="6459347" y="58928"/>
                    <a:pt x="6470370" y="75413"/>
                    <a:pt x="6478092" y="94082"/>
                  </a:cubicBezTo>
                  <a:cubicBezTo>
                    <a:pt x="6485826" y="112751"/>
                    <a:pt x="6489700" y="132194"/>
                    <a:pt x="6489700" y="152400"/>
                  </a:cubicBezTo>
                  <a:lnTo>
                    <a:pt x="6489700" y="2057400"/>
                  </a:lnTo>
                  <a:cubicBezTo>
                    <a:pt x="6489700" y="2077606"/>
                    <a:pt x="6485826" y="2097049"/>
                    <a:pt x="6478092" y="2115718"/>
                  </a:cubicBezTo>
                  <a:cubicBezTo>
                    <a:pt x="6470370" y="2134387"/>
                    <a:pt x="6459347" y="2150872"/>
                    <a:pt x="6445060" y="2165160"/>
                  </a:cubicBezTo>
                  <a:cubicBezTo>
                    <a:pt x="6430772" y="2179447"/>
                    <a:pt x="6414287" y="2190471"/>
                    <a:pt x="6395618" y="2198192"/>
                  </a:cubicBezTo>
                  <a:cubicBezTo>
                    <a:pt x="6376949" y="2205927"/>
                    <a:pt x="6357506" y="2209800"/>
                    <a:pt x="6337300" y="2209800"/>
                  </a:cubicBezTo>
                  <a:lnTo>
                    <a:pt x="152400" y="2209800"/>
                  </a:lnTo>
                  <a:cubicBezTo>
                    <a:pt x="132194" y="2209800"/>
                    <a:pt x="112751" y="2205927"/>
                    <a:pt x="94082" y="2198192"/>
                  </a:cubicBezTo>
                  <a:cubicBezTo>
                    <a:pt x="75413" y="2190471"/>
                    <a:pt x="58928" y="2179447"/>
                    <a:pt x="44641" y="2165160"/>
                  </a:cubicBezTo>
                  <a:cubicBezTo>
                    <a:pt x="30353" y="2150872"/>
                    <a:pt x="19329" y="2134387"/>
                    <a:pt x="11595" y="2115718"/>
                  </a:cubicBezTo>
                  <a:cubicBezTo>
                    <a:pt x="3861" y="2097049"/>
                    <a:pt x="0" y="2077606"/>
                    <a:pt x="0" y="2057400"/>
                  </a:cubicBezTo>
                  <a:close/>
                </a:path>
              </a:pathLst>
            </a:custGeom>
            <a:blipFill>
              <a:blip r:embed="rId7"/>
              <a:stretch>
                <a:fillRect l="17804" t="0" r="17804" b="0"/>
              </a:stretch>
            </a:blipFill>
          </p:spPr>
        </p:sp>
      </p:grpSp>
      <p:sp>
        <p:nvSpPr>
          <p:cNvPr name="TextBox 14" id="14"/>
          <p:cNvSpPr txBox="true"/>
          <p:nvPr/>
        </p:nvSpPr>
        <p:spPr>
          <a:xfrm rot="0">
            <a:off x="9952780" y="2419073"/>
            <a:ext cx="3224365" cy="256962"/>
          </a:xfrm>
          <a:prstGeom prst="rect">
            <a:avLst/>
          </a:prstGeom>
        </p:spPr>
        <p:txBody>
          <a:bodyPr anchor="t" rtlCol="false" tIns="0" lIns="0" bIns="0" rIns="0">
            <a:spAutoFit/>
          </a:bodyPr>
          <a:lstStyle/>
          <a:p>
            <a:pPr algn="l">
              <a:lnSpc>
                <a:spcPts val="2012"/>
              </a:lnSpc>
            </a:pPr>
            <a:r>
              <a:rPr lang="en-US" sz="1437">
                <a:solidFill>
                  <a:srgbClr val="667085"/>
                </a:solidFill>
                <a:latin typeface="Arimo"/>
                <a:ea typeface="Arimo"/>
                <a:cs typeface="Arimo"/>
                <a:sym typeface="Arimo"/>
              </a:rPr>
              <a:t>CRX / CRY ring · generated from code</a:t>
            </a:r>
          </a:p>
        </p:txBody>
      </p:sp>
      <p:sp>
        <p:nvSpPr>
          <p:cNvPr name="TextBox 15" id="15"/>
          <p:cNvSpPr txBox="true"/>
          <p:nvPr/>
        </p:nvSpPr>
        <p:spPr>
          <a:xfrm rot="0">
            <a:off x="5335931" y="2500437"/>
            <a:ext cx="2345310" cy="242841"/>
          </a:xfrm>
          <a:prstGeom prst="rect">
            <a:avLst/>
          </a:prstGeom>
        </p:spPr>
        <p:txBody>
          <a:bodyPr anchor="t" rtlCol="false" tIns="0" lIns="0" bIns="0" rIns="0">
            <a:spAutoFit/>
          </a:bodyPr>
          <a:lstStyle/>
          <a:p>
            <a:pPr algn="l">
              <a:lnSpc>
                <a:spcPts val="1962"/>
              </a:lnSpc>
            </a:pPr>
            <a:r>
              <a:rPr lang="en-US" b="true" sz="1401" i="true">
                <a:solidFill>
                  <a:srgbClr val="0B1020"/>
                </a:solidFill>
                <a:latin typeface="Courier New OS Bold Italics"/>
                <a:ea typeface="Courier New OS Bold Italics"/>
                <a:cs typeface="Courier New OS Bold Italics"/>
                <a:sym typeface="Courier New OS Bold Italics"/>
              </a:rPr>
              <a:t>ansatz_simulator(5, 2)</a:t>
            </a:r>
          </a:p>
        </p:txBody>
      </p:sp>
      <p:sp>
        <p:nvSpPr>
          <p:cNvPr name="Freeform 16" id="16"/>
          <p:cNvSpPr/>
          <p:nvPr/>
        </p:nvSpPr>
        <p:spPr>
          <a:xfrm flipH="false" flipV="false" rot="0">
            <a:off x="5759150" y="9246647"/>
            <a:ext cx="18260082" cy="10287730"/>
          </a:xfrm>
          <a:custGeom>
            <a:avLst/>
            <a:gdLst/>
            <a:ahLst/>
            <a:cxnLst/>
            <a:rect r="r" b="b" t="t" l="l"/>
            <a:pathLst>
              <a:path h="10287730" w="18260082">
                <a:moveTo>
                  <a:pt x="0" y="0"/>
                </a:moveTo>
                <a:lnTo>
                  <a:pt x="18260083" y="0"/>
                </a:lnTo>
                <a:lnTo>
                  <a:pt x="18260083" y="10287730"/>
                </a:lnTo>
                <a:lnTo>
                  <a:pt x="0" y="1028773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7" id="17"/>
          <p:cNvSpPr/>
          <p:nvPr/>
        </p:nvSpPr>
        <p:spPr>
          <a:xfrm flipH="false" flipV="false" rot="0">
            <a:off x="5082421" y="6011569"/>
            <a:ext cx="8282773" cy="3487676"/>
          </a:xfrm>
          <a:custGeom>
            <a:avLst/>
            <a:gdLst/>
            <a:ahLst/>
            <a:cxnLst/>
            <a:rect r="r" b="b" t="t" l="l"/>
            <a:pathLst>
              <a:path h="3487676" w="8282773">
                <a:moveTo>
                  <a:pt x="0" y="0"/>
                </a:moveTo>
                <a:lnTo>
                  <a:pt x="8282773" y="0"/>
                </a:lnTo>
                <a:lnTo>
                  <a:pt x="8282773" y="3487675"/>
                </a:lnTo>
                <a:lnTo>
                  <a:pt x="0" y="3487675"/>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8" id="18"/>
          <p:cNvSpPr/>
          <p:nvPr/>
        </p:nvSpPr>
        <p:spPr>
          <a:xfrm flipH="false" flipV="false" rot="0">
            <a:off x="5334410" y="6598935"/>
            <a:ext cx="7778795" cy="2647712"/>
          </a:xfrm>
          <a:custGeom>
            <a:avLst/>
            <a:gdLst/>
            <a:ahLst/>
            <a:cxnLst/>
            <a:rect r="r" b="b" t="t" l="l"/>
            <a:pathLst>
              <a:path h="2647712" w="7778795">
                <a:moveTo>
                  <a:pt x="0" y="0"/>
                </a:moveTo>
                <a:lnTo>
                  <a:pt x="7778795" y="0"/>
                </a:lnTo>
                <a:lnTo>
                  <a:pt x="7778795" y="2647712"/>
                </a:lnTo>
                <a:lnTo>
                  <a:pt x="0" y="2647712"/>
                </a:lnTo>
                <a:lnTo>
                  <a:pt x="0" y="0"/>
                </a:lnTo>
                <a:close/>
              </a:path>
            </a:pathLst>
          </a:custGeom>
          <a:blipFill>
            <a:blip r:embed="rId5">
              <a:extLst>
                <a:ext uri="{96DAC541-7B7A-43D3-8B79-37D633B846F1}">
                  <asvg:svgBlip xmlns:asvg="http://schemas.microsoft.com/office/drawing/2016/SVG/main" r:embed="rId12"/>
                </a:ext>
              </a:extLst>
            </a:blip>
            <a:stretch>
              <a:fillRect l="0" t="0" r="0" b="0"/>
            </a:stretch>
          </a:blipFill>
        </p:spPr>
      </p:sp>
      <p:grpSp>
        <p:nvGrpSpPr>
          <p:cNvPr name="Group 19" id="19"/>
          <p:cNvGrpSpPr/>
          <p:nvPr/>
        </p:nvGrpSpPr>
        <p:grpSpPr>
          <a:xfrm rot="0">
            <a:off x="6035597" y="6598935"/>
            <a:ext cx="6376421" cy="2647712"/>
            <a:chOff x="0" y="0"/>
            <a:chExt cx="5321808" cy="2209800"/>
          </a:xfrm>
        </p:grpSpPr>
        <p:sp>
          <p:nvSpPr>
            <p:cNvPr name="Freeform 20" id="20"/>
            <p:cNvSpPr/>
            <p:nvPr/>
          </p:nvSpPr>
          <p:spPr>
            <a:xfrm flipH="false" flipV="false" rot="0">
              <a:off x="-583946" y="0"/>
              <a:ext cx="6489700" cy="2209800"/>
            </a:xfrm>
            <a:custGeom>
              <a:avLst/>
              <a:gdLst/>
              <a:ahLst/>
              <a:cxnLst/>
              <a:rect r="r" b="b" t="t" l="l"/>
              <a:pathLst>
                <a:path h="2209800" w="6489700">
                  <a:moveTo>
                    <a:pt x="0" y="2057400"/>
                  </a:moveTo>
                  <a:lnTo>
                    <a:pt x="0" y="152400"/>
                  </a:lnTo>
                  <a:cubicBezTo>
                    <a:pt x="0" y="132194"/>
                    <a:pt x="3861" y="112751"/>
                    <a:pt x="11595" y="94082"/>
                  </a:cubicBezTo>
                  <a:cubicBezTo>
                    <a:pt x="19329" y="75413"/>
                    <a:pt x="30340" y="58928"/>
                    <a:pt x="44640" y="44641"/>
                  </a:cubicBezTo>
                  <a:cubicBezTo>
                    <a:pt x="58928" y="30340"/>
                    <a:pt x="75413" y="19329"/>
                    <a:pt x="94082" y="11595"/>
                  </a:cubicBezTo>
                  <a:cubicBezTo>
                    <a:pt x="112751" y="3861"/>
                    <a:pt x="132194" y="0"/>
                    <a:pt x="152400" y="0"/>
                  </a:cubicBezTo>
                  <a:lnTo>
                    <a:pt x="6337300" y="0"/>
                  </a:lnTo>
                  <a:cubicBezTo>
                    <a:pt x="6357506" y="0"/>
                    <a:pt x="6376949" y="3861"/>
                    <a:pt x="6395618" y="11595"/>
                  </a:cubicBezTo>
                  <a:cubicBezTo>
                    <a:pt x="6414287" y="19329"/>
                    <a:pt x="6430772" y="30340"/>
                    <a:pt x="6445060" y="44641"/>
                  </a:cubicBezTo>
                  <a:cubicBezTo>
                    <a:pt x="6459347" y="58928"/>
                    <a:pt x="6470358" y="75413"/>
                    <a:pt x="6478092" y="94082"/>
                  </a:cubicBezTo>
                  <a:cubicBezTo>
                    <a:pt x="6485826" y="112751"/>
                    <a:pt x="6489700" y="132194"/>
                    <a:pt x="6489700" y="152400"/>
                  </a:cubicBezTo>
                  <a:lnTo>
                    <a:pt x="6489700" y="2057400"/>
                  </a:lnTo>
                  <a:cubicBezTo>
                    <a:pt x="6489700" y="2077606"/>
                    <a:pt x="6485826" y="2097049"/>
                    <a:pt x="6478092" y="2115718"/>
                  </a:cubicBezTo>
                  <a:cubicBezTo>
                    <a:pt x="6470358" y="2134387"/>
                    <a:pt x="6459347" y="2150872"/>
                    <a:pt x="6445060" y="2165160"/>
                  </a:cubicBezTo>
                  <a:cubicBezTo>
                    <a:pt x="6430772" y="2179447"/>
                    <a:pt x="6414287" y="2190471"/>
                    <a:pt x="6395618" y="2198192"/>
                  </a:cubicBezTo>
                  <a:cubicBezTo>
                    <a:pt x="6376949" y="2205927"/>
                    <a:pt x="6357506" y="2209800"/>
                    <a:pt x="6337300" y="2209800"/>
                  </a:cubicBezTo>
                  <a:lnTo>
                    <a:pt x="152400" y="2209800"/>
                  </a:lnTo>
                  <a:cubicBezTo>
                    <a:pt x="132194" y="2209800"/>
                    <a:pt x="112751" y="2205927"/>
                    <a:pt x="94082" y="2198192"/>
                  </a:cubicBezTo>
                  <a:cubicBezTo>
                    <a:pt x="75413" y="2190471"/>
                    <a:pt x="58928" y="2179447"/>
                    <a:pt x="44640" y="2165160"/>
                  </a:cubicBezTo>
                  <a:cubicBezTo>
                    <a:pt x="30340" y="2150872"/>
                    <a:pt x="19329" y="2134387"/>
                    <a:pt x="11595" y="2115718"/>
                  </a:cubicBezTo>
                  <a:cubicBezTo>
                    <a:pt x="3861" y="2097049"/>
                    <a:pt x="0" y="2077606"/>
                    <a:pt x="0" y="2057400"/>
                  </a:cubicBezTo>
                  <a:close/>
                </a:path>
              </a:pathLst>
            </a:custGeom>
            <a:blipFill>
              <a:blip r:embed="rId13"/>
              <a:stretch>
                <a:fillRect l="8998" t="0" r="8998" b="0"/>
              </a:stretch>
            </a:blipFill>
          </p:spPr>
        </p:sp>
      </p:grpSp>
      <p:sp>
        <p:nvSpPr>
          <p:cNvPr name="TextBox 21" id="21"/>
          <p:cNvSpPr txBox="true"/>
          <p:nvPr/>
        </p:nvSpPr>
        <p:spPr>
          <a:xfrm rot="0">
            <a:off x="9584261" y="6192498"/>
            <a:ext cx="3600340" cy="256962"/>
          </a:xfrm>
          <a:prstGeom prst="rect">
            <a:avLst/>
          </a:prstGeom>
        </p:spPr>
        <p:txBody>
          <a:bodyPr anchor="t" rtlCol="false" tIns="0" lIns="0" bIns="0" rIns="0">
            <a:spAutoFit/>
          </a:bodyPr>
          <a:lstStyle/>
          <a:p>
            <a:pPr algn="l">
              <a:lnSpc>
                <a:spcPts val="2012"/>
              </a:lnSpc>
            </a:pPr>
            <a:r>
              <a:rPr lang="en-US" sz="1437">
                <a:solidFill>
                  <a:srgbClr val="667085"/>
                </a:solidFill>
                <a:latin typeface="Arimo"/>
                <a:ea typeface="Arimo"/>
                <a:cs typeface="Arimo"/>
                <a:sym typeface="Arimo"/>
              </a:rPr>
              <a:t>RZ + CZ native ring · generated from code</a:t>
            </a:r>
          </a:p>
        </p:txBody>
      </p:sp>
      <p:sp>
        <p:nvSpPr>
          <p:cNvPr name="TextBox 22" id="22"/>
          <p:cNvSpPr txBox="true"/>
          <p:nvPr/>
        </p:nvSpPr>
        <p:spPr>
          <a:xfrm rot="0">
            <a:off x="5335931" y="6273862"/>
            <a:ext cx="1812846" cy="242841"/>
          </a:xfrm>
          <a:prstGeom prst="rect">
            <a:avLst/>
          </a:prstGeom>
        </p:spPr>
        <p:txBody>
          <a:bodyPr anchor="t" rtlCol="false" tIns="0" lIns="0" bIns="0" rIns="0">
            <a:spAutoFit/>
          </a:bodyPr>
          <a:lstStyle/>
          <a:p>
            <a:pPr algn="l">
              <a:lnSpc>
                <a:spcPts val="1962"/>
              </a:lnSpc>
            </a:pPr>
            <a:r>
              <a:rPr lang="en-US" b="true" sz="1401" i="true">
                <a:solidFill>
                  <a:srgbClr val="0B1020"/>
                </a:solidFill>
                <a:latin typeface="Courier New OS Bold Italics"/>
                <a:ea typeface="Courier New OS Bold Italics"/>
                <a:cs typeface="Courier New OS Bold Italics"/>
                <a:sym typeface="Courier New OS Bold Italics"/>
              </a:rPr>
              <a:t>ansatz_odra(5, 2)</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766271"/>
            <a:ext cx="2033918" cy="11819542"/>
            <a:chOff x="0" y="0"/>
            <a:chExt cx="535682" cy="3112966"/>
          </a:xfrm>
        </p:grpSpPr>
        <p:sp>
          <p:nvSpPr>
            <p:cNvPr name="Freeform 3" id="3"/>
            <p:cNvSpPr/>
            <p:nvPr/>
          </p:nvSpPr>
          <p:spPr>
            <a:xfrm flipH="false" flipV="false" rot="0">
              <a:off x="0" y="0"/>
              <a:ext cx="535682" cy="3112966"/>
            </a:xfrm>
            <a:custGeom>
              <a:avLst/>
              <a:gdLst/>
              <a:ahLst/>
              <a:cxnLst/>
              <a:rect r="r" b="b" t="t" l="l"/>
              <a:pathLst>
                <a:path h="3112966" w="535682">
                  <a:moveTo>
                    <a:pt x="194127" y="0"/>
                  </a:moveTo>
                  <a:lnTo>
                    <a:pt x="341555" y="0"/>
                  </a:lnTo>
                  <a:cubicBezTo>
                    <a:pt x="448768" y="0"/>
                    <a:pt x="535682" y="86914"/>
                    <a:pt x="535682" y="194127"/>
                  </a:cubicBezTo>
                  <a:lnTo>
                    <a:pt x="535682" y="2918839"/>
                  </a:lnTo>
                  <a:cubicBezTo>
                    <a:pt x="535682" y="3026052"/>
                    <a:pt x="448768" y="3112966"/>
                    <a:pt x="341555" y="3112966"/>
                  </a:cubicBezTo>
                  <a:lnTo>
                    <a:pt x="194127" y="3112966"/>
                  </a:lnTo>
                  <a:cubicBezTo>
                    <a:pt x="86914" y="3112966"/>
                    <a:pt x="0" y="3026052"/>
                    <a:pt x="0" y="2918839"/>
                  </a:cubicBezTo>
                  <a:lnTo>
                    <a:pt x="0" y="194127"/>
                  </a:lnTo>
                  <a:cubicBezTo>
                    <a:pt x="0" y="86914"/>
                    <a:pt x="86914" y="0"/>
                    <a:pt x="194127" y="0"/>
                  </a:cubicBezTo>
                  <a:close/>
                </a:path>
              </a:pathLst>
            </a:custGeom>
            <a:solidFill>
              <a:srgbClr val="191E3A"/>
            </a:solidFill>
          </p:spPr>
        </p:sp>
        <p:sp>
          <p:nvSpPr>
            <p:cNvPr name="TextBox 4" id="4"/>
            <p:cNvSpPr txBox="true"/>
            <p:nvPr/>
          </p:nvSpPr>
          <p:spPr>
            <a:xfrm>
              <a:off x="0" y="-38100"/>
              <a:ext cx="535682" cy="3151066"/>
            </a:xfrm>
            <a:prstGeom prst="rect">
              <a:avLst/>
            </a:prstGeom>
          </p:spPr>
          <p:txBody>
            <a:bodyPr anchor="ctr" rtlCol="false" tIns="50800" lIns="50800" bIns="50800" rIns="50800"/>
            <a:lstStyle/>
            <a:p>
              <a:pPr algn="ctr">
                <a:lnSpc>
                  <a:spcPts val="2659"/>
                </a:lnSpc>
                <a:spcBef>
                  <a:spcPct val="0"/>
                </a:spcBef>
              </a:pPr>
            </a:p>
          </p:txBody>
        </p:sp>
      </p:grpSp>
      <p:sp>
        <p:nvSpPr>
          <p:cNvPr name="TextBox 5" id="5"/>
          <p:cNvSpPr txBox="true"/>
          <p:nvPr/>
        </p:nvSpPr>
        <p:spPr>
          <a:xfrm rot="0">
            <a:off x="2877161" y="914400"/>
            <a:ext cx="7149208" cy="1035686"/>
          </a:xfrm>
          <a:prstGeom prst="rect">
            <a:avLst/>
          </a:prstGeom>
        </p:spPr>
        <p:txBody>
          <a:bodyPr anchor="t" rtlCol="false" tIns="0" lIns="0" bIns="0" rIns="0">
            <a:spAutoFit/>
          </a:bodyPr>
          <a:lstStyle/>
          <a:p>
            <a:pPr algn="l">
              <a:lnSpc>
                <a:spcPts val="8539"/>
              </a:lnSpc>
            </a:pPr>
            <a:r>
              <a:rPr lang="en-US" sz="6099">
                <a:solidFill>
                  <a:srgbClr val="191E3A"/>
                </a:solidFill>
                <a:latin typeface="Libre Baskerville"/>
                <a:ea typeface="Libre Baskerville"/>
                <a:cs typeface="Libre Baskerville"/>
                <a:sym typeface="Libre Baskerville"/>
              </a:rPr>
              <a:t>Metrics on ODRA</a:t>
            </a:r>
          </a:p>
        </p:txBody>
      </p:sp>
      <p:grpSp>
        <p:nvGrpSpPr>
          <p:cNvPr name="Group 6" id="6"/>
          <p:cNvGrpSpPr/>
          <p:nvPr/>
        </p:nvGrpSpPr>
        <p:grpSpPr>
          <a:xfrm rot="0">
            <a:off x="9525" y="-766271"/>
            <a:ext cx="2425719" cy="11819542"/>
            <a:chOff x="0" y="0"/>
            <a:chExt cx="638872" cy="3112966"/>
          </a:xfrm>
        </p:grpSpPr>
        <p:sp>
          <p:nvSpPr>
            <p:cNvPr name="Freeform 7" id="7"/>
            <p:cNvSpPr/>
            <p:nvPr/>
          </p:nvSpPr>
          <p:spPr>
            <a:xfrm flipH="false" flipV="false" rot="0">
              <a:off x="0" y="0"/>
              <a:ext cx="638872" cy="3112966"/>
            </a:xfrm>
            <a:custGeom>
              <a:avLst/>
              <a:gdLst/>
              <a:ahLst/>
              <a:cxnLst/>
              <a:rect r="r" b="b" t="t" l="l"/>
              <a:pathLst>
                <a:path h="3112966" w="638872">
                  <a:moveTo>
                    <a:pt x="162772" y="0"/>
                  </a:moveTo>
                  <a:lnTo>
                    <a:pt x="476101" y="0"/>
                  </a:lnTo>
                  <a:cubicBezTo>
                    <a:pt x="519271" y="0"/>
                    <a:pt x="560672" y="17149"/>
                    <a:pt x="591198" y="47675"/>
                  </a:cubicBezTo>
                  <a:cubicBezTo>
                    <a:pt x="621723" y="78200"/>
                    <a:pt x="638872" y="119602"/>
                    <a:pt x="638872" y="162772"/>
                  </a:cubicBezTo>
                  <a:lnTo>
                    <a:pt x="638872" y="2950194"/>
                  </a:lnTo>
                  <a:cubicBezTo>
                    <a:pt x="638872" y="2993364"/>
                    <a:pt x="621723" y="3034765"/>
                    <a:pt x="591198" y="3065291"/>
                  </a:cubicBezTo>
                  <a:cubicBezTo>
                    <a:pt x="560672" y="3095816"/>
                    <a:pt x="519271" y="3112966"/>
                    <a:pt x="476101" y="3112966"/>
                  </a:cubicBezTo>
                  <a:lnTo>
                    <a:pt x="162772" y="3112966"/>
                  </a:lnTo>
                  <a:cubicBezTo>
                    <a:pt x="119602" y="3112966"/>
                    <a:pt x="78200" y="3095816"/>
                    <a:pt x="47675" y="3065291"/>
                  </a:cubicBezTo>
                  <a:cubicBezTo>
                    <a:pt x="17149" y="3034765"/>
                    <a:pt x="0" y="2993364"/>
                    <a:pt x="0" y="2950194"/>
                  </a:cubicBezTo>
                  <a:lnTo>
                    <a:pt x="0" y="162772"/>
                  </a:lnTo>
                  <a:cubicBezTo>
                    <a:pt x="0" y="119602"/>
                    <a:pt x="17149" y="78200"/>
                    <a:pt x="47675" y="47675"/>
                  </a:cubicBezTo>
                  <a:cubicBezTo>
                    <a:pt x="78200" y="17149"/>
                    <a:pt x="119602" y="0"/>
                    <a:pt x="162772" y="0"/>
                  </a:cubicBezTo>
                  <a:close/>
                </a:path>
              </a:pathLst>
            </a:custGeom>
            <a:solidFill>
              <a:srgbClr val="191E3A"/>
            </a:solidFill>
          </p:spPr>
        </p:sp>
        <p:sp>
          <p:nvSpPr>
            <p:cNvPr name="TextBox 8" id="8"/>
            <p:cNvSpPr txBox="true"/>
            <p:nvPr/>
          </p:nvSpPr>
          <p:spPr>
            <a:xfrm>
              <a:off x="0" y="-38100"/>
              <a:ext cx="638872" cy="3151066"/>
            </a:xfrm>
            <a:prstGeom prst="rect">
              <a:avLst/>
            </a:prstGeom>
          </p:spPr>
          <p:txBody>
            <a:bodyPr anchor="ctr" rtlCol="false" tIns="50800" lIns="50800" bIns="50800" rIns="50800"/>
            <a:lstStyle/>
            <a:p>
              <a:pPr algn="ctr">
                <a:lnSpc>
                  <a:spcPts val="2659"/>
                </a:lnSpc>
                <a:spcBef>
                  <a:spcPct val="0"/>
                </a:spcBef>
              </a:pPr>
            </a:p>
          </p:txBody>
        </p:sp>
      </p:grpSp>
      <p:sp>
        <p:nvSpPr>
          <p:cNvPr name="Freeform 9" id="9"/>
          <p:cNvSpPr/>
          <p:nvPr/>
        </p:nvSpPr>
        <p:spPr>
          <a:xfrm flipH="false" flipV="false" rot="0">
            <a:off x="268209" y="348842"/>
            <a:ext cx="1889301" cy="1889301"/>
          </a:xfrm>
          <a:custGeom>
            <a:avLst/>
            <a:gdLst/>
            <a:ahLst/>
            <a:cxnLst/>
            <a:rect r="r" b="b" t="t" l="l"/>
            <a:pathLst>
              <a:path h="1889301" w="1889301">
                <a:moveTo>
                  <a:pt x="0" y="0"/>
                </a:moveTo>
                <a:lnTo>
                  <a:pt x="1889301" y="0"/>
                </a:lnTo>
                <a:lnTo>
                  <a:pt x="1889301" y="1889301"/>
                </a:lnTo>
                <a:lnTo>
                  <a:pt x="0" y="1889301"/>
                </a:lnTo>
                <a:lnTo>
                  <a:pt x="0" y="0"/>
                </a:lnTo>
                <a:close/>
              </a:path>
            </a:pathLst>
          </a:custGeom>
          <a:blipFill>
            <a:blip r:embed="rId2"/>
            <a:stretch>
              <a:fillRect l="0" t="0" r="0" b="0"/>
            </a:stretch>
          </a:blipFill>
        </p:spPr>
      </p:sp>
      <p:sp>
        <p:nvSpPr>
          <p:cNvPr name="TextBox 10" id="10"/>
          <p:cNvSpPr txBox="true"/>
          <p:nvPr/>
        </p:nvSpPr>
        <p:spPr>
          <a:xfrm rot="0">
            <a:off x="2877161" y="2910205"/>
            <a:ext cx="14722574" cy="2233295"/>
          </a:xfrm>
          <a:prstGeom prst="rect">
            <a:avLst/>
          </a:prstGeom>
        </p:spPr>
        <p:txBody>
          <a:bodyPr anchor="t" rtlCol="false" tIns="0" lIns="0" bIns="0" rIns="0">
            <a:spAutoFit/>
          </a:bodyPr>
          <a:lstStyle/>
          <a:p>
            <a:pPr algn="just">
              <a:lnSpc>
                <a:spcPts val="4480"/>
              </a:lnSpc>
            </a:pPr>
            <a:r>
              <a:rPr lang="en-US" sz="3200">
                <a:solidFill>
                  <a:srgbClr val="000000"/>
                </a:solidFill>
                <a:latin typeface="DM Sans"/>
                <a:ea typeface="DM Sans"/>
                <a:cs typeface="DM Sans"/>
                <a:sym typeface="DM Sans"/>
              </a:rPr>
              <a:t>We assess the two ansätze on several axes. This axis runs them on the physical QPU (ODRA 5) and measures accuracy and F1 under real hardware noise.</a:t>
            </a:r>
          </a:p>
          <a:p>
            <a:pPr algn="just">
              <a:lnSpc>
                <a:spcPts val="4480"/>
              </a:lnSpc>
            </a:pPr>
          </a:p>
        </p:txBody>
      </p:sp>
      <p:sp>
        <p:nvSpPr>
          <p:cNvPr name="TextBox 11" id="11"/>
          <p:cNvSpPr txBox="true"/>
          <p:nvPr/>
        </p:nvSpPr>
        <p:spPr>
          <a:xfrm rot="0">
            <a:off x="2877161" y="5076825"/>
            <a:ext cx="14722574" cy="1109345"/>
          </a:xfrm>
          <a:prstGeom prst="rect">
            <a:avLst/>
          </a:prstGeom>
        </p:spPr>
        <p:txBody>
          <a:bodyPr anchor="t" rtlCol="false" tIns="0" lIns="0" bIns="0" rIns="0">
            <a:spAutoFit/>
          </a:bodyPr>
          <a:lstStyle/>
          <a:p>
            <a:pPr algn="just">
              <a:lnSpc>
                <a:spcPts val="4480"/>
              </a:lnSpc>
            </a:pPr>
            <a:r>
              <a:rPr lang="en-US" sz="3200">
                <a:solidFill>
                  <a:srgbClr val="000000"/>
                </a:solidFill>
                <a:latin typeface="DM Sans"/>
                <a:ea typeface="DM Sans"/>
                <a:cs typeface="DM Sans"/>
                <a:sym typeface="DM Sans"/>
              </a:rPr>
              <a:t>A single hardware measurement depends on a </a:t>
            </a:r>
            <a:r>
              <a:rPr lang="en-US" sz="3200" b="true">
                <a:solidFill>
                  <a:srgbClr val="004AAD"/>
                </a:solidFill>
                <a:latin typeface="DM Sans Bold"/>
                <a:ea typeface="DM Sans Bold"/>
                <a:cs typeface="DM Sans Bold"/>
                <a:sym typeface="DM Sans Bold"/>
              </a:rPr>
              <a:t>hardware budget</a:t>
            </a:r>
            <a:r>
              <a:rPr lang="en-US" sz="3200">
                <a:solidFill>
                  <a:srgbClr val="000000"/>
                </a:solidFill>
                <a:latin typeface="DM Sans"/>
                <a:ea typeface="DM Sans"/>
                <a:cs typeface="DM Sans"/>
                <a:sym typeface="DM Sans"/>
              </a:rPr>
              <a:t>:</a:t>
            </a:r>
          </a:p>
          <a:p>
            <a:pPr algn="just">
              <a:lnSpc>
                <a:spcPts val="4480"/>
              </a:lnSpc>
            </a:pPr>
          </a:p>
        </p:txBody>
      </p:sp>
      <p:sp>
        <p:nvSpPr>
          <p:cNvPr name="TextBox 12" id="12"/>
          <p:cNvSpPr txBox="true"/>
          <p:nvPr/>
        </p:nvSpPr>
        <p:spPr>
          <a:xfrm rot="0">
            <a:off x="2877161" y="5960660"/>
            <a:ext cx="14722574" cy="1109345"/>
          </a:xfrm>
          <a:prstGeom prst="rect">
            <a:avLst/>
          </a:prstGeom>
        </p:spPr>
        <p:txBody>
          <a:bodyPr anchor="t" rtlCol="false" tIns="0" lIns="0" bIns="0" rIns="0">
            <a:spAutoFit/>
          </a:bodyPr>
          <a:lstStyle/>
          <a:p>
            <a:pPr algn="l" marL="690881" indent="-345440" lvl="1">
              <a:lnSpc>
                <a:spcPts val="4480"/>
              </a:lnSpc>
              <a:buFont typeface="Arial"/>
              <a:buChar char="•"/>
            </a:pPr>
            <a:r>
              <a:rPr lang="en-US" b="true" sz="3200">
                <a:solidFill>
                  <a:srgbClr val="000000"/>
                </a:solidFill>
                <a:latin typeface="DM Sans Bold"/>
                <a:ea typeface="DM Sans Bold"/>
                <a:cs typeface="DM Sans Bold"/>
                <a:sym typeface="DM Sans Bold"/>
              </a:rPr>
              <a:t>shots </a:t>
            </a:r>
            <a:r>
              <a:rPr lang="en-US" sz="3200">
                <a:solidFill>
                  <a:srgbClr val="000000"/>
                </a:solidFill>
                <a:latin typeface="DM Sans"/>
                <a:ea typeface="DM Sans"/>
                <a:cs typeface="DM Sans"/>
                <a:sym typeface="DM Sans"/>
              </a:rPr>
              <a:t>– repetitions of one circuit per evaluation</a:t>
            </a:r>
          </a:p>
          <a:p>
            <a:pPr algn="l" marL="690881" indent="-345440" lvl="1">
              <a:lnSpc>
                <a:spcPts val="4480"/>
              </a:lnSpc>
              <a:buFont typeface="Arial"/>
              <a:buChar char="•"/>
            </a:pPr>
            <a:r>
              <a:rPr lang="en-US" b="true" sz="3200">
                <a:solidFill>
                  <a:srgbClr val="000000"/>
                </a:solidFill>
                <a:latin typeface="DM Sans Bold"/>
                <a:ea typeface="DM Sans Bold"/>
                <a:cs typeface="DM Sans Bold"/>
                <a:sym typeface="DM Sans Bold"/>
              </a:rPr>
              <a:t>repeats </a:t>
            </a:r>
            <a:r>
              <a:rPr lang="en-US" sz="3200">
                <a:solidFill>
                  <a:srgbClr val="000000"/>
                </a:solidFill>
                <a:latin typeface="DM Sans"/>
                <a:ea typeface="DM Sans"/>
                <a:cs typeface="DM Sans"/>
                <a:sym typeface="DM Sans"/>
              </a:rPr>
              <a:t>– independent re-runs of that evaluation</a:t>
            </a:r>
          </a:p>
        </p:txBody>
      </p:sp>
      <p:sp>
        <p:nvSpPr>
          <p:cNvPr name="TextBox 13" id="13"/>
          <p:cNvSpPr txBox="true"/>
          <p:nvPr/>
        </p:nvSpPr>
        <p:spPr>
          <a:xfrm rot="0">
            <a:off x="2877161" y="8389303"/>
            <a:ext cx="14722574" cy="1671320"/>
          </a:xfrm>
          <a:prstGeom prst="rect">
            <a:avLst/>
          </a:prstGeom>
        </p:spPr>
        <p:txBody>
          <a:bodyPr anchor="t" rtlCol="false" tIns="0" lIns="0" bIns="0" rIns="0">
            <a:spAutoFit/>
          </a:bodyPr>
          <a:lstStyle/>
          <a:p>
            <a:pPr algn="just">
              <a:lnSpc>
                <a:spcPts val="4480"/>
              </a:lnSpc>
            </a:pPr>
            <a:r>
              <a:rPr lang="en-US" sz="3200">
                <a:solidFill>
                  <a:srgbClr val="000000"/>
                </a:solidFill>
                <a:latin typeface="DM Sans"/>
                <a:ea typeface="DM Sans"/>
                <a:cs typeface="DM Sans"/>
                <a:sym typeface="DM Sans"/>
              </a:rPr>
              <a:t>The budget sets the </a:t>
            </a:r>
            <a:r>
              <a:rPr lang="en-US" sz="3200" b="true">
                <a:solidFill>
                  <a:srgbClr val="000000"/>
                </a:solidFill>
                <a:latin typeface="DM Sans Bold"/>
                <a:ea typeface="DM Sans Bold"/>
                <a:cs typeface="DM Sans Bold"/>
                <a:sym typeface="DM Sans Bold"/>
              </a:rPr>
              <a:t>precision</a:t>
            </a:r>
            <a:r>
              <a:rPr lang="en-US" sz="3200">
                <a:solidFill>
                  <a:srgbClr val="000000"/>
                </a:solidFill>
                <a:latin typeface="DM Sans"/>
                <a:ea typeface="DM Sans"/>
                <a:cs typeface="DM Sans"/>
                <a:sym typeface="DM Sans"/>
              </a:rPr>
              <a:t> and </a:t>
            </a:r>
            <a:r>
              <a:rPr lang="en-US" sz="3200" b="true">
                <a:solidFill>
                  <a:srgbClr val="000000"/>
                </a:solidFill>
                <a:latin typeface="DM Sans Bold"/>
                <a:ea typeface="DM Sans Bold"/>
                <a:cs typeface="DM Sans Bold"/>
                <a:sym typeface="DM Sans Bold"/>
              </a:rPr>
              <a:t>stability</a:t>
            </a:r>
            <a:r>
              <a:rPr lang="en-US" sz="3200">
                <a:solidFill>
                  <a:srgbClr val="000000"/>
                </a:solidFill>
                <a:latin typeface="DM Sans"/>
                <a:ea typeface="DM Sans"/>
                <a:cs typeface="DM Sans"/>
                <a:sym typeface="DM Sans"/>
              </a:rPr>
              <a:t> of the measurement.</a:t>
            </a:r>
          </a:p>
          <a:p>
            <a:pPr algn="just">
              <a:lnSpc>
                <a:spcPts val="4480"/>
              </a:lnSpc>
            </a:pPr>
            <a:r>
              <a:rPr lang="en-US" sz="3200">
                <a:solidFill>
                  <a:srgbClr val="000000"/>
                </a:solidFill>
                <a:latin typeface="DM Sans"/>
                <a:ea typeface="DM Sans"/>
                <a:cs typeface="DM Sans"/>
                <a:sym typeface="DM Sans"/>
              </a:rPr>
              <a:t>We do not </a:t>
            </a:r>
            <a:r>
              <a:rPr lang="en-US" sz="3200">
                <a:solidFill>
                  <a:srgbClr val="000000"/>
                </a:solidFill>
                <a:latin typeface="DM Sans"/>
                <a:ea typeface="DM Sans"/>
                <a:cs typeface="DM Sans"/>
                <a:sym typeface="DM Sans"/>
              </a:rPr>
              <a:t>hard</a:t>
            </a:r>
            <a:r>
              <a:rPr lang="en-US" sz="3200">
                <a:solidFill>
                  <a:srgbClr val="000000"/>
                </a:solidFill>
                <a:latin typeface="DM Sans"/>
                <a:ea typeface="DM Sans"/>
                <a:cs typeface="DM Sans"/>
                <a:sym typeface="DM Sans"/>
              </a:rPr>
              <a:t>cod</a:t>
            </a:r>
            <a:r>
              <a:rPr lang="en-US" sz="3200">
                <a:solidFill>
                  <a:srgbClr val="000000"/>
                </a:solidFill>
                <a:latin typeface="DM Sans"/>
                <a:ea typeface="DM Sans"/>
                <a:cs typeface="DM Sans"/>
                <a:sym typeface="DM Sans"/>
              </a:rPr>
              <a:t>e </a:t>
            </a:r>
            <a:r>
              <a:rPr lang="en-US" sz="3200">
                <a:solidFill>
                  <a:srgbClr val="000000"/>
                </a:solidFill>
                <a:latin typeface="DM Sans"/>
                <a:ea typeface="DM Sans"/>
                <a:cs typeface="DM Sans"/>
                <a:sym typeface="DM Sans"/>
              </a:rPr>
              <a:t>it – it m</a:t>
            </a:r>
            <a:r>
              <a:rPr lang="en-US" sz="3200">
                <a:solidFill>
                  <a:srgbClr val="000000"/>
                </a:solidFill>
                <a:latin typeface="DM Sans"/>
                <a:ea typeface="DM Sans"/>
                <a:cs typeface="DM Sans"/>
                <a:sym typeface="DM Sans"/>
              </a:rPr>
              <a:t>u</a:t>
            </a:r>
            <a:r>
              <a:rPr lang="en-US" sz="3200">
                <a:solidFill>
                  <a:srgbClr val="000000"/>
                </a:solidFill>
                <a:latin typeface="DM Sans"/>
                <a:ea typeface="DM Sans"/>
                <a:cs typeface="DM Sans"/>
                <a:sym typeface="DM Sans"/>
              </a:rPr>
              <a:t>s</a:t>
            </a:r>
            <a:r>
              <a:rPr lang="en-US" sz="3200">
                <a:solidFill>
                  <a:srgbClr val="000000"/>
                </a:solidFill>
                <a:latin typeface="DM Sans"/>
                <a:ea typeface="DM Sans"/>
                <a:cs typeface="DM Sans"/>
                <a:sym typeface="DM Sans"/>
              </a:rPr>
              <a:t>t</a:t>
            </a:r>
            <a:r>
              <a:rPr lang="en-US" sz="3200">
                <a:solidFill>
                  <a:srgbClr val="000000"/>
                </a:solidFill>
                <a:latin typeface="DM Sans"/>
                <a:ea typeface="DM Sans"/>
                <a:cs typeface="DM Sans"/>
                <a:sym typeface="DM Sans"/>
              </a:rPr>
              <a:t> be chosen.</a:t>
            </a:r>
          </a:p>
          <a:p>
            <a:pPr algn="just">
              <a:lnSpc>
                <a:spcPts val="4480"/>
              </a:lnSpc>
            </a:pPr>
          </a:p>
        </p:txBody>
      </p:sp>
      <p:sp>
        <p:nvSpPr>
          <p:cNvPr name="AutoShape 14" id="14"/>
          <p:cNvSpPr/>
          <p:nvPr/>
        </p:nvSpPr>
        <p:spPr>
          <a:xfrm>
            <a:off x="2877161" y="8232055"/>
            <a:ext cx="14722574" cy="0"/>
          </a:xfrm>
          <a:prstGeom prst="line">
            <a:avLst/>
          </a:prstGeom>
          <a:ln cap="flat" w="38100">
            <a:solidFill>
              <a:srgbClr val="000000"/>
            </a:solidFill>
            <a:prstDash val="solid"/>
            <a:headEnd type="none" len="sm" w="sm"/>
            <a:tailEnd type="none" len="sm" w="sm"/>
          </a:ln>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766271"/>
            <a:ext cx="2033918" cy="11819542"/>
            <a:chOff x="0" y="0"/>
            <a:chExt cx="535682" cy="3112966"/>
          </a:xfrm>
        </p:grpSpPr>
        <p:sp>
          <p:nvSpPr>
            <p:cNvPr name="Freeform 3" id="3"/>
            <p:cNvSpPr/>
            <p:nvPr/>
          </p:nvSpPr>
          <p:spPr>
            <a:xfrm flipH="false" flipV="false" rot="0">
              <a:off x="0" y="0"/>
              <a:ext cx="535682" cy="3112966"/>
            </a:xfrm>
            <a:custGeom>
              <a:avLst/>
              <a:gdLst/>
              <a:ahLst/>
              <a:cxnLst/>
              <a:rect r="r" b="b" t="t" l="l"/>
              <a:pathLst>
                <a:path h="3112966" w="535682">
                  <a:moveTo>
                    <a:pt x="194127" y="0"/>
                  </a:moveTo>
                  <a:lnTo>
                    <a:pt x="341555" y="0"/>
                  </a:lnTo>
                  <a:cubicBezTo>
                    <a:pt x="448768" y="0"/>
                    <a:pt x="535682" y="86914"/>
                    <a:pt x="535682" y="194127"/>
                  </a:cubicBezTo>
                  <a:lnTo>
                    <a:pt x="535682" y="2918839"/>
                  </a:lnTo>
                  <a:cubicBezTo>
                    <a:pt x="535682" y="3026052"/>
                    <a:pt x="448768" y="3112966"/>
                    <a:pt x="341555" y="3112966"/>
                  </a:cubicBezTo>
                  <a:lnTo>
                    <a:pt x="194127" y="3112966"/>
                  </a:lnTo>
                  <a:cubicBezTo>
                    <a:pt x="86914" y="3112966"/>
                    <a:pt x="0" y="3026052"/>
                    <a:pt x="0" y="2918839"/>
                  </a:cubicBezTo>
                  <a:lnTo>
                    <a:pt x="0" y="194127"/>
                  </a:lnTo>
                  <a:cubicBezTo>
                    <a:pt x="0" y="86914"/>
                    <a:pt x="86914" y="0"/>
                    <a:pt x="194127" y="0"/>
                  </a:cubicBezTo>
                  <a:close/>
                </a:path>
              </a:pathLst>
            </a:custGeom>
            <a:solidFill>
              <a:srgbClr val="191E3A"/>
            </a:solidFill>
          </p:spPr>
        </p:sp>
        <p:sp>
          <p:nvSpPr>
            <p:cNvPr name="TextBox 4" id="4"/>
            <p:cNvSpPr txBox="true"/>
            <p:nvPr/>
          </p:nvSpPr>
          <p:spPr>
            <a:xfrm>
              <a:off x="0" y="-38100"/>
              <a:ext cx="535682" cy="3151066"/>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0" y="-766271"/>
            <a:ext cx="2425719" cy="11819542"/>
            <a:chOff x="0" y="0"/>
            <a:chExt cx="638872" cy="3112966"/>
          </a:xfrm>
        </p:grpSpPr>
        <p:sp>
          <p:nvSpPr>
            <p:cNvPr name="Freeform 6" id="6"/>
            <p:cNvSpPr/>
            <p:nvPr/>
          </p:nvSpPr>
          <p:spPr>
            <a:xfrm flipH="false" flipV="false" rot="0">
              <a:off x="0" y="0"/>
              <a:ext cx="638872" cy="3112966"/>
            </a:xfrm>
            <a:custGeom>
              <a:avLst/>
              <a:gdLst/>
              <a:ahLst/>
              <a:cxnLst/>
              <a:rect r="r" b="b" t="t" l="l"/>
              <a:pathLst>
                <a:path h="3112966" w="638872">
                  <a:moveTo>
                    <a:pt x="162772" y="0"/>
                  </a:moveTo>
                  <a:lnTo>
                    <a:pt x="476101" y="0"/>
                  </a:lnTo>
                  <a:cubicBezTo>
                    <a:pt x="519271" y="0"/>
                    <a:pt x="560672" y="17149"/>
                    <a:pt x="591198" y="47675"/>
                  </a:cubicBezTo>
                  <a:cubicBezTo>
                    <a:pt x="621723" y="78200"/>
                    <a:pt x="638872" y="119602"/>
                    <a:pt x="638872" y="162772"/>
                  </a:cubicBezTo>
                  <a:lnTo>
                    <a:pt x="638872" y="2950194"/>
                  </a:lnTo>
                  <a:cubicBezTo>
                    <a:pt x="638872" y="2993364"/>
                    <a:pt x="621723" y="3034765"/>
                    <a:pt x="591198" y="3065291"/>
                  </a:cubicBezTo>
                  <a:cubicBezTo>
                    <a:pt x="560672" y="3095816"/>
                    <a:pt x="519271" y="3112966"/>
                    <a:pt x="476101" y="3112966"/>
                  </a:cubicBezTo>
                  <a:lnTo>
                    <a:pt x="162772" y="3112966"/>
                  </a:lnTo>
                  <a:cubicBezTo>
                    <a:pt x="119602" y="3112966"/>
                    <a:pt x="78200" y="3095816"/>
                    <a:pt x="47675" y="3065291"/>
                  </a:cubicBezTo>
                  <a:cubicBezTo>
                    <a:pt x="17149" y="3034765"/>
                    <a:pt x="0" y="2993364"/>
                    <a:pt x="0" y="2950194"/>
                  </a:cubicBezTo>
                  <a:lnTo>
                    <a:pt x="0" y="162772"/>
                  </a:lnTo>
                  <a:cubicBezTo>
                    <a:pt x="0" y="119602"/>
                    <a:pt x="17149" y="78200"/>
                    <a:pt x="47675" y="47675"/>
                  </a:cubicBezTo>
                  <a:cubicBezTo>
                    <a:pt x="78200" y="17149"/>
                    <a:pt x="119602" y="0"/>
                    <a:pt x="162772" y="0"/>
                  </a:cubicBezTo>
                  <a:close/>
                </a:path>
              </a:pathLst>
            </a:custGeom>
            <a:solidFill>
              <a:srgbClr val="191E3A"/>
            </a:solidFill>
          </p:spPr>
        </p:sp>
        <p:sp>
          <p:nvSpPr>
            <p:cNvPr name="TextBox 7" id="7"/>
            <p:cNvSpPr txBox="true"/>
            <p:nvPr/>
          </p:nvSpPr>
          <p:spPr>
            <a:xfrm>
              <a:off x="0" y="-38100"/>
              <a:ext cx="638872" cy="3151066"/>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false" flipV="false" rot="0">
            <a:off x="268209" y="348842"/>
            <a:ext cx="1889301" cy="1889301"/>
          </a:xfrm>
          <a:custGeom>
            <a:avLst/>
            <a:gdLst/>
            <a:ahLst/>
            <a:cxnLst/>
            <a:rect r="r" b="b" t="t" l="l"/>
            <a:pathLst>
              <a:path h="1889301" w="1889301">
                <a:moveTo>
                  <a:pt x="0" y="0"/>
                </a:moveTo>
                <a:lnTo>
                  <a:pt x="1889301" y="0"/>
                </a:lnTo>
                <a:lnTo>
                  <a:pt x="1889301" y="1889301"/>
                </a:lnTo>
                <a:lnTo>
                  <a:pt x="0" y="1889301"/>
                </a:lnTo>
                <a:lnTo>
                  <a:pt x="0" y="0"/>
                </a:lnTo>
                <a:close/>
              </a:path>
            </a:pathLst>
          </a:custGeom>
          <a:blipFill>
            <a:blip r:embed="rId2"/>
            <a:stretch>
              <a:fillRect l="0" t="0" r="0" b="0"/>
            </a:stretch>
          </a:blipFill>
        </p:spPr>
      </p:sp>
      <p:sp>
        <p:nvSpPr>
          <p:cNvPr name="TextBox 9" id="9"/>
          <p:cNvSpPr txBox="true"/>
          <p:nvPr/>
        </p:nvSpPr>
        <p:spPr>
          <a:xfrm rot="0">
            <a:off x="2877161" y="914400"/>
            <a:ext cx="3833663" cy="1035686"/>
          </a:xfrm>
          <a:prstGeom prst="rect">
            <a:avLst/>
          </a:prstGeom>
        </p:spPr>
        <p:txBody>
          <a:bodyPr anchor="t" rtlCol="false" tIns="0" lIns="0" bIns="0" rIns="0">
            <a:spAutoFit/>
          </a:bodyPr>
          <a:lstStyle/>
          <a:p>
            <a:pPr algn="l">
              <a:lnSpc>
                <a:spcPts val="8539"/>
              </a:lnSpc>
            </a:pPr>
            <a:r>
              <a:rPr lang="en-US" sz="6099">
                <a:solidFill>
                  <a:srgbClr val="191E3A"/>
                </a:solidFill>
                <a:latin typeface="Libre Baskerville"/>
                <a:ea typeface="Libre Baskerville"/>
                <a:cs typeface="Libre Baskerville"/>
                <a:sym typeface="Libre Baskerville"/>
              </a:rPr>
              <a:t>The pilot</a:t>
            </a:r>
          </a:p>
        </p:txBody>
      </p:sp>
      <p:sp>
        <p:nvSpPr>
          <p:cNvPr name="TextBox 10" id="10"/>
          <p:cNvSpPr txBox="true"/>
          <p:nvPr/>
        </p:nvSpPr>
        <p:spPr>
          <a:xfrm rot="0">
            <a:off x="2877161" y="2264724"/>
            <a:ext cx="15048208" cy="547370"/>
          </a:xfrm>
          <a:prstGeom prst="rect">
            <a:avLst/>
          </a:prstGeom>
        </p:spPr>
        <p:txBody>
          <a:bodyPr anchor="t" rtlCol="false" tIns="0" lIns="0" bIns="0" rIns="0">
            <a:spAutoFit/>
          </a:bodyPr>
          <a:lstStyle/>
          <a:p>
            <a:pPr algn="just">
              <a:lnSpc>
                <a:spcPts val="4480"/>
              </a:lnSpc>
            </a:pPr>
            <a:r>
              <a:rPr lang="en-US" sz="3200">
                <a:solidFill>
                  <a:srgbClr val="000000"/>
                </a:solidFill>
                <a:latin typeface="DM Sans"/>
                <a:ea typeface="DM Sans"/>
                <a:cs typeface="DM Sans"/>
                <a:sym typeface="DM Sans"/>
              </a:rPr>
              <a:t>A short pilot runs on </a:t>
            </a:r>
            <a:r>
              <a:rPr lang="en-US" sz="3200" b="true">
                <a:solidFill>
                  <a:srgbClr val="000000"/>
                </a:solidFill>
                <a:latin typeface="DM Sans Bold"/>
                <a:ea typeface="DM Sans Bold"/>
                <a:cs typeface="DM Sans Bold"/>
                <a:sym typeface="DM Sans Bold"/>
              </a:rPr>
              <a:t>2 of the 5 folds</a:t>
            </a:r>
            <a:r>
              <a:rPr lang="en-US" sz="3200">
                <a:solidFill>
                  <a:srgbClr val="000000"/>
                </a:solidFill>
                <a:latin typeface="DM Sans"/>
                <a:ea typeface="DM Sans"/>
                <a:cs typeface="DM Sans"/>
                <a:sym typeface="DM Sans"/>
              </a:rPr>
              <a:t>. It selects the budget in two ordered steps:</a:t>
            </a:r>
          </a:p>
        </p:txBody>
      </p:sp>
      <p:grpSp>
        <p:nvGrpSpPr>
          <p:cNvPr name="Group 11" id="11"/>
          <p:cNvGrpSpPr/>
          <p:nvPr/>
        </p:nvGrpSpPr>
        <p:grpSpPr>
          <a:xfrm rot="0">
            <a:off x="10400723" y="3635253"/>
            <a:ext cx="6346964" cy="4748198"/>
            <a:chOff x="0" y="0"/>
            <a:chExt cx="8462618" cy="6330931"/>
          </a:xfrm>
        </p:grpSpPr>
        <p:grpSp>
          <p:nvGrpSpPr>
            <p:cNvPr name="Group 12" id="12"/>
            <p:cNvGrpSpPr/>
            <p:nvPr/>
          </p:nvGrpSpPr>
          <p:grpSpPr>
            <a:xfrm rot="0">
              <a:off x="0" y="0"/>
              <a:ext cx="8462618" cy="5697926"/>
              <a:chOff x="0" y="0"/>
              <a:chExt cx="1276731" cy="859790"/>
            </a:xfrm>
          </p:grpSpPr>
          <p:sp>
            <p:nvSpPr>
              <p:cNvPr name="Freeform 13" id="13"/>
              <p:cNvSpPr/>
              <p:nvPr/>
            </p:nvSpPr>
            <p:spPr>
              <a:xfrm flipH="false" flipV="false" rot="0">
                <a:off x="0" y="0"/>
                <a:ext cx="1276731" cy="859790"/>
              </a:xfrm>
              <a:custGeom>
                <a:avLst/>
                <a:gdLst/>
                <a:ahLst/>
                <a:cxnLst/>
                <a:rect r="r" b="b" t="t" l="l"/>
                <a:pathLst>
                  <a:path h="859790" w="1276731">
                    <a:moveTo>
                      <a:pt x="1276731" y="102462"/>
                    </a:moveTo>
                    <a:lnTo>
                      <a:pt x="1276731" y="757328"/>
                    </a:lnTo>
                    <a:cubicBezTo>
                      <a:pt x="1276731" y="784503"/>
                      <a:pt x="1265936" y="810564"/>
                      <a:pt x="1246721" y="829780"/>
                    </a:cubicBezTo>
                    <a:cubicBezTo>
                      <a:pt x="1227505" y="848995"/>
                      <a:pt x="1201444" y="859790"/>
                      <a:pt x="1174269" y="859790"/>
                    </a:cubicBezTo>
                    <a:lnTo>
                      <a:pt x="102462" y="859790"/>
                    </a:lnTo>
                    <a:cubicBezTo>
                      <a:pt x="75287" y="859790"/>
                      <a:pt x="49226" y="848995"/>
                      <a:pt x="30010" y="829780"/>
                    </a:cubicBezTo>
                    <a:cubicBezTo>
                      <a:pt x="10795" y="810564"/>
                      <a:pt x="0" y="784503"/>
                      <a:pt x="0" y="757328"/>
                    </a:cubicBezTo>
                    <a:lnTo>
                      <a:pt x="0" y="102462"/>
                    </a:lnTo>
                    <a:cubicBezTo>
                      <a:pt x="0" y="75287"/>
                      <a:pt x="10795" y="49226"/>
                      <a:pt x="30010" y="30010"/>
                    </a:cubicBezTo>
                    <a:cubicBezTo>
                      <a:pt x="49226" y="10795"/>
                      <a:pt x="75287" y="0"/>
                      <a:pt x="102462" y="0"/>
                    </a:cubicBezTo>
                    <a:lnTo>
                      <a:pt x="1174269" y="0"/>
                    </a:lnTo>
                    <a:cubicBezTo>
                      <a:pt x="1201444" y="0"/>
                      <a:pt x="1227505" y="10795"/>
                      <a:pt x="1246721" y="30010"/>
                    </a:cubicBezTo>
                    <a:cubicBezTo>
                      <a:pt x="1265936" y="49226"/>
                      <a:pt x="1276731" y="75287"/>
                      <a:pt x="1276731" y="102462"/>
                    </a:cubicBezTo>
                    <a:close/>
                  </a:path>
                </a:pathLst>
              </a:custGeom>
              <a:solidFill>
                <a:srgbClr val="DDEDF8">
                  <a:alpha val="56863"/>
                </a:srgbClr>
              </a:solidFill>
              <a:ln w="28575" cap="rnd">
                <a:solidFill>
                  <a:srgbClr val="000000">
                    <a:alpha val="56863"/>
                  </a:srgbClr>
                </a:solidFill>
                <a:prstDash val="solid"/>
                <a:round/>
              </a:ln>
            </p:spPr>
          </p:sp>
          <p:sp>
            <p:nvSpPr>
              <p:cNvPr name="TextBox 14" id="14"/>
              <p:cNvSpPr txBox="true"/>
              <p:nvPr/>
            </p:nvSpPr>
            <p:spPr>
              <a:xfrm>
                <a:off x="0" y="-38100"/>
                <a:ext cx="1276731" cy="897890"/>
              </a:xfrm>
              <a:prstGeom prst="rect">
                <a:avLst/>
              </a:prstGeom>
            </p:spPr>
            <p:txBody>
              <a:bodyPr anchor="ctr" rtlCol="false" tIns="66170" lIns="66170" bIns="66170" rIns="66170"/>
              <a:lstStyle/>
              <a:p>
                <a:pPr algn="ctr">
                  <a:lnSpc>
                    <a:spcPts val="2660"/>
                  </a:lnSpc>
                </a:pPr>
              </a:p>
            </p:txBody>
          </p:sp>
        </p:grpSp>
        <p:sp>
          <p:nvSpPr>
            <p:cNvPr name="TextBox 15" id="15"/>
            <p:cNvSpPr txBox="true"/>
            <p:nvPr/>
          </p:nvSpPr>
          <p:spPr>
            <a:xfrm rot="0">
              <a:off x="1037609" y="451972"/>
              <a:ext cx="6387401" cy="787502"/>
            </a:xfrm>
            <a:prstGeom prst="rect">
              <a:avLst/>
            </a:prstGeom>
          </p:spPr>
          <p:txBody>
            <a:bodyPr anchor="t" rtlCol="false" tIns="0" lIns="0" bIns="0" rIns="0">
              <a:spAutoFit/>
            </a:bodyPr>
            <a:lstStyle/>
            <a:p>
              <a:pPr algn="just">
                <a:lnSpc>
                  <a:spcPts val="5078"/>
                </a:lnSpc>
              </a:pPr>
              <a:r>
                <a:rPr lang="en-US" sz="3627" b="true">
                  <a:solidFill>
                    <a:srgbClr val="000000"/>
                  </a:solidFill>
                  <a:latin typeface="DM Sans Bold"/>
                  <a:ea typeface="DM Sans Bold"/>
                  <a:cs typeface="DM Sans Bold"/>
                  <a:sym typeface="DM Sans Bold"/>
                </a:rPr>
                <a:t>Repeats → precision</a:t>
              </a:r>
            </a:p>
          </p:txBody>
        </p:sp>
        <p:sp>
          <p:nvSpPr>
            <p:cNvPr name="TextBox 16" id="16"/>
            <p:cNvSpPr txBox="true"/>
            <p:nvPr/>
          </p:nvSpPr>
          <p:spPr>
            <a:xfrm rot="0">
              <a:off x="342319" y="1301989"/>
              <a:ext cx="7777980" cy="5028942"/>
            </a:xfrm>
            <a:prstGeom prst="rect">
              <a:avLst/>
            </a:prstGeom>
          </p:spPr>
          <p:txBody>
            <a:bodyPr anchor="t" rtlCol="false" tIns="0" lIns="0" bIns="0" rIns="0">
              <a:spAutoFit/>
            </a:bodyPr>
            <a:lstStyle/>
            <a:p>
              <a:pPr algn="just">
                <a:lnSpc>
                  <a:spcPts val="4341"/>
                </a:lnSpc>
              </a:pPr>
              <a:r>
                <a:rPr lang="en-US" sz="3101">
                  <a:solidFill>
                    <a:srgbClr val="000000"/>
                  </a:solidFill>
                  <a:latin typeface="DM Sans"/>
                  <a:ea typeface="DM Sans"/>
                  <a:cs typeface="DM Sans"/>
                  <a:sym typeface="DM Sans"/>
                </a:rPr>
                <a:t>At that shot count, size the repeats to a </a:t>
              </a:r>
              <a:r>
                <a:rPr lang="en-US" sz="3101" b="true">
                  <a:solidFill>
                    <a:srgbClr val="000000"/>
                  </a:solidFill>
                  <a:latin typeface="DM Sans Bold"/>
                  <a:ea typeface="DM Sans Bold"/>
                  <a:cs typeface="DM Sans Bold"/>
                  <a:sym typeface="DM Sans Bold"/>
                </a:rPr>
                <a:t>95% confidence interval</a:t>
              </a:r>
              <a:r>
                <a:rPr lang="en-US" sz="3101">
                  <a:solidFill>
                    <a:srgbClr val="000000"/>
                  </a:solidFill>
                  <a:latin typeface="DM Sans"/>
                  <a:ea typeface="DM Sans"/>
                  <a:cs typeface="DM Sans"/>
                  <a:sym typeface="DM Sans"/>
                </a:rPr>
                <a:t>. Grounded in the </a:t>
              </a:r>
              <a:r>
                <a:rPr lang="en-US" sz="3101" b="true">
                  <a:solidFill>
                    <a:srgbClr val="000000"/>
                  </a:solidFill>
                  <a:latin typeface="DM Sans Bold"/>
                  <a:ea typeface="DM Sans Bold"/>
                  <a:cs typeface="DM Sans Bold"/>
                  <a:sym typeface="DM Sans Bold"/>
                </a:rPr>
                <a:t>law of large numbers</a:t>
              </a:r>
              <a:r>
                <a:rPr lang="en-US" sz="3101">
                  <a:solidFill>
                    <a:srgbClr val="000000"/>
                  </a:solidFill>
                  <a:latin typeface="DM Sans"/>
                  <a:ea typeface="DM Sans"/>
                  <a:cs typeface="DM Sans"/>
                  <a:sym typeface="DM Sans"/>
                </a:rPr>
                <a:t> and the </a:t>
              </a:r>
              <a:r>
                <a:rPr lang="en-US" sz="3101" b="true">
                  <a:solidFill>
                    <a:srgbClr val="000000"/>
                  </a:solidFill>
                  <a:latin typeface="DM Sans Bold"/>
                  <a:ea typeface="DM Sans Bold"/>
                  <a:cs typeface="DM Sans Bold"/>
                  <a:sym typeface="DM Sans Bold"/>
                </a:rPr>
                <a:t>central limit theorem</a:t>
              </a:r>
              <a:r>
                <a:rPr lang="en-US" sz="3101">
                  <a:solidFill>
                    <a:srgbClr val="000000"/>
                  </a:solidFill>
                  <a:latin typeface="DM Sans"/>
                  <a:ea typeface="DM Sans"/>
                  <a:cs typeface="DM Sans"/>
                  <a:sym typeface="DM Sans"/>
                </a:rPr>
                <a:t>.</a:t>
              </a:r>
            </a:p>
            <a:p>
              <a:pPr algn="just">
                <a:lnSpc>
                  <a:spcPts val="4341"/>
                </a:lnSpc>
              </a:pPr>
            </a:p>
            <a:p>
              <a:pPr algn="just">
                <a:lnSpc>
                  <a:spcPts val="4341"/>
                </a:lnSpc>
              </a:pPr>
            </a:p>
          </p:txBody>
        </p:sp>
      </p:grpSp>
      <p:grpSp>
        <p:nvGrpSpPr>
          <p:cNvPr name="Group 17" id="17"/>
          <p:cNvGrpSpPr/>
          <p:nvPr/>
        </p:nvGrpSpPr>
        <p:grpSpPr>
          <a:xfrm rot="0">
            <a:off x="3202795" y="8896466"/>
            <a:ext cx="14722574" cy="723667"/>
            <a:chOff x="0" y="0"/>
            <a:chExt cx="19630099" cy="964890"/>
          </a:xfrm>
        </p:grpSpPr>
        <p:sp>
          <p:nvSpPr>
            <p:cNvPr name="TextBox 18" id="18"/>
            <p:cNvSpPr txBox="true"/>
            <p:nvPr/>
          </p:nvSpPr>
          <p:spPr>
            <a:xfrm rot="0">
              <a:off x="0" y="257288"/>
              <a:ext cx="19630099" cy="707602"/>
            </a:xfrm>
            <a:prstGeom prst="rect">
              <a:avLst/>
            </a:prstGeom>
          </p:spPr>
          <p:txBody>
            <a:bodyPr anchor="t" rtlCol="false" tIns="0" lIns="0" bIns="0" rIns="0">
              <a:spAutoFit/>
            </a:bodyPr>
            <a:lstStyle/>
            <a:p>
              <a:pPr algn="just">
                <a:lnSpc>
                  <a:spcPts val="4480"/>
                </a:lnSpc>
              </a:pPr>
              <a:r>
                <a:rPr lang="en-US" sz="3200">
                  <a:solidFill>
                    <a:srgbClr val="000000"/>
                  </a:solidFill>
                  <a:latin typeface="DM Sans"/>
                  <a:ea typeface="DM Sans"/>
                  <a:cs typeface="DM Sans"/>
                  <a:sym typeface="DM Sans"/>
                </a:rPr>
                <a:t>The selected shots and repeats then run on the full 5-fold cross-validation.</a:t>
              </a:r>
            </a:p>
          </p:txBody>
        </p:sp>
        <p:sp>
          <p:nvSpPr>
            <p:cNvPr name="AutoShape 19" id="19"/>
            <p:cNvSpPr/>
            <p:nvPr/>
          </p:nvSpPr>
          <p:spPr>
            <a:xfrm>
              <a:off x="0" y="25400"/>
              <a:ext cx="19630099" cy="0"/>
            </a:xfrm>
            <a:prstGeom prst="line">
              <a:avLst/>
            </a:prstGeom>
            <a:ln cap="flat" w="50800">
              <a:solidFill>
                <a:srgbClr val="000000"/>
              </a:solidFill>
              <a:prstDash val="solid"/>
              <a:headEnd type="none" len="sm" w="sm"/>
              <a:tailEnd type="none" len="sm" w="sm"/>
            </a:ln>
          </p:spPr>
        </p:sp>
      </p:grpSp>
      <p:grpSp>
        <p:nvGrpSpPr>
          <p:cNvPr name="Group 20" id="20"/>
          <p:cNvGrpSpPr/>
          <p:nvPr/>
        </p:nvGrpSpPr>
        <p:grpSpPr>
          <a:xfrm rot="0">
            <a:off x="3044110" y="3635253"/>
            <a:ext cx="6346964" cy="4273444"/>
            <a:chOff x="0" y="0"/>
            <a:chExt cx="8462618" cy="5697926"/>
          </a:xfrm>
        </p:grpSpPr>
        <p:grpSp>
          <p:nvGrpSpPr>
            <p:cNvPr name="Group 21" id="21"/>
            <p:cNvGrpSpPr/>
            <p:nvPr/>
          </p:nvGrpSpPr>
          <p:grpSpPr>
            <a:xfrm rot="0">
              <a:off x="0" y="0"/>
              <a:ext cx="8462618" cy="5697926"/>
              <a:chOff x="0" y="0"/>
              <a:chExt cx="1276731" cy="859790"/>
            </a:xfrm>
          </p:grpSpPr>
          <p:sp>
            <p:nvSpPr>
              <p:cNvPr name="Freeform 22" id="22"/>
              <p:cNvSpPr/>
              <p:nvPr/>
            </p:nvSpPr>
            <p:spPr>
              <a:xfrm flipH="false" flipV="false" rot="0">
                <a:off x="0" y="0"/>
                <a:ext cx="1276731" cy="859790"/>
              </a:xfrm>
              <a:custGeom>
                <a:avLst/>
                <a:gdLst/>
                <a:ahLst/>
                <a:cxnLst/>
                <a:rect r="r" b="b" t="t" l="l"/>
                <a:pathLst>
                  <a:path h="859790" w="1276731">
                    <a:moveTo>
                      <a:pt x="1276731" y="102462"/>
                    </a:moveTo>
                    <a:lnTo>
                      <a:pt x="1276731" y="757328"/>
                    </a:lnTo>
                    <a:cubicBezTo>
                      <a:pt x="1276731" y="784503"/>
                      <a:pt x="1265936" y="810564"/>
                      <a:pt x="1246721" y="829780"/>
                    </a:cubicBezTo>
                    <a:cubicBezTo>
                      <a:pt x="1227505" y="848995"/>
                      <a:pt x="1201444" y="859790"/>
                      <a:pt x="1174269" y="859790"/>
                    </a:cubicBezTo>
                    <a:lnTo>
                      <a:pt x="102462" y="859790"/>
                    </a:lnTo>
                    <a:cubicBezTo>
                      <a:pt x="75287" y="859790"/>
                      <a:pt x="49226" y="848995"/>
                      <a:pt x="30010" y="829780"/>
                    </a:cubicBezTo>
                    <a:cubicBezTo>
                      <a:pt x="10795" y="810564"/>
                      <a:pt x="0" y="784503"/>
                      <a:pt x="0" y="757328"/>
                    </a:cubicBezTo>
                    <a:lnTo>
                      <a:pt x="0" y="102462"/>
                    </a:lnTo>
                    <a:cubicBezTo>
                      <a:pt x="0" y="75287"/>
                      <a:pt x="10795" y="49226"/>
                      <a:pt x="30010" y="30010"/>
                    </a:cubicBezTo>
                    <a:cubicBezTo>
                      <a:pt x="49226" y="10795"/>
                      <a:pt x="75287" y="0"/>
                      <a:pt x="102462" y="0"/>
                    </a:cubicBezTo>
                    <a:lnTo>
                      <a:pt x="1174269" y="0"/>
                    </a:lnTo>
                    <a:cubicBezTo>
                      <a:pt x="1201444" y="0"/>
                      <a:pt x="1227505" y="10795"/>
                      <a:pt x="1246721" y="30010"/>
                    </a:cubicBezTo>
                    <a:cubicBezTo>
                      <a:pt x="1265936" y="49226"/>
                      <a:pt x="1276731" y="75287"/>
                      <a:pt x="1276731" y="102462"/>
                    </a:cubicBezTo>
                    <a:close/>
                  </a:path>
                </a:pathLst>
              </a:custGeom>
              <a:solidFill>
                <a:srgbClr val="F1F8DD">
                  <a:alpha val="56863"/>
                </a:srgbClr>
              </a:solidFill>
              <a:ln w="28575" cap="rnd">
                <a:solidFill>
                  <a:srgbClr val="000000">
                    <a:alpha val="56863"/>
                  </a:srgbClr>
                </a:solidFill>
                <a:prstDash val="solid"/>
                <a:round/>
              </a:ln>
            </p:spPr>
          </p:sp>
          <p:sp>
            <p:nvSpPr>
              <p:cNvPr name="TextBox 23" id="23"/>
              <p:cNvSpPr txBox="true"/>
              <p:nvPr/>
            </p:nvSpPr>
            <p:spPr>
              <a:xfrm>
                <a:off x="0" y="-38100"/>
                <a:ext cx="1276731" cy="897890"/>
              </a:xfrm>
              <a:prstGeom prst="rect">
                <a:avLst/>
              </a:prstGeom>
            </p:spPr>
            <p:txBody>
              <a:bodyPr anchor="ctr" rtlCol="false" tIns="66170" lIns="66170" bIns="66170" rIns="66170"/>
              <a:lstStyle/>
              <a:p>
                <a:pPr algn="ctr">
                  <a:lnSpc>
                    <a:spcPts val="2660"/>
                  </a:lnSpc>
                </a:pPr>
              </a:p>
            </p:txBody>
          </p:sp>
        </p:grpSp>
        <p:sp>
          <p:nvSpPr>
            <p:cNvPr name="TextBox 24" id="24"/>
            <p:cNvSpPr txBox="true"/>
            <p:nvPr/>
          </p:nvSpPr>
          <p:spPr>
            <a:xfrm rot="0">
              <a:off x="1262892" y="323692"/>
              <a:ext cx="6387401" cy="787502"/>
            </a:xfrm>
            <a:prstGeom prst="rect">
              <a:avLst/>
            </a:prstGeom>
          </p:spPr>
          <p:txBody>
            <a:bodyPr anchor="t" rtlCol="false" tIns="0" lIns="0" bIns="0" rIns="0">
              <a:spAutoFit/>
            </a:bodyPr>
            <a:lstStyle/>
            <a:p>
              <a:pPr algn="just">
                <a:lnSpc>
                  <a:spcPts val="5078"/>
                </a:lnSpc>
              </a:pPr>
              <a:r>
                <a:rPr lang="en-US" sz="3627" b="true">
                  <a:solidFill>
                    <a:srgbClr val="000000"/>
                  </a:solidFill>
                  <a:latin typeface="DM Sans Bold"/>
                  <a:ea typeface="DM Sans Bold"/>
                  <a:cs typeface="DM Sans Bold"/>
                  <a:sym typeface="DM Sans Bold"/>
                </a:rPr>
                <a:t>Shots → stability</a:t>
              </a:r>
            </a:p>
          </p:txBody>
        </p:sp>
        <p:sp>
          <p:nvSpPr>
            <p:cNvPr name="TextBox 25" id="25"/>
            <p:cNvSpPr txBox="true"/>
            <p:nvPr/>
          </p:nvSpPr>
          <p:spPr>
            <a:xfrm rot="0">
              <a:off x="342319" y="1173709"/>
              <a:ext cx="7896393" cy="4305042"/>
            </a:xfrm>
            <a:prstGeom prst="rect">
              <a:avLst/>
            </a:prstGeom>
          </p:spPr>
          <p:txBody>
            <a:bodyPr anchor="t" rtlCol="false" tIns="0" lIns="0" bIns="0" rIns="0">
              <a:spAutoFit/>
            </a:bodyPr>
            <a:lstStyle/>
            <a:p>
              <a:pPr algn="just">
                <a:lnSpc>
                  <a:spcPts val="4341"/>
                </a:lnSpc>
              </a:pPr>
              <a:r>
                <a:rPr lang="en-US" sz="3101">
                  <a:solidFill>
                    <a:srgbClr val="000000"/>
                  </a:solidFill>
                  <a:latin typeface="DM Sans"/>
                  <a:ea typeface="DM Sans"/>
                  <a:cs typeface="DM Sans"/>
                  <a:sym typeface="DM Sans"/>
                </a:rPr>
                <a:t>Sweep shot counts </a:t>
              </a:r>
            </a:p>
            <a:p>
              <a:pPr algn="just">
                <a:lnSpc>
                  <a:spcPts val="4341"/>
                </a:lnSpc>
              </a:pPr>
              <a:r>
                <a:rPr lang="en-US" sz="3101" b="true">
                  <a:solidFill>
                    <a:srgbClr val="000000"/>
                  </a:solidFill>
                  <a:latin typeface="DM Sans Bold"/>
                  <a:ea typeface="DM Sans Bold"/>
                  <a:cs typeface="DM Sans Bold"/>
                  <a:sym typeface="DM Sans Bold"/>
                </a:rPr>
                <a:t>512 → 1024 → 2048 → 4096.</a:t>
              </a:r>
            </a:p>
            <a:p>
              <a:pPr algn="just">
                <a:lnSpc>
                  <a:spcPts val="4341"/>
                </a:lnSpc>
              </a:pPr>
              <a:r>
                <a:rPr lang="en-US" sz="3101">
                  <a:solidFill>
                    <a:srgbClr val="000000"/>
                  </a:solidFill>
                  <a:latin typeface="DM Sans"/>
                  <a:ea typeface="DM Sans"/>
                  <a:cs typeface="DM Sans"/>
                  <a:sym typeface="DM Sans"/>
                </a:rPr>
                <a:t>Take the smallest where accuracy and F1 stop changing </a:t>
              </a:r>
            </a:p>
            <a:p>
              <a:pPr algn="just">
                <a:lnSpc>
                  <a:spcPts val="4341"/>
                </a:lnSpc>
              </a:pPr>
              <a:r>
                <a:rPr lang="en-US" sz="3101">
                  <a:solidFill>
                    <a:srgbClr val="000000"/>
                  </a:solidFill>
                  <a:latin typeface="DM Sans"/>
                  <a:ea typeface="DM Sans"/>
                  <a:cs typeface="DM Sans"/>
                  <a:sym typeface="DM Sans"/>
                </a:rPr>
                <a:t>(|∆acc| ≤ 0.01,  |∆F1| ≤ 0.02) </a:t>
              </a:r>
            </a:p>
            <a:p>
              <a:pPr algn="just">
                <a:lnSpc>
                  <a:spcPts val="4341"/>
                </a:lnSpc>
              </a:pPr>
            </a:p>
          </p:txBody>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766271"/>
            <a:ext cx="2033918" cy="11819542"/>
            <a:chOff x="0" y="0"/>
            <a:chExt cx="535682" cy="3112966"/>
          </a:xfrm>
        </p:grpSpPr>
        <p:sp>
          <p:nvSpPr>
            <p:cNvPr name="Freeform 3" id="3"/>
            <p:cNvSpPr/>
            <p:nvPr/>
          </p:nvSpPr>
          <p:spPr>
            <a:xfrm flipH="false" flipV="false" rot="0">
              <a:off x="0" y="0"/>
              <a:ext cx="535682" cy="3112966"/>
            </a:xfrm>
            <a:custGeom>
              <a:avLst/>
              <a:gdLst/>
              <a:ahLst/>
              <a:cxnLst/>
              <a:rect r="r" b="b" t="t" l="l"/>
              <a:pathLst>
                <a:path h="3112966" w="535682">
                  <a:moveTo>
                    <a:pt x="194127" y="0"/>
                  </a:moveTo>
                  <a:lnTo>
                    <a:pt x="341555" y="0"/>
                  </a:lnTo>
                  <a:cubicBezTo>
                    <a:pt x="448768" y="0"/>
                    <a:pt x="535682" y="86914"/>
                    <a:pt x="535682" y="194127"/>
                  </a:cubicBezTo>
                  <a:lnTo>
                    <a:pt x="535682" y="2918839"/>
                  </a:lnTo>
                  <a:cubicBezTo>
                    <a:pt x="535682" y="3026052"/>
                    <a:pt x="448768" y="3112966"/>
                    <a:pt x="341555" y="3112966"/>
                  </a:cubicBezTo>
                  <a:lnTo>
                    <a:pt x="194127" y="3112966"/>
                  </a:lnTo>
                  <a:cubicBezTo>
                    <a:pt x="86914" y="3112966"/>
                    <a:pt x="0" y="3026052"/>
                    <a:pt x="0" y="2918839"/>
                  </a:cubicBezTo>
                  <a:lnTo>
                    <a:pt x="0" y="194127"/>
                  </a:lnTo>
                  <a:cubicBezTo>
                    <a:pt x="0" y="86914"/>
                    <a:pt x="86914" y="0"/>
                    <a:pt x="194127" y="0"/>
                  </a:cubicBezTo>
                  <a:close/>
                </a:path>
              </a:pathLst>
            </a:custGeom>
            <a:solidFill>
              <a:srgbClr val="191E3A"/>
            </a:solidFill>
          </p:spPr>
        </p:sp>
        <p:sp>
          <p:nvSpPr>
            <p:cNvPr name="TextBox 4" id="4"/>
            <p:cNvSpPr txBox="true"/>
            <p:nvPr/>
          </p:nvSpPr>
          <p:spPr>
            <a:xfrm>
              <a:off x="0" y="-38100"/>
              <a:ext cx="535682" cy="3151066"/>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0" y="-766271"/>
            <a:ext cx="2425719" cy="11819542"/>
            <a:chOff x="0" y="0"/>
            <a:chExt cx="638872" cy="3112966"/>
          </a:xfrm>
        </p:grpSpPr>
        <p:sp>
          <p:nvSpPr>
            <p:cNvPr name="Freeform 6" id="6"/>
            <p:cNvSpPr/>
            <p:nvPr/>
          </p:nvSpPr>
          <p:spPr>
            <a:xfrm flipH="false" flipV="false" rot="0">
              <a:off x="0" y="0"/>
              <a:ext cx="638872" cy="3112966"/>
            </a:xfrm>
            <a:custGeom>
              <a:avLst/>
              <a:gdLst/>
              <a:ahLst/>
              <a:cxnLst/>
              <a:rect r="r" b="b" t="t" l="l"/>
              <a:pathLst>
                <a:path h="3112966" w="638872">
                  <a:moveTo>
                    <a:pt x="162772" y="0"/>
                  </a:moveTo>
                  <a:lnTo>
                    <a:pt x="476101" y="0"/>
                  </a:lnTo>
                  <a:cubicBezTo>
                    <a:pt x="519271" y="0"/>
                    <a:pt x="560672" y="17149"/>
                    <a:pt x="591198" y="47675"/>
                  </a:cubicBezTo>
                  <a:cubicBezTo>
                    <a:pt x="621723" y="78200"/>
                    <a:pt x="638872" y="119602"/>
                    <a:pt x="638872" y="162772"/>
                  </a:cubicBezTo>
                  <a:lnTo>
                    <a:pt x="638872" y="2950194"/>
                  </a:lnTo>
                  <a:cubicBezTo>
                    <a:pt x="638872" y="2993364"/>
                    <a:pt x="621723" y="3034765"/>
                    <a:pt x="591198" y="3065291"/>
                  </a:cubicBezTo>
                  <a:cubicBezTo>
                    <a:pt x="560672" y="3095816"/>
                    <a:pt x="519271" y="3112966"/>
                    <a:pt x="476101" y="3112966"/>
                  </a:cubicBezTo>
                  <a:lnTo>
                    <a:pt x="162772" y="3112966"/>
                  </a:lnTo>
                  <a:cubicBezTo>
                    <a:pt x="119602" y="3112966"/>
                    <a:pt x="78200" y="3095816"/>
                    <a:pt x="47675" y="3065291"/>
                  </a:cubicBezTo>
                  <a:cubicBezTo>
                    <a:pt x="17149" y="3034765"/>
                    <a:pt x="0" y="2993364"/>
                    <a:pt x="0" y="2950194"/>
                  </a:cubicBezTo>
                  <a:lnTo>
                    <a:pt x="0" y="162772"/>
                  </a:lnTo>
                  <a:cubicBezTo>
                    <a:pt x="0" y="119602"/>
                    <a:pt x="17149" y="78200"/>
                    <a:pt x="47675" y="47675"/>
                  </a:cubicBezTo>
                  <a:cubicBezTo>
                    <a:pt x="78200" y="17149"/>
                    <a:pt x="119602" y="0"/>
                    <a:pt x="162772" y="0"/>
                  </a:cubicBezTo>
                  <a:close/>
                </a:path>
              </a:pathLst>
            </a:custGeom>
            <a:solidFill>
              <a:srgbClr val="191E3A"/>
            </a:solidFill>
          </p:spPr>
        </p:sp>
        <p:sp>
          <p:nvSpPr>
            <p:cNvPr name="TextBox 7" id="7"/>
            <p:cNvSpPr txBox="true"/>
            <p:nvPr/>
          </p:nvSpPr>
          <p:spPr>
            <a:xfrm>
              <a:off x="0" y="-38100"/>
              <a:ext cx="638872" cy="3151066"/>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false" flipV="false" rot="0">
            <a:off x="268209" y="348842"/>
            <a:ext cx="1889301" cy="1889301"/>
          </a:xfrm>
          <a:custGeom>
            <a:avLst/>
            <a:gdLst/>
            <a:ahLst/>
            <a:cxnLst/>
            <a:rect r="r" b="b" t="t" l="l"/>
            <a:pathLst>
              <a:path h="1889301" w="1889301">
                <a:moveTo>
                  <a:pt x="0" y="0"/>
                </a:moveTo>
                <a:lnTo>
                  <a:pt x="1889301" y="0"/>
                </a:lnTo>
                <a:lnTo>
                  <a:pt x="1889301" y="1889301"/>
                </a:lnTo>
                <a:lnTo>
                  <a:pt x="0" y="1889301"/>
                </a:lnTo>
                <a:lnTo>
                  <a:pt x="0" y="0"/>
                </a:lnTo>
                <a:close/>
              </a:path>
            </a:pathLst>
          </a:custGeom>
          <a:blipFill>
            <a:blip r:embed="rId2"/>
            <a:stretch>
              <a:fillRect l="0" t="0" r="0" b="0"/>
            </a:stretch>
          </a:blipFill>
        </p:spPr>
      </p:sp>
      <p:sp>
        <p:nvSpPr>
          <p:cNvPr name="TextBox 9" id="9"/>
          <p:cNvSpPr txBox="true"/>
          <p:nvPr/>
        </p:nvSpPr>
        <p:spPr>
          <a:xfrm rot="0">
            <a:off x="2877161" y="914400"/>
            <a:ext cx="6734765" cy="1035686"/>
          </a:xfrm>
          <a:prstGeom prst="rect">
            <a:avLst/>
          </a:prstGeom>
        </p:spPr>
        <p:txBody>
          <a:bodyPr anchor="t" rtlCol="false" tIns="0" lIns="0" bIns="0" rIns="0">
            <a:spAutoFit/>
          </a:bodyPr>
          <a:lstStyle/>
          <a:p>
            <a:pPr algn="l">
              <a:lnSpc>
                <a:spcPts val="8539"/>
              </a:lnSpc>
            </a:pPr>
            <a:r>
              <a:rPr lang="en-US" sz="6099">
                <a:solidFill>
                  <a:srgbClr val="191E3A"/>
                </a:solidFill>
                <a:latin typeface="Libre Baskerville"/>
                <a:ea typeface="Libre Baskerville"/>
                <a:cs typeface="Libre Baskerville"/>
                <a:sym typeface="Libre Baskerville"/>
              </a:rPr>
              <a:t>Selected budgets</a:t>
            </a:r>
          </a:p>
        </p:txBody>
      </p:sp>
      <p:grpSp>
        <p:nvGrpSpPr>
          <p:cNvPr name="Group 10" id="10"/>
          <p:cNvGrpSpPr/>
          <p:nvPr/>
        </p:nvGrpSpPr>
        <p:grpSpPr>
          <a:xfrm rot="0">
            <a:off x="2743947" y="3622379"/>
            <a:ext cx="15021834" cy="3042243"/>
            <a:chOff x="0" y="0"/>
            <a:chExt cx="20029112" cy="4056324"/>
          </a:xfrm>
        </p:grpSpPr>
        <p:grpSp>
          <p:nvGrpSpPr>
            <p:cNvPr name="Group 11" id="11"/>
            <p:cNvGrpSpPr/>
            <p:nvPr/>
          </p:nvGrpSpPr>
          <p:grpSpPr>
            <a:xfrm rot="0">
              <a:off x="0" y="0"/>
              <a:ext cx="20029112" cy="1781739"/>
              <a:chOff x="0" y="0"/>
              <a:chExt cx="4300617" cy="382575"/>
            </a:xfrm>
          </p:grpSpPr>
          <p:sp>
            <p:nvSpPr>
              <p:cNvPr name="Freeform 12" id="12"/>
              <p:cNvSpPr/>
              <p:nvPr/>
            </p:nvSpPr>
            <p:spPr>
              <a:xfrm flipH="false" flipV="false" rot="0">
                <a:off x="91260" y="63500"/>
                <a:ext cx="4118024" cy="12700"/>
              </a:xfrm>
              <a:custGeom>
                <a:avLst/>
                <a:gdLst/>
                <a:ahLst/>
                <a:cxnLst/>
                <a:rect r="r" b="b" t="t" l="l"/>
                <a:pathLst>
                  <a:path h="12700" w="4118024">
                    <a:moveTo>
                      <a:pt x="0" y="0"/>
                    </a:moveTo>
                    <a:lnTo>
                      <a:pt x="4118024" y="0"/>
                    </a:lnTo>
                    <a:lnTo>
                      <a:pt x="4118024" y="12700"/>
                    </a:lnTo>
                    <a:lnTo>
                      <a:pt x="0" y="12700"/>
                    </a:lnTo>
                    <a:close/>
                  </a:path>
                </a:pathLst>
              </a:custGeom>
              <a:solidFill>
                <a:srgbClr val="191E3B"/>
              </a:solidFill>
            </p:spPr>
          </p:sp>
          <p:sp>
            <p:nvSpPr>
              <p:cNvPr name="Freeform 13" id="13"/>
              <p:cNvSpPr/>
              <p:nvPr/>
            </p:nvSpPr>
            <p:spPr>
              <a:xfrm flipH="false" flipV="false" rot="0">
                <a:off x="91260" y="76200"/>
                <a:ext cx="824809" cy="235331"/>
              </a:xfrm>
              <a:custGeom>
                <a:avLst/>
                <a:gdLst/>
                <a:ahLst/>
                <a:cxnLst/>
                <a:rect r="r" b="b" t="t" l="l"/>
                <a:pathLst>
                  <a:path h="235331" w="824809">
                    <a:moveTo>
                      <a:pt x="0" y="235331"/>
                    </a:moveTo>
                    <a:lnTo>
                      <a:pt x="824809" y="235331"/>
                    </a:lnTo>
                    <a:lnTo>
                      <a:pt x="824809" y="0"/>
                    </a:lnTo>
                    <a:lnTo>
                      <a:pt x="0" y="0"/>
                    </a:lnTo>
                    <a:close/>
                  </a:path>
                </a:pathLst>
              </a:custGeom>
              <a:solidFill>
                <a:srgbClr val="191E3B"/>
              </a:solidFill>
            </p:spPr>
          </p:sp>
          <p:sp>
            <p:nvSpPr>
              <p:cNvPr name="Freeform 14" id="14"/>
              <p:cNvSpPr/>
              <p:nvPr/>
            </p:nvSpPr>
            <p:spPr>
              <a:xfrm flipH="false" flipV="false" rot="0">
                <a:off x="916069" y="76200"/>
                <a:ext cx="1097677" cy="235331"/>
              </a:xfrm>
              <a:custGeom>
                <a:avLst/>
                <a:gdLst/>
                <a:ahLst/>
                <a:cxnLst/>
                <a:rect r="r" b="b" t="t" l="l"/>
                <a:pathLst>
                  <a:path h="235331" w="1097677">
                    <a:moveTo>
                      <a:pt x="0" y="235331"/>
                    </a:moveTo>
                    <a:lnTo>
                      <a:pt x="1097678" y="235331"/>
                    </a:lnTo>
                    <a:lnTo>
                      <a:pt x="1097678" y="0"/>
                    </a:lnTo>
                    <a:lnTo>
                      <a:pt x="0" y="0"/>
                    </a:lnTo>
                    <a:close/>
                  </a:path>
                </a:pathLst>
              </a:custGeom>
              <a:solidFill>
                <a:srgbClr val="191E3B"/>
              </a:solidFill>
            </p:spPr>
          </p:sp>
          <p:sp>
            <p:nvSpPr>
              <p:cNvPr name="Freeform 15" id="15"/>
              <p:cNvSpPr/>
              <p:nvPr/>
            </p:nvSpPr>
            <p:spPr>
              <a:xfrm flipH="false" flipV="false" rot="0">
                <a:off x="2013929" y="76200"/>
                <a:ext cx="1097677" cy="235331"/>
              </a:xfrm>
              <a:custGeom>
                <a:avLst/>
                <a:gdLst/>
                <a:ahLst/>
                <a:cxnLst/>
                <a:rect r="r" b="b" t="t" l="l"/>
                <a:pathLst>
                  <a:path h="235331" w="1097677">
                    <a:moveTo>
                      <a:pt x="0" y="235331"/>
                    </a:moveTo>
                    <a:lnTo>
                      <a:pt x="1097677" y="235331"/>
                    </a:lnTo>
                    <a:lnTo>
                      <a:pt x="1097677" y="0"/>
                    </a:lnTo>
                    <a:lnTo>
                      <a:pt x="0" y="0"/>
                    </a:lnTo>
                    <a:close/>
                  </a:path>
                </a:pathLst>
              </a:custGeom>
              <a:solidFill>
                <a:srgbClr val="191E3B"/>
              </a:solidFill>
            </p:spPr>
          </p:sp>
          <p:sp>
            <p:nvSpPr>
              <p:cNvPr name="Freeform 16" id="16"/>
              <p:cNvSpPr/>
              <p:nvPr/>
            </p:nvSpPr>
            <p:spPr>
              <a:xfrm flipH="false" flipV="false" rot="0">
                <a:off x="3111606" y="76200"/>
                <a:ext cx="1097677" cy="235331"/>
              </a:xfrm>
              <a:custGeom>
                <a:avLst/>
                <a:gdLst/>
                <a:ahLst/>
                <a:cxnLst/>
                <a:rect r="r" b="b" t="t" l="l"/>
                <a:pathLst>
                  <a:path h="235331" w="1097677">
                    <a:moveTo>
                      <a:pt x="0" y="235331"/>
                    </a:moveTo>
                    <a:lnTo>
                      <a:pt x="1097678" y="235331"/>
                    </a:lnTo>
                    <a:lnTo>
                      <a:pt x="1097678" y="0"/>
                    </a:lnTo>
                    <a:lnTo>
                      <a:pt x="0" y="0"/>
                    </a:lnTo>
                    <a:close/>
                  </a:path>
                </a:pathLst>
              </a:custGeom>
              <a:solidFill>
                <a:srgbClr val="191E3B"/>
              </a:solidFill>
            </p:spPr>
          </p:sp>
          <p:sp>
            <p:nvSpPr>
              <p:cNvPr name="Freeform 17" id="17"/>
              <p:cNvSpPr/>
              <p:nvPr/>
            </p:nvSpPr>
            <p:spPr>
              <a:xfrm flipH="false" flipV="false" rot="0">
                <a:off x="91260" y="311531"/>
                <a:ext cx="4118024" cy="7620"/>
              </a:xfrm>
              <a:custGeom>
                <a:avLst/>
                <a:gdLst/>
                <a:ahLst/>
                <a:cxnLst/>
                <a:rect r="r" b="b" t="t" l="l"/>
                <a:pathLst>
                  <a:path h="7620" w="4118024">
                    <a:moveTo>
                      <a:pt x="0" y="0"/>
                    </a:moveTo>
                    <a:lnTo>
                      <a:pt x="4118024" y="0"/>
                    </a:lnTo>
                    <a:lnTo>
                      <a:pt x="4118024" y="7620"/>
                    </a:lnTo>
                    <a:lnTo>
                      <a:pt x="0" y="7620"/>
                    </a:lnTo>
                    <a:close/>
                  </a:path>
                </a:pathLst>
              </a:custGeom>
              <a:solidFill>
                <a:srgbClr val="191E3B"/>
              </a:solidFill>
            </p:spPr>
          </p:sp>
        </p:grpSp>
        <p:grpSp>
          <p:nvGrpSpPr>
            <p:cNvPr name="Group 18" id="18"/>
            <p:cNvGrpSpPr/>
            <p:nvPr/>
          </p:nvGrpSpPr>
          <p:grpSpPr>
            <a:xfrm rot="0">
              <a:off x="0" y="2286340"/>
              <a:ext cx="20029112" cy="1769984"/>
              <a:chOff x="0" y="0"/>
              <a:chExt cx="4300617" cy="380047"/>
            </a:xfrm>
          </p:grpSpPr>
          <p:sp>
            <p:nvSpPr>
              <p:cNvPr name="Freeform 19" id="19"/>
              <p:cNvSpPr/>
              <p:nvPr/>
            </p:nvSpPr>
            <p:spPr>
              <a:xfrm flipH="false" flipV="false" rot="0">
                <a:off x="91260" y="63500"/>
                <a:ext cx="4118024" cy="5080"/>
              </a:xfrm>
              <a:custGeom>
                <a:avLst/>
                <a:gdLst/>
                <a:ahLst/>
                <a:cxnLst/>
                <a:rect r="r" b="b" t="t" l="l"/>
                <a:pathLst>
                  <a:path h="5080" w="4118024">
                    <a:moveTo>
                      <a:pt x="0" y="0"/>
                    </a:moveTo>
                    <a:lnTo>
                      <a:pt x="4118024" y="0"/>
                    </a:lnTo>
                    <a:lnTo>
                      <a:pt x="4118024" y="5080"/>
                    </a:lnTo>
                    <a:lnTo>
                      <a:pt x="0" y="5080"/>
                    </a:lnTo>
                    <a:close/>
                  </a:path>
                </a:pathLst>
              </a:custGeom>
              <a:solidFill>
                <a:srgbClr val="D1D2D8"/>
              </a:solidFill>
            </p:spPr>
          </p:sp>
          <p:sp>
            <p:nvSpPr>
              <p:cNvPr name="Freeform 20" id="20"/>
              <p:cNvSpPr/>
              <p:nvPr/>
            </p:nvSpPr>
            <p:spPr>
              <a:xfrm flipH="false" flipV="false" rot="0">
                <a:off x="91260" y="68580"/>
                <a:ext cx="824809" cy="235331"/>
              </a:xfrm>
              <a:custGeom>
                <a:avLst/>
                <a:gdLst/>
                <a:ahLst/>
                <a:cxnLst/>
                <a:rect r="r" b="b" t="t" l="l"/>
                <a:pathLst>
                  <a:path h="235331" w="824809">
                    <a:moveTo>
                      <a:pt x="0" y="235331"/>
                    </a:moveTo>
                    <a:lnTo>
                      <a:pt x="824809" y="235331"/>
                    </a:lnTo>
                    <a:lnTo>
                      <a:pt x="824809" y="0"/>
                    </a:lnTo>
                    <a:lnTo>
                      <a:pt x="0" y="0"/>
                    </a:lnTo>
                    <a:close/>
                  </a:path>
                </a:pathLst>
              </a:custGeom>
              <a:solidFill>
                <a:srgbClr val="F2F3F7"/>
              </a:solidFill>
            </p:spPr>
          </p:sp>
          <p:sp>
            <p:nvSpPr>
              <p:cNvPr name="Freeform 21" id="21"/>
              <p:cNvSpPr/>
              <p:nvPr/>
            </p:nvSpPr>
            <p:spPr>
              <a:xfrm flipH="false" flipV="false" rot="0">
                <a:off x="916069" y="68580"/>
                <a:ext cx="1097677" cy="235331"/>
              </a:xfrm>
              <a:custGeom>
                <a:avLst/>
                <a:gdLst/>
                <a:ahLst/>
                <a:cxnLst/>
                <a:rect r="r" b="b" t="t" l="l"/>
                <a:pathLst>
                  <a:path h="235331" w="1097677">
                    <a:moveTo>
                      <a:pt x="0" y="235331"/>
                    </a:moveTo>
                    <a:lnTo>
                      <a:pt x="1097678" y="235331"/>
                    </a:lnTo>
                    <a:lnTo>
                      <a:pt x="1097678" y="0"/>
                    </a:lnTo>
                    <a:lnTo>
                      <a:pt x="0" y="0"/>
                    </a:lnTo>
                    <a:close/>
                  </a:path>
                </a:pathLst>
              </a:custGeom>
              <a:solidFill>
                <a:srgbClr val="F2F3F7"/>
              </a:solidFill>
            </p:spPr>
          </p:sp>
          <p:sp>
            <p:nvSpPr>
              <p:cNvPr name="Freeform 22" id="22"/>
              <p:cNvSpPr/>
              <p:nvPr/>
            </p:nvSpPr>
            <p:spPr>
              <a:xfrm flipH="false" flipV="false" rot="0">
                <a:off x="2013929" y="68580"/>
                <a:ext cx="1097677" cy="235331"/>
              </a:xfrm>
              <a:custGeom>
                <a:avLst/>
                <a:gdLst/>
                <a:ahLst/>
                <a:cxnLst/>
                <a:rect r="r" b="b" t="t" l="l"/>
                <a:pathLst>
                  <a:path h="235331" w="1097677">
                    <a:moveTo>
                      <a:pt x="0" y="235331"/>
                    </a:moveTo>
                    <a:lnTo>
                      <a:pt x="1097677" y="235331"/>
                    </a:lnTo>
                    <a:lnTo>
                      <a:pt x="1097677" y="0"/>
                    </a:lnTo>
                    <a:lnTo>
                      <a:pt x="0" y="0"/>
                    </a:lnTo>
                    <a:close/>
                  </a:path>
                </a:pathLst>
              </a:custGeom>
              <a:solidFill>
                <a:srgbClr val="F2F3F7"/>
              </a:solidFill>
            </p:spPr>
          </p:sp>
          <p:sp>
            <p:nvSpPr>
              <p:cNvPr name="Freeform 23" id="23"/>
              <p:cNvSpPr/>
              <p:nvPr/>
            </p:nvSpPr>
            <p:spPr>
              <a:xfrm flipH="false" flipV="false" rot="0">
                <a:off x="3111606" y="68580"/>
                <a:ext cx="1097677" cy="235331"/>
              </a:xfrm>
              <a:custGeom>
                <a:avLst/>
                <a:gdLst/>
                <a:ahLst/>
                <a:cxnLst/>
                <a:rect r="r" b="b" t="t" l="l"/>
                <a:pathLst>
                  <a:path h="235331" w="1097677">
                    <a:moveTo>
                      <a:pt x="0" y="235331"/>
                    </a:moveTo>
                    <a:lnTo>
                      <a:pt x="1097678" y="235331"/>
                    </a:lnTo>
                    <a:lnTo>
                      <a:pt x="1097678" y="0"/>
                    </a:lnTo>
                    <a:lnTo>
                      <a:pt x="0" y="0"/>
                    </a:lnTo>
                    <a:close/>
                  </a:path>
                </a:pathLst>
              </a:custGeom>
              <a:solidFill>
                <a:srgbClr val="F2F3F7"/>
              </a:solidFill>
            </p:spPr>
          </p:sp>
          <p:sp>
            <p:nvSpPr>
              <p:cNvPr name="Freeform 24" id="24"/>
              <p:cNvSpPr/>
              <p:nvPr/>
            </p:nvSpPr>
            <p:spPr>
              <a:xfrm flipH="false" flipV="false" rot="0">
                <a:off x="91260" y="303911"/>
                <a:ext cx="4118024" cy="12700"/>
              </a:xfrm>
              <a:custGeom>
                <a:avLst/>
                <a:gdLst/>
                <a:ahLst/>
                <a:cxnLst/>
                <a:rect r="r" b="b" t="t" l="l"/>
                <a:pathLst>
                  <a:path h="12700" w="4118024">
                    <a:moveTo>
                      <a:pt x="0" y="0"/>
                    </a:moveTo>
                    <a:lnTo>
                      <a:pt x="4118024" y="0"/>
                    </a:lnTo>
                    <a:lnTo>
                      <a:pt x="4118024" y="12700"/>
                    </a:lnTo>
                    <a:lnTo>
                      <a:pt x="0" y="12700"/>
                    </a:lnTo>
                    <a:close/>
                  </a:path>
                </a:pathLst>
              </a:custGeom>
              <a:solidFill>
                <a:srgbClr val="191E3B"/>
              </a:solidFill>
            </p:spPr>
          </p:sp>
        </p:grpSp>
        <p:sp>
          <p:nvSpPr>
            <p:cNvPr name="TextBox 25" id="25"/>
            <p:cNvSpPr txBox="true"/>
            <p:nvPr/>
          </p:nvSpPr>
          <p:spPr>
            <a:xfrm rot="0">
              <a:off x="5758405" y="397605"/>
              <a:ext cx="1806143" cy="3158213"/>
            </a:xfrm>
            <a:prstGeom prst="rect">
              <a:avLst/>
            </a:prstGeom>
          </p:spPr>
          <p:txBody>
            <a:bodyPr anchor="t" rtlCol="false" tIns="0" lIns="0" bIns="0" rIns="0">
              <a:spAutoFit/>
            </a:bodyPr>
            <a:lstStyle/>
            <a:p>
              <a:pPr algn="ctr">
                <a:lnSpc>
                  <a:spcPts val="6611"/>
                </a:lnSpc>
              </a:pPr>
              <a:r>
                <a:rPr lang="en-US" b="true" sz="3479" spc="1103">
                  <a:solidFill>
                    <a:srgbClr val="FFFFFF"/>
                  </a:solidFill>
                  <a:latin typeface="IBM Plex Sans Bold"/>
                  <a:ea typeface="IBM Plex Sans Bold"/>
                  <a:cs typeface="IBM Plex Sans Bold"/>
                  <a:sym typeface="IBM Plex Sans Bold"/>
                </a:rPr>
                <a:t>L=2</a:t>
              </a:r>
            </a:p>
            <a:p>
              <a:pPr algn="ctr">
                <a:lnSpc>
                  <a:spcPts val="6611"/>
                </a:lnSpc>
              </a:pPr>
              <a:r>
                <a:rPr lang="en-US" sz="3479" spc="146">
                  <a:solidFill>
                    <a:srgbClr val="000000"/>
                  </a:solidFill>
                  <a:latin typeface="Noto Sans Thai Light"/>
                  <a:ea typeface="Noto Sans Thai Light"/>
                  <a:cs typeface="Noto Sans Thai Light"/>
                  <a:sym typeface="Noto Sans Thai Light"/>
                </a:rPr>
                <a:t>1024 7</a:t>
              </a:r>
            </a:p>
          </p:txBody>
        </p:sp>
        <p:sp>
          <p:nvSpPr>
            <p:cNvPr name="TextBox 26" id="26"/>
            <p:cNvSpPr txBox="true"/>
            <p:nvPr/>
          </p:nvSpPr>
          <p:spPr>
            <a:xfrm rot="0">
              <a:off x="10870924" y="397605"/>
              <a:ext cx="2171699" cy="3158213"/>
            </a:xfrm>
            <a:prstGeom prst="rect">
              <a:avLst/>
            </a:prstGeom>
          </p:spPr>
          <p:txBody>
            <a:bodyPr anchor="t" rtlCol="false" tIns="0" lIns="0" bIns="0" rIns="0">
              <a:spAutoFit/>
            </a:bodyPr>
            <a:lstStyle/>
            <a:p>
              <a:pPr algn="ctr">
                <a:lnSpc>
                  <a:spcPts val="6611"/>
                </a:lnSpc>
              </a:pPr>
              <a:r>
                <a:rPr lang="en-US" b="true" sz="3479" spc="1103">
                  <a:solidFill>
                    <a:srgbClr val="FFFFFF"/>
                  </a:solidFill>
                  <a:latin typeface="IBM Plex Sans Bold"/>
                  <a:ea typeface="IBM Plex Sans Bold"/>
                  <a:cs typeface="IBM Plex Sans Bold"/>
                  <a:sym typeface="IBM Plex Sans Bold"/>
                </a:rPr>
                <a:t>L=4</a:t>
              </a:r>
            </a:p>
            <a:p>
              <a:pPr algn="ctr">
                <a:lnSpc>
                  <a:spcPts val="6611"/>
                </a:lnSpc>
              </a:pPr>
              <a:r>
                <a:rPr lang="en-US" sz="3479" spc="146">
                  <a:solidFill>
                    <a:srgbClr val="000000"/>
                  </a:solidFill>
                  <a:latin typeface="Noto Sans Thai Light"/>
                  <a:ea typeface="Noto Sans Thai Light"/>
                  <a:cs typeface="Noto Sans Thai Light"/>
                  <a:sym typeface="Noto Sans Thai Light"/>
                </a:rPr>
                <a:t>4096 45</a:t>
              </a:r>
            </a:p>
          </p:txBody>
        </p:sp>
        <p:sp>
          <p:nvSpPr>
            <p:cNvPr name="TextBox 27" id="27"/>
            <p:cNvSpPr txBox="true"/>
            <p:nvPr/>
          </p:nvSpPr>
          <p:spPr>
            <a:xfrm rot="0">
              <a:off x="15983443" y="397605"/>
              <a:ext cx="1867069" cy="3158213"/>
            </a:xfrm>
            <a:prstGeom prst="rect">
              <a:avLst/>
            </a:prstGeom>
          </p:spPr>
          <p:txBody>
            <a:bodyPr anchor="t" rtlCol="false" tIns="0" lIns="0" bIns="0" rIns="0">
              <a:spAutoFit/>
            </a:bodyPr>
            <a:lstStyle/>
            <a:p>
              <a:pPr algn="ctr">
                <a:lnSpc>
                  <a:spcPts val="6611"/>
                </a:lnSpc>
              </a:pPr>
              <a:r>
                <a:rPr lang="en-US" b="true" sz="3479" spc="1103">
                  <a:solidFill>
                    <a:srgbClr val="FFFFFF"/>
                  </a:solidFill>
                  <a:latin typeface="IBM Plex Sans Bold"/>
                  <a:ea typeface="IBM Plex Sans Bold"/>
                  <a:cs typeface="IBM Plex Sans Bold"/>
                  <a:sym typeface="IBM Plex Sans Bold"/>
                </a:rPr>
                <a:t>L=6</a:t>
              </a:r>
            </a:p>
            <a:p>
              <a:pPr algn="ctr">
                <a:lnSpc>
                  <a:spcPts val="6611"/>
                </a:lnSpc>
              </a:pPr>
              <a:r>
                <a:rPr lang="en-US" sz="3479" spc="146">
                  <a:solidFill>
                    <a:srgbClr val="000000"/>
                  </a:solidFill>
                  <a:latin typeface="Noto Sans Thai Light"/>
                  <a:ea typeface="Noto Sans Thai Light"/>
                  <a:cs typeface="Noto Sans Thai Light"/>
                  <a:sym typeface="Noto Sans Thai Light"/>
                </a:rPr>
                <a:t>1024 4</a:t>
              </a:r>
            </a:p>
          </p:txBody>
        </p:sp>
        <p:sp>
          <p:nvSpPr>
            <p:cNvPr name="TextBox 28" id="28"/>
            <p:cNvSpPr txBox="true"/>
            <p:nvPr/>
          </p:nvSpPr>
          <p:spPr>
            <a:xfrm rot="0">
              <a:off x="933160" y="1507397"/>
              <a:ext cx="3466252" cy="2076928"/>
            </a:xfrm>
            <a:prstGeom prst="rect">
              <a:avLst/>
            </a:prstGeom>
          </p:spPr>
          <p:txBody>
            <a:bodyPr anchor="t" rtlCol="false" tIns="0" lIns="0" bIns="0" rIns="0">
              <a:spAutoFit/>
            </a:bodyPr>
            <a:lstStyle/>
            <a:p>
              <a:pPr algn="l">
                <a:lnSpc>
                  <a:spcPts val="6611"/>
                </a:lnSpc>
              </a:pPr>
              <a:r>
                <a:rPr lang="en-US" b="true" sz="3479">
                  <a:solidFill>
                    <a:srgbClr val="191E3B"/>
                  </a:solidFill>
                  <a:latin typeface="Arimo Bold"/>
                  <a:ea typeface="Arimo Bold"/>
                  <a:cs typeface="Arimo Bold"/>
                  <a:sym typeface="Arimo Bold"/>
                </a:rPr>
                <a:t>shots</a:t>
              </a:r>
              <a:r>
                <a:rPr lang="en-US" sz="3479">
                  <a:solidFill>
                    <a:srgbClr val="191E3B"/>
                  </a:solidFill>
                  <a:latin typeface="Arimo"/>
                  <a:ea typeface="Arimo"/>
                  <a:cs typeface="Arimo"/>
                  <a:sym typeface="Arimo"/>
                </a:rPr>
                <a:t> </a:t>
              </a:r>
              <a:r>
                <a:rPr lang="en-US" b="true" sz="3479">
                  <a:solidFill>
                    <a:srgbClr val="191E3B"/>
                  </a:solidFill>
                  <a:latin typeface="Arimo Bold"/>
                  <a:ea typeface="Arimo Bold"/>
                  <a:cs typeface="Arimo Bold"/>
                  <a:sym typeface="Arimo Bold"/>
                </a:rPr>
                <a:t>repeats</a:t>
              </a:r>
            </a:p>
          </p:txBody>
        </p:sp>
        <p:sp>
          <p:nvSpPr>
            <p:cNvPr name="TextBox 29" id="29"/>
            <p:cNvSpPr txBox="true"/>
            <p:nvPr/>
          </p:nvSpPr>
          <p:spPr>
            <a:xfrm rot="0">
              <a:off x="852964" y="537177"/>
              <a:ext cx="1933665" cy="791279"/>
            </a:xfrm>
            <a:prstGeom prst="rect">
              <a:avLst/>
            </a:prstGeom>
          </p:spPr>
          <p:txBody>
            <a:bodyPr anchor="t" rtlCol="false" tIns="0" lIns="0" bIns="0" rIns="0">
              <a:spAutoFit/>
            </a:bodyPr>
            <a:lstStyle/>
            <a:p>
              <a:pPr algn="just">
                <a:lnSpc>
                  <a:spcPts val="5064"/>
                </a:lnSpc>
              </a:pPr>
              <a:r>
                <a:rPr lang="en-US" b="true" sz="3617">
                  <a:solidFill>
                    <a:srgbClr val="FFFFFF"/>
                  </a:solidFill>
                  <a:latin typeface="DM Sans Bold"/>
                  <a:ea typeface="DM Sans Bold"/>
                  <a:cs typeface="DM Sans Bold"/>
                  <a:sym typeface="DM Sans Bold"/>
                </a:rPr>
                <a:t>depth</a:t>
              </a:r>
            </a:p>
          </p:txBody>
        </p:sp>
      </p:grpSp>
      <p:sp>
        <p:nvSpPr>
          <p:cNvPr name="TextBox 30" id="30"/>
          <p:cNvSpPr txBox="true"/>
          <p:nvPr/>
        </p:nvSpPr>
        <p:spPr>
          <a:xfrm rot="0">
            <a:off x="5136011" y="7512489"/>
            <a:ext cx="10237707" cy="1109345"/>
          </a:xfrm>
          <a:prstGeom prst="rect">
            <a:avLst/>
          </a:prstGeom>
        </p:spPr>
        <p:txBody>
          <a:bodyPr anchor="t" rtlCol="false" tIns="0" lIns="0" bIns="0" rIns="0">
            <a:spAutoFit/>
          </a:bodyPr>
          <a:lstStyle/>
          <a:p>
            <a:pPr algn="just">
              <a:lnSpc>
                <a:spcPts val="4480"/>
              </a:lnSpc>
            </a:pPr>
            <a:r>
              <a:rPr lang="en-US" sz="3200">
                <a:solidFill>
                  <a:srgbClr val="000000"/>
                </a:solidFill>
                <a:latin typeface="DM Sans"/>
                <a:ea typeface="DM Sans"/>
                <a:cs typeface="DM Sans"/>
                <a:sym typeface="DM Sans"/>
              </a:rPr>
              <a:t>The pilot returns a </a:t>
            </a:r>
            <a:r>
              <a:rPr lang="en-US" sz="3200" b="true">
                <a:solidFill>
                  <a:srgbClr val="000000"/>
                </a:solidFill>
                <a:latin typeface="DM Sans Bold"/>
                <a:ea typeface="DM Sans Bold"/>
                <a:cs typeface="DM Sans Bold"/>
                <a:sym typeface="DM Sans Bold"/>
              </a:rPr>
              <a:t>different budget for each depth. </a:t>
            </a:r>
          </a:p>
          <a:p>
            <a:pPr algn="just">
              <a:lnSpc>
                <a:spcPts val="4480"/>
              </a:lnSpc>
            </a:pPr>
            <a:r>
              <a:rPr lang="en-US" sz="3200">
                <a:solidFill>
                  <a:srgbClr val="004AAD"/>
                </a:solidFill>
                <a:latin typeface="DM Sans"/>
                <a:ea typeface="DM Sans"/>
                <a:cs typeface="DM Sans"/>
                <a:sym typeface="DM Sans"/>
              </a:rPr>
              <a:t>The budget is measured and selected, not arbitrary.</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766271"/>
            <a:ext cx="2033918" cy="11819542"/>
            <a:chOff x="0" y="0"/>
            <a:chExt cx="535682" cy="3112966"/>
          </a:xfrm>
        </p:grpSpPr>
        <p:sp>
          <p:nvSpPr>
            <p:cNvPr name="Freeform 3" id="3"/>
            <p:cNvSpPr/>
            <p:nvPr/>
          </p:nvSpPr>
          <p:spPr>
            <a:xfrm flipH="false" flipV="false" rot="0">
              <a:off x="0" y="0"/>
              <a:ext cx="535682" cy="3112966"/>
            </a:xfrm>
            <a:custGeom>
              <a:avLst/>
              <a:gdLst/>
              <a:ahLst/>
              <a:cxnLst/>
              <a:rect r="r" b="b" t="t" l="l"/>
              <a:pathLst>
                <a:path h="3112966" w="535682">
                  <a:moveTo>
                    <a:pt x="194127" y="0"/>
                  </a:moveTo>
                  <a:lnTo>
                    <a:pt x="341555" y="0"/>
                  </a:lnTo>
                  <a:cubicBezTo>
                    <a:pt x="448768" y="0"/>
                    <a:pt x="535682" y="86914"/>
                    <a:pt x="535682" y="194127"/>
                  </a:cubicBezTo>
                  <a:lnTo>
                    <a:pt x="535682" y="2918839"/>
                  </a:lnTo>
                  <a:cubicBezTo>
                    <a:pt x="535682" y="3026052"/>
                    <a:pt x="448768" y="3112966"/>
                    <a:pt x="341555" y="3112966"/>
                  </a:cubicBezTo>
                  <a:lnTo>
                    <a:pt x="194127" y="3112966"/>
                  </a:lnTo>
                  <a:cubicBezTo>
                    <a:pt x="86914" y="3112966"/>
                    <a:pt x="0" y="3026052"/>
                    <a:pt x="0" y="2918839"/>
                  </a:cubicBezTo>
                  <a:lnTo>
                    <a:pt x="0" y="194127"/>
                  </a:lnTo>
                  <a:cubicBezTo>
                    <a:pt x="0" y="86914"/>
                    <a:pt x="86914" y="0"/>
                    <a:pt x="194127" y="0"/>
                  </a:cubicBezTo>
                  <a:close/>
                </a:path>
              </a:pathLst>
            </a:custGeom>
            <a:solidFill>
              <a:srgbClr val="191E3A"/>
            </a:solidFill>
          </p:spPr>
        </p:sp>
        <p:sp>
          <p:nvSpPr>
            <p:cNvPr name="TextBox 4" id="4"/>
            <p:cNvSpPr txBox="true"/>
            <p:nvPr/>
          </p:nvSpPr>
          <p:spPr>
            <a:xfrm>
              <a:off x="0" y="-38100"/>
              <a:ext cx="535682" cy="3151066"/>
            </a:xfrm>
            <a:prstGeom prst="rect">
              <a:avLst/>
            </a:prstGeom>
          </p:spPr>
          <p:txBody>
            <a:bodyPr anchor="ctr" rtlCol="false" tIns="50800" lIns="50800" bIns="50800" rIns="50800"/>
            <a:lstStyle/>
            <a:p>
              <a:pPr algn="ctr">
                <a:lnSpc>
                  <a:spcPts val="2659"/>
                </a:lnSpc>
                <a:spcBef>
                  <a:spcPct val="0"/>
                </a:spcBef>
              </a:pPr>
            </a:p>
          </p:txBody>
        </p:sp>
      </p:grpSp>
      <p:sp>
        <p:nvSpPr>
          <p:cNvPr name="TextBox 5" id="5"/>
          <p:cNvSpPr txBox="true"/>
          <p:nvPr/>
        </p:nvSpPr>
        <p:spPr>
          <a:xfrm rot="0">
            <a:off x="2877161" y="914400"/>
            <a:ext cx="7149208" cy="1035686"/>
          </a:xfrm>
          <a:prstGeom prst="rect">
            <a:avLst/>
          </a:prstGeom>
        </p:spPr>
        <p:txBody>
          <a:bodyPr anchor="t" rtlCol="false" tIns="0" lIns="0" bIns="0" rIns="0">
            <a:spAutoFit/>
          </a:bodyPr>
          <a:lstStyle/>
          <a:p>
            <a:pPr algn="l">
              <a:lnSpc>
                <a:spcPts val="8539"/>
              </a:lnSpc>
            </a:pPr>
            <a:r>
              <a:rPr lang="en-US" sz="6099">
                <a:solidFill>
                  <a:srgbClr val="191E3A"/>
                </a:solidFill>
                <a:latin typeface="Libre Baskerville"/>
                <a:ea typeface="Libre Baskerville"/>
                <a:cs typeface="Libre Baskerville"/>
                <a:sym typeface="Libre Baskerville"/>
              </a:rPr>
              <a:t>Fidelity</a:t>
            </a:r>
          </a:p>
        </p:txBody>
      </p:sp>
      <p:grpSp>
        <p:nvGrpSpPr>
          <p:cNvPr name="Group 6" id="6"/>
          <p:cNvGrpSpPr/>
          <p:nvPr/>
        </p:nvGrpSpPr>
        <p:grpSpPr>
          <a:xfrm rot="0">
            <a:off x="9525" y="-766271"/>
            <a:ext cx="2425719" cy="11819542"/>
            <a:chOff x="0" y="0"/>
            <a:chExt cx="638872" cy="3112966"/>
          </a:xfrm>
        </p:grpSpPr>
        <p:sp>
          <p:nvSpPr>
            <p:cNvPr name="Freeform 7" id="7"/>
            <p:cNvSpPr/>
            <p:nvPr/>
          </p:nvSpPr>
          <p:spPr>
            <a:xfrm flipH="false" flipV="false" rot="0">
              <a:off x="0" y="0"/>
              <a:ext cx="638872" cy="3112966"/>
            </a:xfrm>
            <a:custGeom>
              <a:avLst/>
              <a:gdLst/>
              <a:ahLst/>
              <a:cxnLst/>
              <a:rect r="r" b="b" t="t" l="l"/>
              <a:pathLst>
                <a:path h="3112966" w="638872">
                  <a:moveTo>
                    <a:pt x="162772" y="0"/>
                  </a:moveTo>
                  <a:lnTo>
                    <a:pt x="476101" y="0"/>
                  </a:lnTo>
                  <a:cubicBezTo>
                    <a:pt x="519271" y="0"/>
                    <a:pt x="560672" y="17149"/>
                    <a:pt x="591198" y="47675"/>
                  </a:cubicBezTo>
                  <a:cubicBezTo>
                    <a:pt x="621723" y="78200"/>
                    <a:pt x="638872" y="119602"/>
                    <a:pt x="638872" y="162772"/>
                  </a:cubicBezTo>
                  <a:lnTo>
                    <a:pt x="638872" y="2950194"/>
                  </a:lnTo>
                  <a:cubicBezTo>
                    <a:pt x="638872" y="2993364"/>
                    <a:pt x="621723" y="3034765"/>
                    <a:pt x="591198" y="3065291"/>
                  </a:cubicBezTo>
                  <a:cubicBezTo>
                    <a:pt x="560672" y="3095816"/>
                    <a:pt x="519271" y="3112966"/>
                    <a:pt x="476101" y="3112966"/>
                  </a:cubicBezTo>
                  <a:lnTo>
                    <a:pt x="162772" y="3112966"/>
                  </a:lnTo>
                  <a:cubicBezTo>
                    <a:pt x="119602" y="3112966"/>
                    <a:pt x="78200" y="3095816"/>
                    <a:pt x="47675" y="3065291"/>
                  </a:cubicBezTo>
                  <a:cubicBezTo>
                    <a:pt x="17149" y="3034765"/>
                    <a:pt x="0" y="2993364"/>
                    <a:pt x="0" y="2950194"/>
                  </a:cubicBezTo>
                  <a:lnTo>
                    <a:pt x="0" y="162772"/>
                  </a:lnTo>
                  <a:cubicBezTo>
                    <a:pt x="0" y="119602"/>
                    <a:pt x="17149" y="78200"/>
                    <a:pt x="47675" y="47675"/>
                  </a:cubicBezTo>
                  <a:cubicBezTo>
                    <a:pt x="78200" y="17149"/>
                    <a:pt x="119602" y="0"/>
                    <a:pt x="162772" y="0"/>
                  </a:cubicBezTo>
                  <a:close/>
                </a:path>
              </a:pathLst>
            </a:custGeom>
            <a:solidFill>
              <a:srgbClr val="191E3A"/>
            </a:solidFill>
          </p:spPr>
        </p:sp>
        <p:sp>
          <p:nvSpPr>
            <p:cNvPr name="TextBox 8" id="8"/>
            <p:cNvSpPr txBox="true"/>
            <p:nvPr/>
          </p:nvSpPr>
          <p:spPr>
            <a:xfrm>
              <a:off x="0" y="-38100"/>
              <a:ext cx="638872" cy="3151066"/>
            </a:xfrm>
            <a:prstGeom prst="rect">
              <a:avLst/>
            </a:prstGeom>
          </p:spPr>
          <p:txBody>
            <a:bodyPr anchor="ctr" rtlCol="false" tIns="50800" lIns="50800" bIns="50800" rIns="50800"/>
            <a:lstStyle/>
            <a:p>
              <a:pPr algn="ctr">
                <a:lnSpc>
                  <a:spcPts val="2659"/>
                </a:lnSpc>
                <a:spcBef>
                  <a:spcPct val="0"/>
                </a:spcBef>
              </a:pPr>
            </a:p>
          </p:txBody>
        </p:sp>
      </p:grpSp>
      <p:sp>
        <p:nvSpPr>
          <p:cNvPr name="Freeform 9" id="9"/>
          <p:cNvSpPr/>
          <p:nvPr/>
        </p:nvSpPr>
        <p:spPr>
          <a:xfrm flipH="false" flipV="false" rot="0">
            <a:off x="268209" y="348842"/>
            <a:ext cx="1889301" cy="1889301"/>
          </a:xfrm>
          <a:custGeom>
            <a:avLst/>
            <a:gdLst/>
            <a:ahLst/>
            <a:cxnLst/>
            <a:rect r="r" b="b" t="t" l="l"/>
            <a:pathLst>
              <a:path h="1889301" w="1889301">
                <a:moveTo>
                  <a:pt x="0" y="0"/>
                </a:moveTo>
                <a:lnTo>
                  <a:pt x="1889301" y="0"/>
                </a:lnTo>
                <a:lnTo>
                  <a:pt x="1889301" y="1889301"/>
                </a:lnTo>
                <a:lnTo>
                  <a:pt x="0" y="1889301"/>
                </a:lnTo>
                <a:lnTo>
                  <a:pt x="0" y="0"/>
                </a:lnTo>
                <a:close/>
              </a:path>
            </a:pathLst>
          </a:custGeom>
          <a:blipFill>
            <a:blip r:embed="rId2"/>
            <a:stretch>
              <a:fillRect l="0" t="0" r="0" b="0"/>
            </a:stretch>
          </a:blipFill>
        </p:spPr>
      </p:sp>
      <p:sp>
        <p:nvSpPr>
          <p:cNvPr name="TextBox 10" id="10"/>
          <p:cNvSpPr txBox="true"/>
          <p:nvPr/>
        </p:nvSpPr>
        <p:spPr>
          <a:xfrm rot="0">
            <a:off x="2877161" y="2170314"/>
            <a:ext cx="14722574" cy="530860"/>
          </a:xfrm>
          <a:prstGeom prst="rect">
            <a:avLst/>
          </a:prstGeom>
        </p:spPr>
        <p:txBody>
          <a:bodyPr anchor="t" rtlCol="false" tIns="0" lIns="0" bIns="0" rIns="0">
            <a:spAutoFit/>
          </a:bodyPr>
          <a:lstStyle/>
          <a:p>
            <a:pPr algn="just">
              <a:lnSpc>
                <a:spcPts val="4340"/>
              </a:lnSpc>
            </a:pPr>
            <a:r>
              <a:rPr lang="en-US" sz="3100">
                <a:solidFill>
                  <a:srgbClr val="000000"/>
                </a:solidFill>
                <a:latin typeface="DM Sans"/>
                <a:ea typeface="DM Sans"/>
                <a:cs typeface="DM Sans"/>
                <a:sym typeface="DM Sans"/>
              </a:rPr>
              <a:t>Did IQM SPARK </a:t>
            </a:r>
            <a:r>
              <a:rPr lang="en-US" sz="3100" b="true">
                <a:solidFill>
                  <a:srgbClr val="000000"/>
                </a:solidFill>
                <a:latin typeface="DM Sans Bold"/>
                <a:ea typeface="DM Sans Bold"/>
                <a:cs typeface="DM Sans Bold"/>
                <a:sym typeface="DM Sans Bold"/>
              </a:rPr>
              <a:t>actually prepare</a:t>
            </a:r>
            <a:r>
              <a:rPr lang="en-US" sz="3100">
                <a:solidFill>
                  <a:srgbClr val="000000"/>
                </a:solidFill>
                <a:latin typeface="DM Sans"/>
                <a:ea typeface="DM Sans"/>
                <a:cs typeface="DM Sans"/>
                <a:sym typeface="DM Sans"/>
              </a:rPr>
              <a:t> the state predicted by a noiseless simulation?</a:t>
            </a:r>
          </a:p>
        </p:txBody>
      </p:sp>
      <p:pic>
        <p:nvPicPr>
          <p:cNvPr name="Picture 11" id="11"/>
          <p:cNvPicPr>
            <a:picLocks noChangeAspect="true"/>
          </p:cNvPicPr>
          <p:nvPr/>
        </p:nvPicPr>
        <p:blipFill>
          <a:blip r:embed="rId3"/>
          <a:stretch>
            <a:fillRect/>
          </a:stretch>
        </p:blipFill>
        <p:spPr>
          <a:xfrm rot="0">
            <a:off x="2170601" y="4298092"/>
            <a:ext cx="9738360" cy="2215440"/>
          </a:xfrm>
          <a:prstGeom prst="rect">
            <a:avLst/>
          </a:prstGeom>
        </p:spPr>
      </p:pic>
      <p:pic>
        <p:nvPicPr>
          <p:cNvPr name="Picture 12" id="12"/>
          <p:cNvPicPr>
            <a:picLocks noChangeAspect="true"/>
          </p:cNvPicPr>
          <p:nvPr/>
        </p:nvPicPr>
        <p:blipFill>
          <a:blip r:embed="rId4"/>
          <a:stretch>
            <a:fillRect/>
          </a:stretch>
        </p:blipFill>
        <p:spPr>
          <a:xfrm rot="0">
            <a:off x="2246901" y="2811350"/>
            <a:ext cx="8822756" cy="2486779"/>
          </a:xfrm>
          <a:prstGeom prst="rect">
            <a:avLst/>
          </a:prstGeom>
        </p:spPr>
      </p:pic>
      <p:sp>
        <p:nvSpPr>
          <p:cNvPr name="TextBox 13" id="13"/>
          <p:cNvSpPr txBox="true"/>
          <p:nvPr/>
        </p:nvSpPr>
        <p:spPr>
          <a:xfrm rot="0">
            <a:off x="2877161" y="6178252"/>
            <a:ext cx="14722574" cy="2159635"/>
          </a:xfrm>
          <a:prstGeom prst="rect">
            <a:avLst/>
          </a:prstGeom>
        </p:spPr>
        <p:txBody>
          <a:bodyPr anchor="t" rtlCol="false" tIns="0" lIns="0" bIns="0" rIns="0">
            <a:spAutoFit/>
          </a:bodyPr>
          <a:lstStyle/>
          <a:p>
            <a:pPr algn="just">
              <a:lnSpc>
                <a:spcPts val="4340"/>
              </a:lnSpc>
            </a:pPr>
            <a:r>
              <a:rPr lang="en-US" sz="3100">
                <a:solidFill>
                  <a:srgbClr val="000000"/>
                </a:solidFill>
                <a:latin typeface="DM Sans"/>
                <a:ea typeface="DM Sans"/>
                <a:cs typeface="DM Sans"/>
                <a:sym typeface="DM Sans"/>
              </a:rPr>
              <a:t>Intuition: take the ideal state vector, “pass” it through the hardware density matrix, and measure the overlap - see how well the hardware preserves the target state.</a:t>
            </a:r>
          </a:p>
          <a:p>
            <a:pPr algn="just">
              <a:lnSpc>
                <a:spcPts val="4340"/>
              </a:lnSpc>
            </a:pP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766271"/>
            <a:ext cx="2033918" cy="11819542"/>
            <a:chOff x="0" y="0"/>
            <a:chExt cx="535682" cy="3112966"/>
          </a:xfrm>
        </p:grpSpPr>
        <p:sp>
          <p:nvSpPr>
            <p:cNvPr name="Freeform 3" id="3"/>
            <p:cNvSpPr/>
            <p:nvPr/>
          </p:nvSpPr>
          <p:spPr>
            <a:xfrm flipH="false" flipV="false" rot="0">
              <a:off x="0" y="0"/>
              <a:ext cx="535682" cy="3112966"/>
            </a:xfrm>
            <a:custGeom>
              <a:avLst/>
              <a:gdLst/>
              <a:ahLst/>
              <a:cxnLst/>
              <a:rect r="r" b="b" t="t" l="l"/>
              <a:pathLst>
                <a:path h="3112966" w="535682">
                  <a:moveTo>
                    <a:pt x="194127" y="0"/>
                  </a:moveTo>
                  <a:lnTo>
                    <a:pt x="341555" y="0"/>
                  </a:lnTo>
                  <a:cubicBezTo>
                    <a:pt x="448768" y="0"/>
                    <a:pt x="535682" y="86914"/>
                    <a:pt x="535682" y="194127"/>
                  </a:cubicBezTo>
                  <a:lnTo>
                    <a:pt x="535682" y="2918839"/>
                  </a:lnTo>
                  <a:cubicBezTo>
                    <a:pt x="535682" y="3026052"/>
                    <a:pt x="448768" y="3112966"/>
                    <a:pt x="341555" y="3112966"/>
                  </a:cubicBezTo>
                  <a:lnTo>
                    <a:pt x="194127" y="3112966"/>
                  </a:lnTo>
                  <a:cubicBezTo>
                    <a:pt x="86914" y="3112966"/>
                    <a:pt x="0" y="3026052"/>
                    <a:pt x="0" y="2918839"/>
                  </a:cubicBezTo>
                  <a:lnTo>
                    <a:pt x="0" y="194127"/>
                  </a:lnTo>
                  <a:cubicBezTo>
                    <a:pt x="0" y="86914"/>
                    <a:pt x="86914" y="0"/>
                    <a:pt x="194127" y="0"/>
                  </a:cubicBezTo>
                  <a:close/>
                </a:path>
              </a:pathLst>
            </a:custGeom>
            <a:solidFill>
              <a:srgbClr val="191E3A"/>
            </a:solidFill>
          </p:spPr>
        </p:sp>
        <p:sp>
          <p:nvSpPr>
            <p:cNvPr name="TextBox 4" id="4"/>
            <p:cNvSpPr txBox="true"/>
            <p:nvPr/>
          </p:nvSpPr>
          <p:spPr>
            <a:xfrm>
              <a:off x="0" y="-38100"/>
              <a:ext cx="535682" cy="3151066"/>
            </a:xfrm>
            <a:prstGeom prst="rect">
              <a:avLst/>
            </a:prstGeom>
          </p:spPr>
          <p:txBody>
            <a:bodyPr anchor="ctr" rtlCol="false" tIns="50800" lIns="50800" bIns="50800" rIns="50800"/>
            <a:lstStyle/>
            <a:p>
              <a:pPr algn="ctr">
                <a:lnSpc>
                  <a:spcPts val="2659"/>
                </a:lnSpc>
                <a:spcBef>
                  <a:spcPct val="0"/>
                </a:spcBef>
              </a:pPr>
            </a:p>
          </p:txBody>
        </p:sp>
      </p:grpSp>
      <p:sp>
        <p:nvSpPr>
          <p:cNvPr name="TextBox 5" id="5"/>
          <p:cNvSpPr txBox="true"/>
          <p:nvPr/>
        </p:nvSpPr>
        <p:spPr>
          <a:xfrm rot="0">
            <a:off x="2877161" y="914400"/>
            <a:ext cx="7149208" cy="1035686"/>
          </a:xfrm>
          <a:prstGeom prst="rect">
            <a:avLst/>
          </a:prstGeom>
        </p:spPr>
        <p:txBody>
          <a:bodyPr anchor="t" rtlCol="false" tIns="0" lIns="0" bIns="0" rIns="0">
            <a:spAutoFit/>
          </a:bodyPr>
          <a:lstStyle/>
          <a:p>
            <a:pPr algn="l">
              <a:lnSpc>
                <a:spcPts val="8539"/>
              </a:lnSpc>
            </a:pPr>
            <a:r>
              <a:rPr lang="en-US" sz="6099">
                <a:solidFill>
                  <a:srgbClr val="191E3A"/>
                </a:solidFill>
                <a:latin typeface="Libre Baskerville"/>
                <a:ea typeface="Libre Baskerville"/>
                <a:cs typeface="Libre Baskerville"/>
                <a:sym typeface="Libre Baskerville"/>
              </a:rPr>
              <a:t>Tomography</a:t>
            </a:r>
          </a:p>
        </p:txBody>
      </p:sp>
      <p:grpSp>
        <p:nvGrpSpPr>
          <p:cNvPr name="Group 6" id="6"/>
          <p:cNvGrpSpPr/>
          <p:nvPr/>
        </p:nvGrpSpPr>
        <p:grpSpPr>
          <a:xfrm rot="0">
            <a:off x="9525" y="-766271"/>
            <a:ext cx="2425719" cy="11819542"/>
            <a:chOff x="0" y="0"/>
            <a:chExt cx="638872" cy="3112966"/>
          </a:xfrm>
        </p:grpSpPr>
        <p:sp>
          <p:nvSpPr>
            <p:cNvPr name="Freeform 7" id="7"/>
            <p:cNvSpPr/>
            <p:nvPr/>
          </p:nvSpPr>
          <p:spPr>
            <a:xfrm flipH="false" flipV="false" rot="0">
              <a:off x="0" y="0"/>
              <a:ext cx="638872" cy="3112966"/>
            </a:xfrm>
            <a:custGeom>
              <a:avLst/>
              <a:gdLst/>
              <a:ahLst/>
              <a:cxnLst/>
              <a:rect r="r" b="b" t="t" l="l"/>
              <a:pathLst>
                <a:path h="3112966" w="638872">
                  <a:moveTo>
                    <a:pt x="162772" y="0"/>
                  </a:moveTo>
                  <a:lnTo>
                    <a:pt x="476101" y="0"/>
                  </a:lnTo>
                  <a:cubicBezTo>
                    <a:pt x="519271" y="0"/>
                    <a:pt x="560672" y="17149"/>
                    <a:pt x="591198" y="47675"/>
                  </a:cubicBezTo>
                  <a:cubicBezTo>
                    <a:pt x="621723" y="78200"/>
                    <a:pt x="638872" y="119602"/>
                    <a:pt x="638872" y="162772"/>
                  </a:cubicBezTo>
                  <a:lnTo>
                    <a:pt x="638872" y="2950194"/>
                  </a:lnTo>
                  <a:cubicBezTo>
                    <a:pt x="638872" y="2993364"/>
                    <a:pt x="621723" y="3034765"/>
                    <a:pt x="591198" y="3065291"/>
                  </a:cubicBezTo>
                  <a:cubicBezTo>
                    <a:pt x="560672" y="3095816"/>
                    <a:pt x="519271" y="3112966"/>
                    <a:pt x="476101" y="3112966"/>
                  </a:cubicBezTo>
                  <a:lnTo>
                    <a:pt x="162772" y="3112966"/>
                  </a:lnTo>
                  <a:cubicBezTo>
                    <a:pt x="119602" y="3112966"/>
                    <a:pt x="78200" y="3095816"/>
                    <a:pt x="47675" y="3065291"/>
                  </a:cubicBezTo>
                  <a:cubicBezTo>
                    <a:pt x="17149" y="3034765"/>
                    <a:pt x="0" y="2993364"/>
                    <a:pt x="0" y="2950194"/>
                  </a:cubicBezTo>
                  <a:lnTo>
                    <a:pt x="0" y="162772"/>
                  </a:lnTo>
                  <a:cubicBezTo>
                    <a:pt x="0" y="119602"/>
                    <a:pt x="17149" y="78200"/>
                    <a:pt x="47675" y="47675"/>
                  </a:cubicBezTo>
                  <a:cubicBezTo>
                    <a:pt x="78200" y="17149"/>
                    <a:pt x="119602" y="0"/>
                    <a:pt x="162772" y="0"/>
                  </a:cubicBezTo>
                  <a:close/>
                </a:path>
              </a:pathLst>
            </a:custGeom>
            <a:solidFill>
              <a:srgbClr val="191E3A"/>
            </a:solidFill>
          </p:spPr>
        </p:sp>
        <p:sp>
          <p:nvSpPr>
            <p:cNvPr name="TextBox 8" id="8"/>
            <p:cNvSpPr txBox="true"/>
            <p:nvPr/>
          </p:nvSpPr>
          <p:spPr>
            <a:xfrm>
              <a:off x="0" y="-38100"/>
              <a:ext cx="638872" cy="3151066"/>
            </a:xfrm>
            <a:prstGeom prst="rect">
              <a:avLst/>
            </a:prstGeom>
          </p:spPr>
          <p:txBody>
            <a:bodyPr anchor="ctr" rtlCol="false" tIns="50800" lIns="50800" bIns="50800" rIns="50800"/>
            <a:lstStyle/>
            <a:p>
              <a:pPr algn="ctr">
                <a:lnSpc>
                  <a:spcPts val="2659"/>
                </a:lnSpc>
                <a:spcBef>
                  <a:spcPct val="0"/>
                </a:spcBef>
              </a:pPr>
            </a:p>
          </p:txBody>
        </p:sp>
      </p:grpSp>
      <p:sp>
        <p:nvSpPr>
          <p:cNvPr name="Freeform 9" id="9"/>
          <p:cNvSpPr/>
          <p:nvPr/>
        </p:nvSpPr>
        <p:spPr>
          <a:xfrm flipH="false" flipV="false" rot="0">
            <a:off x="268209" y="348842"/>
            <a:ext cx="1889301" cy="1889301"/>
          </a:xfrm>
          <a:custGeom>
            <a:avLst/>
            <a:gdLst/>
            <a:ahLst/>
            <a:cxnLst/>
            <a:rect r="r" b="b" t="t" l="l"/>
            <a:pathLst>
              <a:path h="1889301" w="1889301">
                <a:moveTo>
                  <a:pt x="0" y="0"/>
                </a:moveTo>
                <a:lnTo>
                  <a:pt x="1889301" y="0"/>
                </a:lnTo>
                <a:lnTo>
                  <a:pt x="1889301" y="1889301"/>
                </a:lnTo>
                <a:lnTo>
                  <a:pt x="0" y="1889301"/>
                </a:lnTo>
                <a:lnTo>
                  <a:pt x="0" y="0"/>
                </a:lnTo>
                <a:close/>
              </a:path>
            </a:pathLst>
          </a:custGeom>
          <a:blipFill>
            <a:blip r:embed="rId2"/>
            <a:stretch>
              <a:fillRect l="0" t="0" r="0" b="0"/>
            </a:stretch>
          </a:blipFill>
        </p:spPr>
      </p:sp>
      <p:sp>
        <p:nvSpPr>
          <p:cNvPr name="TextBox 10" id="10"/>
          <p:cNvSpPr txBox="true"/>
          <p:nvPr/>
        </p:nvSpPr>
        <p:spPr>
          <a:xfrm rot="0">
            <a:off x="2877161" y="3172885"/>
            <a:ext cx="14382139" cy="1616710"/>
          </a:xfrm>
          <a:prstGeom prst="rect">
            <a:avLst/>
          </a:prstGeom>
        </p:spPr>
        <p:txBody>
          <a:bodyPr anchor="t" rtlCol="false" tIns="0" lIns="0" bIns="0" rIns="0">
            <a:spAutoFit/>
          </a:bodyPr>
          <a:lstStyle/>
          <a:p>
            <a:pPr algn="l">
              <a:lnSpc>
                <a:spcPts val="4339"/>
              </a:lnSpc>
              <a:spcBef>
                <a:spcPct val="0"/>
              </a:spcBef>
            </a:pPr>
            <a:r>
              <a:rPr lang="en-US" sz="3099">
                <a:solidFill>
                  <a:srgbClr val="191E3A"/>
                </a:solidFill>
                <a:latin typeface="DM Sans"/>
                <a:ea typeface="DM Sans"/>
                <a:cs typeface="DM Sans"/>
                <a:sym typeface="DM Sans"/>
              </a:rPr>
              <a:t>We measure in many bases because ρ has many independent parameters. Different Pauli expectations ⟨P⟩ require different measurement bases.</a:t>
            </a:r>
          </a:p>
          <a:p>
            <a:pPr algn="l">
              <a:lnSpc>
                <a:spcPts val="4339"/>
              </a:lnSpc>
              <a:spcBef>
                <a:spcPct val="0"/>
              </a:spcBef>
            </a:pPr>
          </a:p>
        </p:txBody>
      </p:sp>
      <p:pic>
        <p:nvPicPr>
          <p:cNvPr name="Picture 11" id="11"/>
          <p:cNvPicPr>
            <a:picLocks noChangeAspect="true"/>
          </p:cNvPicPr>
          <p:nvPr/>
        </p:nvPicPr>
        <p:blipFill>
          <a:blip r:embed="rId3"/>
          <a:stretch>
            <a:fillRect/>
          </a:stretch>
        </p:blipFill>
        <p:spPr>
          <a:xfrm rot="0">
            <a:off x="3125527" y="4668736"/>
            <a:ext cx="3101359" cy="1712896"/>
          </a:xfrm>
          <a:prstGeom prst="rect">
            <a:avLst/>
          </a:prstGeom>
        </p:spPr>
      </p:pic>
      <p:pic>
        <p:nvPicPr>
          <p:cNvPr name="Picture 12" id="12"/>
          <p:cNvPicPr>
            <a:picLocks noChangeAspect="true"/>
          </p:cNvPicPr>
          <p:nvPr/>
        </p:nvPicPr>
        <p:blipFill>
          <a:blip r:embed="rId4"/>
          <a:stretch>
            <a:fillRect/>
          </a:stretch>
        </p:blipFill>
        <p:spPr>
          <a:xfrm rot="0">
            <a:off x="6114808" y="4635400"/>
            <a:ext cx="3501402" cy="1779570"/>
          </a:xfrm>
          <a:prstGeom prst="rect">
            <a:avLst/>
          </a:prstGeom>
        </p:spPr>
      </p:pic>
      <p:pic>
        <p:nvPicPr>
          <p:cNvPr name="Picture 13" id="13"/>
          <p:cNvPicPr>
            <a:picLocks noChangeAspect="true"/>
          </p:cNvPicPr>
          <p:nvPr/>
        </p:nvPicPr>
        <p:blipFill>
          <a:blip r:embed="rId5"/>
          <a:stretch>
            <a:fillRect/>
          </a:stretch>
        </p:blipFill>
        <p:spPr>
          <a:xfrm rot="0">
            <a:off x="9442610" y="4607218"/>
            <a:ext cx="3839582" cy="1835933"/>
          </a:xfrm>
          <a:prstGeom prst="rect">
            <a:avLst/>
          </a:prstGeom>
        </p:spPr>
      </p:pic>
      <p:pic>
        <p:nvPicPr>
          <p:cNvPr name="Picture 14" id="14"/>
          <p:cNvPicPr>
            <a:picLocks noChangeAspect="true"/>
          </p:cNvPicPr>
          <p:nvPr/>
        </p:nvPicPr>
        <p:blipFill>
          <a:blip r:embed="rId6"/>
          <a:stretch>
            <a:fillRect/>
          </a:stretch>
        </p:blipFill>
        <p:spPr>
          <a:xfrm rot="0">
            <a:off x="13073538" y="4600344"/>
            <a:ext cx="3922064" cy="1849680"/>
          </a:xfrm>
          <a:prstGeom prst="rect">
            <a:avLst/>
          </a:prstGeom>
        </p:spPr>
      </p:pic>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rot="0">
            <a:off x="2913746" y="5311665"/>
            <a:ext cx="4869180" cy="1864483"/>
          </a:xfrm>
          <a:prstGeom prst="rect">
            <a:avLst/>
          </a:prstGeom>
        </p:spPr>
      </p:pic>
      <p:pic>
        <p:nvPicPr>
          <p:cNvPr name="Picture 3" id="3"/>
          <p:cNvPicPr>
            <a:picLocks noChangeAspect="true"/>
          </p:cNvPicPr>
          <p:nvPr/>
        </p:nvPicPr>
        <p:blipFill>
          <a:blip r:embed="rId3"/>
          <a:stretch>
            <a:fillRect/>
          </a:stretch>
        </p:blipFill>
        <p:spPr>
          <a:xfrm rot="0">
            <a:off x="2757491" y="6208362"/>
            <a:ext cx="6744244" cy="2522119"/>
          </a:xfrm>
          <a:prstGeom prst="rect">
            <a:avLst/>
          </a:prstGeom>
        </p:spPr>
      </p:pic>
      <p:pic>
        <p:nvPicPr>
          <p:cNvPr name="Picture 4" id="4"/>
          <p:cNvPicPr>
            <a:picLocks noChangeAspect="true"/>
          </p:cNvPicPr>
          <p:nvPr/>
        </p:nvPicPr>
        <p:blipFill>
          <a:blip r:embed="rId4"/>
          <a:stretch>
            <a:fillRect/>
          </a:stretch>
        </p:blipFill>
        <p:spPr>
          <a:xfrm rot="0">
            <a:off x="2345516" y="946147"/>
            <a:ext cx="9738360" cy="2193776"/>
          </a:xfrm>
          <a:prstGeom prst="rect">
            <a:avLst/>
          </a:prstGeom>
        </p:spPr>
      </p:pic>
      <p:sp>
        <p:nvSpPr>
          <p:cNvPr name="TextBox 5" id="5"/>
          <p:cNvSpPr txBox="true"/>
          <p:nvPr/>
        </p:nvSpPr>
        <p:spPr>
          <a:xfrm rot="0">
            <a:off x="3157046" y="1226817"/>
            <a:ext cx="14722574" cy="530860"/>
          </a:xfrm>
          <a:prstGeom prst="rect">
            <a:avLst/>
          </a:prstGeom>
        </p:spPr>
        <p:txBody>
          <a:bodyPr anchor="t" rtlCol="false" tIns="0" lIns="0" bIns="0" rIns="0">
            <a:spAutoFit/>
          </a:bodyPr>
          <a:lstStyle/>
          <a:p>
            <a:pPr algn="just">
              <a:lnSpc>
                <a:spcPts val="4340"/>
              </a:lnSpc>
            </a:pPr>
            <a:r>
              <a:rPr lang="en-US" sz="3100">
                <a:solidFill>
                  <a:srgbClr val="000000"/>
                </a:solidFill>
                <a:latin typeface="DM Sans"/>
                <a:ea typeface="DM Sans"/>
                <a:cs typeface="DM Sans"/>
                <a:sym typeface="DM Sans"/>
              </a:rPr>
              <a:t>pure state:</a:t>
            </a:r>
          </a:p>
        </p:txBody>
      </p:sp>
      <p:sp>
        <p:nvSpPr>
          <p:cNvPr name="TextBox 6" id="6"/>
          <p:cNvSpPr txBox="true"/>
          <p:nvPr/>
        </p:nvSpPr>
        <p:spPr>
          <a:xfrm rot="0">
            <a:off x="3157046" y="2518893"/>
            <a:ext cx="14722574" cy="530860"/>
          </a:xfrm>
          <a:prstGeom prst="rect">
            <a:avLst/>
          </a:prstGeom>
        </p:spPr>
        <p:txBody>
          <a:bodyPr anchor="t" rtlCol="false" tIns="0" lIns="0" bIns="0" rIns="0">
            <a:spAutoFit/>
          </a:bodyPr>
          <a:lstStyle/>
          <a:p>
            <a:pPr algn="just">
              <a:lnSpc>
                <a:spcPts val="4340"/>
              </a:lnSpc>
            </a:pPr>
            <a:r>
              <a:rPr lang="en-US" sz="3100">
                <a:solidFill>
                  <a:srgbClr val="000000"/>
                </a:solidFill>
                <a:latin typeface="DM Sans"/>
                <a:ea typeface="DM Sans"/>
                <a:cs typeface="DM Sans"/>
                <a:sym typeface="DM Sans"/>
              </a:rPr>
              <a:t>density matrix:</a:t>
            </a:r>
          </a:p>
        </p:txBody>
      </p:sp>
      <p:pic>
        <p:nvPicPr>
          <p:cNvPr name="Picture 7" id="7"/>
          <p:cNvPicPr>
            <a:picLocks noChangeAspect="true"/>
          </p:cNvPicPr>
          <p:nvPr/>
        </p:nvPicPr>
        <p:blipFill>
          <a:blip r:embed="rId5"/>
          <a:stretch>
            <a:fillRect/>
          </a:stretch>
        </p:blipFill>
        <p:spPr>
          <a:xfrm rot="0">
            <a:off x="5979796" y="2306869"/>
            <a:ext cx="2897579" cy="1021583"/>
          </a:xfrm>
          <a:prstGeom prst="rect">
            <a:avLst/>
          </a:prstGeom>
        </p:spPr>
      </p:pic>
      <p:pic>
        <p:nvPicPr>
          <p:cNvPr name="Picture 8" id="8"/>
          <p:cNvPicPr>
            <a:picLocks noChangeAspect="true"/>
          </p:cNvPicPr>
          <p:nvPr/>
        </p:nvPicPr>
        <p:blipFill>
          <a:blip r:embed="rId6"/>
          <a:stretch>
            <a:fillRect/>
          </a:stretch>
        </p:blipFill>
        <p:spPr>
          <a:xfrm rot="0">
            <a:off x="5517371" y="2602172"/>
            <a:ext cx="8446675" cy="2648042"/>
          </a:xfrm>
          <a:prstGeom prst="rect">
            <a:avLst/>
          </a:prstGeom>
        </p:spPr>
      </p:pic>
      <p:pic>
        <p:nvPicPr>
          <p:cNvPr name="Picture 9" id="9"/>
          <p:cNvPicPr>
            <a:picLocks noChangeAspect="true"/>
          </p:cNvPicPr>
          <p:nvPr/>
        </p:nvPicPr>
        <p:blipFill>
          <a:blip r:embed="rId7"/>
          <a:stretch>
            <a:fillRect/>
          </a:stretch>
        </p:blipFill>
        <p:spPr>
          <a:xfrm rot="0">
            <a:off x="5382479" y="3964718"/>
            <a:ext cx="10065388" cy="2207284"/>
          </a:xfrm>
          <a:prstGeom prst="rect">
            <a:avLst/>
          </a:prstGeom>
        </p:spPr>
      </p:pic>
      <p:grpSp>
        <p:nvGrpSpPr>
          <p:cNvPr name="Group 10" id="10"/>
          <p:cNvGrpSpPr/>
          <p:nvPr/>
        </p:nvGrpSpPr>
        <p:grpSpPr>
          <a:xfrm rot="0">
            <a:off x="0" y="-766271"/>
            <a:ext cx="2033918" cy="11819542"/>
            <a:chOff x="0" y="0"/>
            <a:chExt cx="535682" cy="3112966"/>
          </a:xfrm>
        </p:grpSpPr>
        <p:sp>
          <p:nvSpPr>
            <p:cNvPr name="Freeform 11" id="11"/>
            <p:cNvSpPr/>
            <p:nvPr/>
          </p:nvSpPr>
          <p:spPr>
            <a:xfrm flipH="false" flipV="false" rot="0">
              <a:off x="0" y="0"/>
              <a:ext cx="535682" cy="3112966"/>
            </a:xfrm>
            <a:custGeom>
              <a:avLst/>
              <a:gdLst/>
              <a:ahLst/>
              <a:cxnLst/>
              <a:rect r="r" b="b" t="t" l="l"/>
              <a:pathLst>
                <a:path h="3112966" w="535682">
                  <a:moveTo>
                    <a:pt x="194127" y="0"/>
                  </a:moveTo>
                  <a:lnTo>
                    <a:pt x="341555" y="0"/>
                  </a:lnTo>
                  <a:cubicBezTo>
                    <a:pt x="448768" y="0"/>
                    <a:pt x="535682" y="86914"/>
                    <a:pt x="535682" y="194127"/>
                  </a:cubicBezTo>
                  <a:lnTo>
                    <a:pt x="535682" y="2918839"/>
                  </a:lnTo>
                  <a:cubicBezTo>
                    <a:pt x="535682" y="3026052"/>
                    <a:pt x="448768" y="3112966"/>
                    <a:pt x="341555" y="3112966"/>
                  </a:cubicBezTo>
                  <a:lnTo>
                    <a:pt x="194127" y="3112966"/>
                  </a:lnTo>
                  <a:cubicBezTo>
                    <a:pt x="86914" y="3112966"/>
                    <a:pt x="0" y="3026052"/>
                    <a:pt x="0" y="2918839"/>
                  </a:cubicBezTo>
                  <a:lnTo>
                    <a:pt x="0" y="194127"/>
                  </a:lnTo>
                  <a:cubicBezTo>
                    <a:pt x="0" y="86914"/>
                    <a:pt x="86914" y="0"/>
                    <a:pt x="194127" y="0"/>
                  </a:cubicBezTo>
                  <a:close/>
                </a:path>
              </a:pathLst>
            </a:custGeom>
            <a:solidFill>
              <a:srgbClr val="191E3A"/>
            </a:solidFill>
          </p:spPr>
        </p:sp>
        <p:sp>
          <p:nvSpPr>
            <p:cNvPr name="TextBox 12" id="12"/>
            <p:cNvSpPr txBox="true"/>
            <p:nvPr/>
          </p:nvSpPr>
          <p:spPr>
            <a:xfrm>
              <a:off x="0" y="-38100"/>
              <a:ext cx="535682" cy="3151066"/>
            </a:xfrm>
            <a:prstGeom prst="rect">
              <a:avLst/>
            </a:prstGeom>
          </p:spPr>
          <p:txBody>
            <a:bodyPr anchor="ctr" rtlCol="false" tIns="50800" lIns="50800" bIns="50800" rIns="50800"/>
            <a:lstStyle/>
            <a:p>
              <a:pPr algn="ctr">
                <a:lnSpc>
                  <a:spcPts val="2659"/>
                </a:lnSpc>
                <a:spcBef>
                  <a:spcPct val="0"/>
                </a:spcBef>
              </a:pPr>
            </a:p>
          </p:txBody>
        </p:sp>
      </p:grpSp>
      <p:grpSp>
        <p:nvGrpSpPr>
          <p:cNvPr name="Group 13" id="13"/>
          <p:cNvGrpSpPr/>
          <p:nvPr/>
        </p:nvGrpSpPr>
        <p:grpSpPr>
          <a:xfrm rot="0">
            <a:off x="9525" y="-766271"/>
            <a:ext cx="2425719" cy="11819542"/>
            <a:chOff x="0" y="0"/>
            <a:chExt cx="638872" cy="3112966"/>
          </a:xfrm>
        </p:grpSpPr>
        <p:sp>
          <p:nvSpPr>
            <p:cNvPr name="Freeform 14" id="14"/>
            <p:cNvSpPr/>
            <p:nvPr/>
          </p:nvSpPr>
          <p:spPr>
            <a:xfrm flipH="false" flipV="false" rot="0">
              <a:off x="0" y="0"/>
              <a:ext cx="638872" cy="3112966"/>
            </a:xfrm>
            <a:custGeom>
              <a:avLst/>
              <a:gdLst/>
              <a:ahLst/>
              <a:cxnLst/>
              <a:rect r="r" b="b" t="t" l="l"/>
              <a:pathLst>
                <a:path h="3112966" w="638872">
                  <a:moveTo>
                    <a:pt x="162772" y="0"/>
                  </a:moveTo>
                  <a:lnTo>
                    <a:pt x="476101" y="0"/>
                  </a:lnTo>
                  <a:cubicBezTo>
                    <a:pt x="519271" y="0"/>
                    <a:pt x="560672" y="17149"/>
                    <a:pt x="591198" y="47675"/>
                  </a:cubicBezTo>
                  <a:cubicBezTo>
                    <a:pt x="621723" y="78200"/>
                    <a:pt x="638872" y="119602"/>
                    <a:pt x="638872" y="162772"/>
                  </a:cubicBezTo>
                  <a:lnTo>
                    <a:pt x="638872" y="2950194"/>
                  </a:lnTo>
                  <a:cubicBezTo>
                    <a:pt x="638872" y="2993364"/>
                    <a:pt x="621723" y="3034765"/>
                    <a:pt x="591198" y="3065291"/>
                  </a:cubicBezTo>
                  <a:cubicBezTo>
                    <a:pt x="560672" y="3095816"/>
                    <a:pt x="519271" y="3112966"/>
                    <a:pt x="476101" y="3112966"/>
                  </a:cubicBezTo>
                  <a:lnTo>
                    <a:pt x="162772" y="3112966"/>
                  </a:lnTo>
                  <a:cubicBezTo>
                    <a:pt x="119602" y="3112966"/>
                    <a:pt x="78200" y="3095816"/>
                    <a:pt x="47675" y="3065291"/>
                  </a:cubicBezTo>
                  <a:cubicBezTo>
                    <a:pt x="17149" y="3034765"/>
                    <a:pt x="0" y="2993364"/>
                    <a:pt x="0" y="2950194"/>
                  </a:cubicBezTo>
                  <a:lnTo>
                    <a:pt x="0" y="162772"/>
                  </a:lnTo>
                  <a:cubicBezTo>
                    <a:pt x="0" y="119602"/>
                    <a:pt x="17149" y="78200"/>
                    <a:pt x="47675" y="47675"/>
                  </a:cubicBezTo>
                  <a:cubicBezTo>
                    <a:pt x="78200" y="17149"/>
                    <a:pt x="119602" y="0"/>
                    <a:pt x="162772" y="0"/>
                  </a:cubicBezTo>
                  <a:close/>
                </a:path>
              </a:pathLst>
            </a:custGeom>
            <a:solidFill>
              <a:srgbClr val="191E3A"/>
            </a:solidFill>
          </p:spPr>
        </p:sp>
        <p:sp>
          <p:nvSpPr>
            <p:cNvPr name="TextBox 15" id="15"/>
            <p:cNvSpPr txBox="true"/>
            <p:nvPr/>
          </p:nvSpPr>
          <p:spPr>
            <a:xfrm>
              <a:off x="0" y="-38100"/>
              <a:ext cx="638872" cy="3151066"/>
            </a:xfrm>
            <a:prstGeom prst="rect">
              <a:avLst/>
            </a:prstGeom>
          </p:spPr>
          <p:txBody>
            <a:bodyPr anchor="ctr" rtlCol="false" tIns="50800" lIns="50800" bIns="50800" rIns="50800"/>
            <a:lstStyle/>
            <a:p>
              <a:pPr algn="ctr">
                <a:lnSpc>
                  <a:spcPts val="2659"/>
                </a:lnSpc>
                <a:spcBef>
                  <a:spcPct val="0"/>
                </a:spcBef>
              </a:pPr>
            </a:p>
          </p:txBody>
        </p:sp>
      </p:grpSp>
      <p:sp>
        <p:nvSpPr>
          <p:cNvPr name="Freeform 16" id="16"/>
          <p:cNvSpPr/>
          <p:nvPr/>
        </p:nvSpPr>
        <p:spPr>
          <a:xfrm flipH="false" flipV="false" rot="0">
            <a:off x="268209" y="348842"/>
            <a:ext cx="1889301" cy="1889301"/>
          </a:xfrm>
          <a:custGeom>
            <a:avLst/>
            <a:gdLst/>
            <a:ahLst/>
            <a:cxnLst/>
            <a:rect r="r" b="b" t="t" l="l"/>
            <a:pathLst>
              <a:path h="1889301" w="1889301">
                <a:moveTo>
                  <a:pt x="0" y="0"/>
                </a:moveTo>
                <a:lnTo>
                  <a:pt x="1889301" y="0"/>
                </a:lnTo>
                <a:lnTo>
                  <a:pt x="1889301" y="1889301"/>
                </a:lnTo>
                <a:lnTo>
                  <a:pt x="0" y="1889301"/>
                </a:lnTo>
                <a:lnTo>
                  <a:pt x="0" y="0"/>
                </a:lnTo>
                <a:close/>
              </a:path>
            </a:pathLst>
          </a:custGeom>
          <a:blipFill>
            <a:blip r:embed="rId8"/>
            <a:stretch>
              <a:fillRect l="0" t="0" r="0"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766271"/>
            <a:ext cx="2033918" cy="11819542"/>
            <a:chOff x="0" y="0"/>
            <a:chExt cx="535682" cy="3112966"/>
          </a:xfrm>
        </p:grpSpPr>
        <p:sp>
          <p:nvSpPr>
            <p:cNvPr name="Freeform 3" id="3"/>
            <p:cNvSpPr/>
            <p:nvPr/>
          </p:nvSpPr>
          <p:spPr>
            <a:xfrm flipH="false" flipV="false" rot="0">
              <a:off x="0" y="0"/>
              <a:ext cx="535682" cy="3112966"/>
            </a:xfrm>
            <a:custGeom>
              <a:avLst/>
              <a:gdLst/>
              <a:ahLst/>
              <a:cxnLst/>
              <a:rect r="r" b="b" t="t" l="l"/>
              <a:pathLst>
                <a:path h="3112966" w="535682">
                  <a:moveTo>
                    <a:pt x="194127" y="0"/>
                  </a:moveTo>
                  <a:lnTo>
                    <a:pt x="341555" y="0"/>
                  </a:lnTo>
                  <a:cubicBezTo>
                    <a:pt x="448768" y="0"/>
                    <a:pt x="535682" y="86914"/>
                    <a:pt x="535682" y="194127"/>
                  </a:cubicBezTo>
                  <a:lnTo>
                    <a:pt x="535682" y="2918839"/>
                  </a:lnTo>
                  <a:cubicBezTo>
                    <a:pt x="535682" y="3026052"/>
                    <a:pt x="448768" y="3112966"/>
                    <a:pt x="341555" y="3112966"/>
                  </a:cubicBezTo>
                  <a:lnTo>
                    <a:pt x="194127" y="3112966"/>
                  </a:lnTo>
                  <a:cubicBezTo>
                    <a:pt x="86914" y="3112966"/>
                    <a:pt x="0" y="3026052"/>
                    <a:pt x="0" y="2918839"/>
                  </a:cubicBezTo>
                  <a:lnTo>
                    <a:pt x="0" y="194127"/>
                  </a:lnTo>
                  <a:cubicBezTo>
                    <a:pt x="0" y="86914"/>
                    <a:pt x="86914" y="0"/>
                    <a:pt x="194127" y="0"/>
                  </a:cubicBezTo>
                  <a:close/>
                </a:path>
              </a:pathLst>
            </a:custGeom>
            <a:solidFill>
              <a:srgbClr val="191E3A"/>
            </a:solidFill>
          </p:spPr>
        </p:sp>
        <p:sp>
          <p:nvSpPr>
            <p:cNvPr name="TextBox 4" id="4"/>
            <p:cNvSpPr txBox="true"/>
            <p:nvPr/>
          </p:nvSpPr>
          <p:spPr>
            <a:xfrm>
              <a:off x="0" y="-38100"/>
              <a:ext cx="535682" cy="3151066"/>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9525" y="-766271"/>
            <a:ext cx="2425719" cy="11819542"/>
            <a:chOff x="0" y="0"/>
            <a:chExt cx="638872" cy="3112966"/>
          </a:xfrm>
        </p:grpSpPr>
        <p:sp>
          <p:nvSpPr>
            <p:cNvPr name="Freeform 6" id="6"/>
            <p:cNvSpPr/>
            <p:nvPr/>
          </p:nvSpPr>
          <p:spPr>
            <a:xfrm flipH="false" flipV="false" rot="0">
              <a:off x="0" y="0"/>
              <a:ext cx="638872" cy="3112966"/>
            </a:xfrm>
            <a:custGeom>
              <a:avLst/>
              <a:gdLst/>
              <a:ahLst/>
              <a:cxnLst/>
              <a:rect r="r" b="b" t="t" l="l"/>
              <a:pathLst>
                <a:path h="3112966" w="638872">
                  <a:moveTo>
                    <a:pt x="162772" y="0"/>
                  </a:moveTo>
                  <a:lnTo>
                    <a:pt x="476101" y="0"/>
                  </a:lnTo>
                  <a:cubicBezTo>
                    <a:pt x="519271" y="0"/>
                    <a:pt x="560672" y="17149"/>
                    <a:pt x="591198" y="47675"/>
                  </a:cubicBezTo>
                  <a:cubicBezTo>
                    <a:pt x="621723" y="78200"/>
                    <a:pt x="638872" y="119602"/>
                    <a:pt x="638872" y="162772"/>
                  </a:cubicBezTo>
                  <a:lnTo>
                    <a:pt x="638872" y="2950194"/>
                  </a:lnTo>
                  <a:cubicBezTo>
                    <a:pt x="638872" y="2993364"/>
                    <a:pt x="621723" y="3034765"/>
                    <a:pt x="591198" y="3065291"/>
                  </a:cubicBezTo>
                  <a:cubicBezTo>
                    <a:pt x="560672" y="3095816"/>
                    <a:pt x="519271" y="3112966"/>
                    <a:pt x="476101" y="3112966"/>
                  </a:cubicBezTo>
                  <a:lnTo>
                    <a:pt x="162772" y="3112966"/>
                  </a:lnTo>
                  <a:cubicBezTo>
                    <a:pt x="119602" y="3112966"/>
                    <a:pt x="78200" y="3095816"/>
                    <a:pt x="47675" y="3065291"/>
                  </a:cubicBezTo>
                  <a:cubicBezTo>
                    <a:pt x="17149" y="3034765"/>
                    <a:pt x="0" y="2993364"/>
                    <a:pt x="0" y="2950194"/>
                  </a:cubicBezTo>
                  <a:lnTo>
                    <a:pt x="0" y="162772"/>
                  </a:lnTo>
                  <a:cubicBezTo>
                    <a:pt x="0" y="119602"/>
                    <a:pt x="17149" y="78200"/>
                    <a:pt x="47675" y="47675"/>
                  </a:cubicBezTo>
                  <a:cubicBezTo>
                    <a:pt x="78200" y="17149"/>
                    <a:pt x="119602" y="0"/>
                    <a:pt x="162772" y="0"/>
                  </a:cubicBezTo>
                  <a:close/>
                </a:path>
              </a:pathLst>
            </a:custGeom>
            <a:solidFill>
              <a:srgbClr val="191E3A"/>
            </a:solidFill>
          </p:spPr>
        </p:sp>
        <p:sp>
          <p:nvSpPr>
            <p:cNvPr name="TextBox 7" id="7"/>
            <p:cNvSpPr txBox="true"/>
            <p:nvPr/>
          </p:nvSpPr>
          <p:spPr>
            <a:xfrm>
              <a:off x="0" y="-38100"/>
              <a:ext cx="638872" cy="3151066"/>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false" flipV="false" rot="0">
            <a:off x="268209" y="348842"/>
            <a:ext cx="1889301" cy="1889301"/>
          </a:xfrm>
          <a:custGeom>
            <a:avLst/>
            <a:gdLst/>
            <a:ahLst/>
            <a:cxnLst/>
            <a:rect r="r" b="b" t="t" l="l"/>
            <a:pathLst>
              <a:path h="1889301" w="1889301">
                <a:moveTo>
                  <a:pt x="0" y="0"/>
                </a:moveTo>
                <a:lnTo>
                  <a:pt x="1889301" y="0"/>
                </a:lnTo>
                <a:lnTo>
                  <a:pt x="1889301" y="1889301"/>
                </a:lnTo>
                <a:lnTo>
                  <a:pt x="0" y="1889301"/>
                </a:lnTo>
                <a:lnTo>
                  <a:pt x="0" y="0"/>
                </a:lnTo>
                <a:close/>
              </a:path>
            </a:pathLst>
          </a:custGeom>
          <a:blipFill>
            <a:blip r:embed="rId2"/>
            <a:stretch>
              <a:fillRect l="0" t="0" r="0" b="0"/>
            </a:stretch>
          </a:blipFill>
        </p:spPr>
      </p:sp>
      <p:sp>
        <p:nvSpPr>
          <p:cNvPr name="Freeform 9" id="9"/>
          <p:cNvSpPr/>
          <p:nvPr/>
        </p:nvSpPr>
        <p:spPr>
          <a:xfrm flipH="false" flipV="false" rot="0">
            <a:off x="3154783" y="1671733"/>
            <a:ext cx="13066468" cy="8086945"/>
          </a:xfrm>
          <a:custGeom>
            <a:avLst/>
            <a:gdLst/>
            <a:ahLst/>
            <a:cxnLst/>
            <a:rect r="r" b="b" t="t" l="l"/>
            <a:pathLst>
              <a:path h="8086945" w="13066468">
                <a:moveTo>
                  <a:pt x="0" y="0"/>
                </a:moveTo>
                <a:lnTo>
                  <a:pt x="13066468" y="0"/>
                </a:lnTo>
                <a:lnTo>
                  <a:pt x="13066468" y="8086945"/>
                </a:lnTo>
                <a:lnTo>
                  <a:pt x="0" y="8086945"/>
                </a:lnTo>
                <a:lnTo>
                  <a:pt x="0" y="0"/>
                </a:lnTo>
                <a:close/>
              </a:path>
            </a:pathLst>
          </a:custGeom>
          <a:blipFill>
            <a:blip r:embed="rId3"/>
            <a:stretch>
              <a:fillRect l="-1052" t="-2286" r="0" b="0"/>
            </a:stretch>
          </a:blipFill>
        </p:spPr>
      </p:sp>
      <p:sp>
        <p:nvSpPr>
          <p:cNvPr name="TextBox 10" id="10"/>
          <p:cNvSpPr txBox="true"/>
          <p:nvPr/>
        </p:nvSpPr>
        <p:spPr>
          <a:xfrm rot="0">
            <a:off x="2862066" y="636047"/>
            <a:ext cx="7149208" cy="1035686"/>
          </a:xfrm>
          <a:prstGeom prst="rect">
            <a:avLst/>
          </a:prstGeom>
        </p:spPr>
        <p:txBody>
          <a:bodyPr anchor="t" rtlCol="false" tIns="0" lIns="0" bIns="0" rIns="0">
            <a:spAutoFit/>
          </a:bodyPr>
          <a:lstStyle/>
          <a:p>
            <a:pPr algn="l">
              <a:lnSpc>
                <a:spcPts val="8539"/>
              </a:lnSpc>
            </a:pPr>
            <a:r>
              <a:rPr lang="en-US" sz="6099">
                <a:solidFill>
                  <a:srgbClr val="191E3A"/>
                </a:solidFill>
                <a:latin typeface="Libre Baskerville"/>
                <a:ea typeface="Libre Baskerville"/>
                <a:cs typeface="Libre Baskerville"/>
                <a:sym typeface="Libre Baskerville"/>
              </a:rPr>
              <a:t>Fidelity results</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766271"/>
            <a:ext cx="2033918" cy="11819542"/>
            <a:chOff x="0" y="0"/>
            <a:chExt cx="535682" cy="3112966"/>
          </a:xfrm>
        </p:grpSpPr>
        <p:sp>
          <p:nvSpPr>
            <p:cNvPr name="Freeform 3" id="3"/>
            <p:cNvSpPr/>
            <p:nvPr/>
          </p:nvSpPr>
          <p:spPr>
            <a:xfrm flipH="false" flipV="false" rot="0">
              <a:off x="0" y="0"/>
              <a:ext cx="535682" cy="3112966"/>
            </a:xfrm>
            <a:custGeom>
              <a:avLst/>
              <a:gdLst/>
              <a:ahLst/>
              <a:cxnLst/>
              <a:rect r="r" b="b" t="t" l="l"/>
              <a:pathLst>
                <a:path h="3112966" w="535682">
                  <a:moveTo>
                    <a:pt x="194127" y="0"/>
                  </a:moveTo>
                  <a:lnTo>
                    <a:pt x="341555" y="0"/>
                  </a:lnTo>
                  <a:cubicBezTo>
                    <a:pt x="448768" y="0"/>
                    <a:pt x="535682" y="86914"/>
                    <a:pt x="535682" y="194127"/>
                  </a:cubicBezTo>
                  <a:lnTo>
                    <a:pt x="535682" y="2918839"/>
                  </a:lnTo>
                  <a:cubicBezTo>
                    <a:pt x="535682" y="3026052"/>
                    <a:pt x="448768" y="3112966"/>
                    <a:pt x="341555" y="3112966"/>
                  </a:cubicBezTo>
                  <a:lnTo>
                    <a:pt x="194127" y="3112966"/>
                  </a:lnTo>
                  <a:cubicBezTo>
                    <a:pt x="86914" y="3112966"/>
                    <a:pt x="0" y="3026052"/>
                    <a:pt x="0" y="2918839"/>
                  </a:cubicBezTo>
                  <a:lnTo>
                    <a:pt x="0" y="194127"/>
                  </a:lnTo>
                  <a:cubicBezTo>
                    <a:pt x="0" y="86914"/>
                    <a:pt x="86914" y="0"/>
                    <a:pt x="194127" y="0"/>
                  </a:cubicBezTo>
                  <a:close/>
                </a:path>
              </a:pathLst>
            </a:custGeom>
            <a:solidFill>
              <a:srgbClr val="191E3A"/>
            </a:solidFill>
          </p:spPr>
        </p:sp>
        <p:sp>
          <p:nvSpPr>
            <p:cNvPr name="TextBox 4" id="4"/>
            <p:cNvSpPr txBox="true"/>
            <p:nvPr/>
          </p:nvSpPr>
          <p:spPr>
            <a:xfrm>
              <a:off x="0" y="-38100"/>
              <a:ext cx="535682" cy="3151066"/>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9525" y="-766271"/>
            <a:ext cx="2425719" cy="11819542"/>
            <a:chOff x="0" y="0"/>
            <a:chExt cx="638872" cy="3112966"/>
          </a:xfrm>
        </p:grpSpPr>
        <p:sp>
          <p:nvSpPr>
            <p:cNvPr name="Freeform 6" id="6"/>
            <p:cNvSpPr/>
            <p:nvPr/>
          </p:nvSpPr>
          <p:spPr>
            <a:xfrm flipH="false" flipV="false" rot="0">
              <a:off x="0" y="0"/>
              <a:ext cx="638872" cy="3112966"/>
            </a:xfrm>
            <a:custGeom>
              <a:avLst/>
              <a:gdLst/>
              <a:ahLst/>
              <a:cxnLst/>
              <a:rect r="r" b="b" t="t" l="l"/>
              <a:pathLst>
                <a:path h="3112966" w="638872">
                  <a:moveTo>
                    <a:pt x="162772" y="0"/>
                  </a:moveTo>
                  <a:lnTo>
                    <a:pt x="476101" y="0"/>
                  </a:lnTo>
                  <a:cubicBezTo>
                    <a:pt x="519271" y="0"/>
                    <a:pt x="560672" y="17149"/>
                    <a:pt x="591198" y="47675"/>
                  </a:cubicBezTo>
                  <a:cubicBezTo>
                    <a:pt x="621723" y="78200"/>
                    <a:pt x="638872" y="119602"/>
                    <a:pt x="638872" y="162772"/>
                  </a:cubicBezTo>
                  <a:lnTo>
                    <a:pt x="638872" y="2950194"/>
                  </a:lnTo>
                  <a:cubicBezTo>
                    <a:pt x="638872" y="2993364"/>
                    <a:pt x="621723" y="3034765"/>
                    <a:pt x="591198" y="3065291"/>
                  </a:cubicBezTo>
                  <a:cubicBezTo>
                    <a:pt x="560672" y="3095816"/>
                    <a:pt x="519271" y="3112966"/>
                    <a:pt x="476101" y="3112966"/>
                  </a:cubicBezTo>
                  <a:lnTo>
                    <a:pt x="162772" y="3112966"/>
                  </a:lnTo>
                  <a:cubicBezTo>
                    <a:pt x="119602" y="3112966"/>
                    <a:pt x="78200" y="3095816"/>
                    <a:pt x="47675" y="3065291"/>
                  </a:cubicBezTo>
                  <a:cubicBezTo>
                    <a:pt x="17149" y="3034765"/>
                    <a:pt x="0" y="2993364"/>
                    <a:pt x="0" y="2950194"/>
                  </a:cubicBezTo>
                  <a:lnTo>
                    <a:pt x="0" y="162772"/>
                  </a:lnTo>
                  <a:cubicBezTo>
                    <a:pt x="0" y="119602"/>
                    <a:pt x="17149" y="78200"/>
                    <a:pt x="47675" y="47675"/>
                  </a:cubicBezTo>
                  <a:cubicBezTo>
                    <a:pt x="78200" y="17149"/>
                    <a:pt x="119602" y="0"/>
                    <a:pt x="162772" y="0"/>
                  </a:cubicBezTo>
                  <a:close/>
                </a:path>
              </a:pathLst>
            </a:custGeom>
            <a:solidFill>
              <a:srgbClr val="191E3A"/>
            </a:solidFill>
          </p:spPr>
        </p:sp>
        <p:sp>
          <p:nvSpPr>
            <p:cNvPr name="TextBox 7" id="7"/>
            <p:cNvSpPr txBox="true"/>
            <p:nvPr/>
          </p:nvSpPr>
          <p:spPr>
            <a:xfrm>
              <a:off x="0" y="-38100"/>
              <a:ext cx="638872" cy="3151066"/>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false" flipV="false" rot="0">
            <a:off x="268209" y="348842"/>
            <a:ext cx="1889301" cy="1889301"/>
          </a:xfrm>
          <a:custGeom>
            <a:avLst/>
            <a:gdLst/>
            <a:ahLst/>
            <a:cxnLst/>
            <a:rect r="r" b="b" t="t" l="l"/>
            <a:pathLst>
              <a:path h="1889301" w="1889301">
                <a:moveTo>
                  <a:pt x="0" y="0"/>
                </a:moveTo>
                <a:lnTo>
                  <a:pt x="1889301" y="0"/>
                </a:lnTo>
                <a:lnTo>
                  <a:pt x="1889301" y="1889301"/>
                </a:lnTo>
                <a:lnTo>
                  <a:pt x="0" y="1889301"/>
                </a:lnTo>
                <a:lnTo>
                  <a:pt x="0" y="0"/>
                </a:lnTo>
                <a:close/>
              </a:path>
            </a:pathLst>
          </a:custGeom>
          <a:blipFill>
            <a:blip r:embed="rId2"/>
            <a:stretch>
              <a:fillRect l="0" t="0" r="0" b="0"/>
            </a:stretch>
          </a:blipFill>
        </p:spPr>
      </p:sp>
      <p:sp>
        <p:nvSpPr>
          <p:cNvPr name="Freeform 9" id="9"/>
          <p:cNvSpPr/>
          <p:nvPr/>
        </p:nvSpPr>
        <p:spPr>
          <a:xfrm flipH="false" flipV="false" rot="0">
            <a:off x="3547836" y="3665175"/>
            <a:ext cx="11585094" cy="2293693"/>
          </a:xfrm>
          <a:custGeom>
            <a:avLst/>
            <a:gdLst/>
            <a:ahLst/>
            <a:cxnLst/>
            <a:rect r="r" b="b" t="t" l="l"/>
            <a:pathLst>
              <a:path h="2293693" w="11585094">
                <a:moveTo>
                  <a:pt x="0" y="0"/>
                </a:moveTo>
                <a:lnTo>
                  <a:pt x="11585095" y="0"/>
                </a:lnTo>
                <a:lnTo>
                  <a:pt x="11585095" y="2293693"/>
                </a:lnTo>
                <a:lnTo>
                  <a:pt x="0" y="2293693"/>
                </a:lnTo>
                <a:lnTo>
                  <a:pt x="0" y="0"/>
                </a:lnTo>
                <a:close/>
              </a:path>
            </a:pathLst>
          </a:custGeom>
          <a:blipFill>
            <a:blip r:embed="rId3"/>
            <a:stretch>
              <a:fillRect l="0" t="0" r="0" b="0"/>
            </a:stretch>
          </a:blipFill>
        </p:spPr>
      </p:sp>
      <p:sp>
        <p:nvSpPr>
          <p:cNvPr name="TextBox 10" id="10"/>
          <p:cNvSpPr txBox="true"/>
          <p:nvPr/>
        </p:nvSpPr>
        <p:spPr>
          <a:xfrm rot="0">
            <a:off x="2877161" y="914400"/>
            <a:ext cx="12926445" cy="1035723"/>
          </a:xfrm>
          <a:prstGeom prst="rect">
            <a:avLst/>
          </a:prstGeom>
        </p:spPr>
        <p:txBody>
          <a:bodyPr anchor="t" rtlCol="false" tIns="0" lIns="0" bIns="0" rIns="0">
            <a:spAutoFit/>
          </a:bodyPr>
          <a:lstStyle/>
          <a:p>
            <a:pPr algn="l">
              <a:lnSpc>
                <a:spcPts val="8539"/>
              </a:lnSpc>
            </a:pPr>
            <a:r>
              <a:rPr lang="en-US" sz="6099">
                <a:solidFill>
                  <a:srgbClr val="191E3A"/>
                </a:solidFill>
                <a:latin typeface="Libre Baskerville"/>
                <a:ea typeface="Libre Baskerville"/>
                <a:cs typeface="Libre Baskerville"/>
                <a:sym typeface="Libre Baskerville"/>
              </a:rPr>
              <a:t>Kullback-Leibler divergence </a:t>
            </a:r>
          </a:p>
        </p:txBody>
      </p:sp>
      <p:sp>
        <p:nvSpPr>
          <p:cNvPr name="TextBox 11" id="11"/>
          <p:cNvSpPr txBox="true"/>
          <p:nvPr/>
        </p:nvSpPr>
        <p:spPr>
          <a:xfrm rot="0">
            <a:off x="2877161" y="6826718"/>
            <a:ext cx="14722574" cy="2159635"/>
          </a:xfrm>
          <a:prstGeom prst="rect">
            <a:avLst/>
          </a:prstGeom>
        </p:spPr>
        <p:txBody>
          <a:bodyPr anchor="t" rtlCol="false" tIns="0" lIns="0" bIns="0" rIns="0">
            <a:spAutoFit/>
          </a:bodyPr>
          <a:lstStyle/>
          <a:p>
            <a:pPr algn="just">
              <a:lnSpc>
                <a:spcPts val="4340"/>
              </a:lnSpc>
            </a:pPr>
            <a:r>
              <a:rPr lang="en-US" sz="3100">
                <a:solidFill>
                  <a:srgbClr val="000000"/>
                </a:solidFill>
                <a:latin typeface="DM Sans"/>
                <a:ea typeface="DM Sans"/>
                <a:cs typeface="DM Sans"/>
                <a:sym typeface="DM Sans"/>
              </a:rPr>
              <a:t>KL expressibility measures how closely the distribution of random pairwise state overlaps produced by an ansatz matches the overlap distribution expected from uniformly random pure states, with lower values indicating broader, more Haar-like exploration of the state space at the tested depth.</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766271"/>
            <a:ext cx="2033918" cy="11819542"/>
            <a:chOff x="0" y="0"/>
            <a:chExt cx="535682" cy="3112966"/>
          </a:xfrm>
        </p:grpSpPr>
        <p:sp>
          <p:nvSpPr>
            <p:cNvPr name="Freeform 3" id="3"/>
            <p:cNvSpPr/>
            <p:nvPr/>
          </p:nvSpPr>
          <p:spPr>
            <a:xfrm flipH="false" flipV="false" rot="0">
              <a:off x="0" y="0"/>
              <a:ext cx="535682" cy="3112966"/>
            </a:xfrm>
            <a:custGeom>
              <a:avLst/>
              <a:gdLst/>
              <a:ahLst/>
              <a:cxnLst/>
              <a:rect r="r" b="b" t="t" l="l"/>
              <a:pathLst>
                <a:path h="3112966" w="535682">
                  <a:moveTo>
                    <a:pt x="194127" y="0"/>
                  </a:moveTo>
                  <a:lnTo>
                    <a:pt x="341555" y="0"/>
                  </a:lnTo>
                  <a:cubicBezTo>
                    <a:pt x="448768" y="0"/>
                    <a:pt x="535682" y="86914"/>
                    <a:pt x="535682" y="194127"/>
                  </a:cubicBezTo>
                  <a:lnTo>
                    <a:pt x="535682" y="2918839"/>
                  </a:lnTo>
                  <a:cubicBezTo>
                    <a:pt x="535682" y="3026052"/>
                    <a:pt x="448768" y="3112966"/>
                    <a:pt x="341555" y="3112966"/>
                  </a:cubicBezTo>
                  <a:lnTo>
                    <a:pt x="194127" y="3112966"/>
                  </a:lnTo>
                  <a:cubicBezTo>
                    <a:pt x="86914" y="3112966"/>
                    <a:pt x="0" y="3026052"/>
                    <a:pt x="0" y="2918839"/>
                  </a:cubicBezTo>
                  <a:lnTo>
                    <a:pt x="0" y="194127"/>
                  </a:lnTo>
                  <a:cubicBezTo>
                    <a:pt x="0" y="86914"/>
                    <a:pt x="86914" y="0"/>
                    <a:pt x="194127" y="0"/>
                  </a:cubicBezTo>
                  <a:close/>
                </a:path>
              </a:pathLst>
            </a:custGeom>
            <a:solidFill>
              <a:srgbClr val="191E3A"/>
            </a:solidFill>
          </p:spPr>
        </p:sp>
        <p:sp>
          <p:nvSpPr>
            <p:cNvPr name="TextBox 4" id="4"/>
            <p:cNvSpPr txBox="true"/>
            <p:nvPr/>
          </p:nvSpPr>
          <p:spPr>
            <a:xfrm>
              <a:off x="0" y="-38100"/>
              <a:ext cx="535682" cy="3151066"/>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9525" y="-766271"/>
            <a:ext cx="2425719" cy="11819542"/>
            <a:chOff x="0" y="0"/>
            <a:chExt cx="638872" cy="3112966"/>
          </a:xfrm>
        </p:grpSpPr>
        <p:sp>
          <p:nvSpPr>
            <p:cNvPr name="Freeform 6" id="6"/>
            <p:cNvSpPr/>
            <p:nvPr/>
          </p:nvSpPr>
          <p:spPr>
            <a:xfrm flipH="false" flipV="false" rot="0">
              <a:off x="0" y="0"/>
              <a:ext cx="638872" cy="3112966"/>
            </a:xfrm>
            <a:custGeom>
              <a:avLst/>
              <a:gdLst/>
              <a:ahLst/>
              <a:cxnLst/>
              <a:rect r="r" b="b" t="t" l="l"/>
              <a:pathLst>
                <a:path h="3112966" w="638872">
                  <a:moveTo>
                    <a:pt x="162772" y="0"/>
                  </a:moveTo>
                  <a:lnTo>
                    <a:pt x="476101" y="0"/>
                  </a:lnTo>
                  <a:cubicBezTo>
                    <a:pt x="519271" y="0"/>
                    <a:pt x="560672" y="17149"/>
                    <a:pt x="591198" y="47675"/>
                  </a:cubicBezTo>
                  <a:cubicBezTo>
                    <a:pt x="621723" y="78200"/>
                    <a:pt x="638872" y="119602"/>
                    <a:pt x="638872" y="162772"/>
                  </a:cubicBezTo>
                  <a:lnTo>
                    <a:pt x="638872" y="2950194"/>
                  </a:lnTo>
                  <a:cubicBezTo>
                    <a:pt x="638872" y="2993364"/>
                    <a:pt x="621723" y="3034765"/>
                    <a:pt x="591198" y="3065291"/>
                  </a:cubicBezTo>
                  <a:cubicBezTo>
                    <a:pt x="560672" y="3095816"/>
                    <a:pt x="519271" y="3112966"/>
                    <a:pt x="476101" y="3112966"/>
                  </a:cubicBezTo>
                  <a:lnTo>
                    <a:pt x="162772" y="3112966"/>
                  </a:lnTo>
                  <a:cubicBezTo>
                    <a:pt x="119602" y="3112966"/>
                    <a:pt x="78200" y="3095816"/>
                    <a:pt x="47675" y="3065291"/>
                  </a:cubicBezTo>
                  <a:cubicBezTo>
                    <a:pt x="17149" y="3034765"/>
                    <a:pt x="0" y="2993364"/>
                    <a:pt x="0" y="2950194"/>
                  </a:cubicBezTo>
                  <a:lnTo>
                    <a:pt x="0" y="162772"/>
                  </a:lnTo>
                  <a:cubicBezTo>
                    <a:pt x="0" y="119602"/>
                    <a:pt x="17149" y="78200"/>
                    <a:pt x="47675" y="47675"/>
                  </a:cubicBezTo>
                  <a:cubicBezTo>
                    <a:pt x="78200" y="17149"/>
                    <a:pt x="119602" y="0"/>
                    <a:pt x="162772" y="0"/>
                  </a:cubicBezTo>
                  <a:close/>
                </a:path>
              </a:pathLst>
            </a:custGeom>
            <a:solidFill>
              <a:srgbClr val="191E3A"/>
            </a:solidFill>
          </p:spPr>
        </p:sp>
        <p:sp>
          <p:nvSpPr>
            <p:cNvPr name="TextBox 7" id="7"/>
            <p:cNvSpPr txBox="true"/>
            <p:nvPr/>
          </p:nvSpPr>
          <p:spPr>
            <a:xfrm>
              <a:off x="0" y="-38100"/>
              <a:ext cx="638872" cy="3151066"/>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false" flipV="false" rot="0">
            <a:off x="268209" y="348842"/>
            <a:ext cx="1889301" cy="1889301"/>
          </a:xfrm>
          <a:custGeom>
            <a:avLst/>
            <a:gdLst/>
            <a:ahLst/>
            <a:cxnLst/>
            <a:rect r="r" b="b" t="t" l="l"/>
            <a:pathLst>
              <a:path h="1889301" w="1889301">
                <a:moveTo>
                  <a:pt x="0" y="0"/>
                </a:moveTo>
                <a:lnTo>
                  <a:pt x="1889301" y="0"/>
                </a:lnTo>
                <a:lnTo>
                  <a:pt x="1889301" y="1889301"/>
                </a:lnTo>
                <a:lnTo>
                  <a:pt x="0" y="1889301"/>
                </a:lnTo>
                <a:lnTo>
                  <a:pt x="0" y="0"/>
                </a:lnTo>
                <a:close/>
              </a:path>
            </a:pathLst>
          </a:custGeom>
          <a:blipFill>
            <a:blip r:embed="rId2"/>
            <a:stretch>
              <a:fillRect l="0" t="0" r="0" b="0"/>
            </a:stretch>
          </a:blipFill>
        </p:spPr>
      </p:sp>
      <p:sp>
        <p:nvSpPr>
          <p:cNvPr name="Freeform 9" id="9"/>
          <p:cNvSpPr/>
          <p:nvPr/>
        </p:nvSpPr>
        <p:spPr>
          <a:xfrm flipH="false" flipV="false" rot="0">
            <a:off x="3968747" y="1526758"/>
            <a:ext cx="10350505" cy="1422770"/>
          </a:xfrm>
          <a:custGeom>
            <a:avLst/>
            <a:gdLst/>
            <a:ahLst/>
            <a:cxnLst/>
            <a:rect r="r" b="b" t="t" l="l"/>
            <a:pathLst>
              <a:path h="1422770" w="10350505">
                <a:moveTo>
                  <a:pt x="0" y="0"/>
                </a:moveTo>
                <a:lnTo>
                  <a:pt x="10350506" y="0"/>
                </a:lnTo>
                <a:lnTo>
                  <a:pt x="10350506" y="1422770"/>
                </a:lnTo>
                <a:lnTo>
                  <a:pt x="0" y="1422770"/>
                </a:lnTo>
                <a:lnTo>
                  <a:pt x="0" y="0"/>
                </a:lnTo>
                <a:close/>
              </a:path>
            </a:pathLst>
          </a:custGeom>
          <a:blipFill>
            <a:blip r:embed="rId3"/>
            <a:stretch>
              <a:fillRect l="0" t="0" r="-5211" b="-18747"/>
            </a:stretch>
          </a:blipFill>
        </p:spPr>
      </p:sp>
      <p:sp>
        <p:nvSpPr>
          <p:cNvPr name="Freeform 10" id="10"/>
          <p:cNvSpPr/>
          <p:nvPr/>
        </p:nvSpPr>
        <p:spPr>
          <a:xfrm flipH="false" flipV="false" rot="0">
            <a:off x="10273834" y="3425620"/>
            <a:ext cx="5970671" cy="5970671"/>
          </a:xfrm>
          <a:custGeom>
            <a:avLst/>
            <a:gdLst/>
            <a:ahLst/>
            <a:cxnLst/>
            <a:rect r="r" b="b" t="t" l="l"/>
            <a:pathLst>
              <a:path h="5970671" w="5970671">
                <a:moveTo>
                  <a:pt x="0" y="0"/>
                </a:moveTo>
                <a:lnTo>
                  <a:pt x="5970670" y="0"/>
                </a:lnTo>
                <a:lnTo>
                  <a:pt x="5970670" y="5970670"/>
                </a:lnTo>
                <a:lnTo>
                  <a:pt x="0" y="5970670"/>
                </a:lnTo>
                <a:lnTo>
                  <a:pt x="0" y="0"/>
                </a:lnTo>
                <a:close/>
              </a:path>
            </a:pathLst>
          </a:custGeom>
          <a:blipFill>
            <a:blip r:embed="rId4"/>
            <a:stretch>
              <a:fillRect l="0" t="0" r="0" b="0"/>
            </a:stretch>
          </a:blipFill>
        </p:spPr>
      </p:sp>
      <p:sp>
        <p:nvSpPr>
          <p:cNvPr name="Freeform 11" id="11"/>
          <p:cNvSpPr/>
          <p:nvPr/>
        </p:nvSpPr>
        <p:spPr>
          <a:xfrm flipH="false" flipV="false" rot="0">
            <a:off x="3369713" y="3425620"/>
            <a:ext cx="5970671" cy="5970671"/>
          </a:xfrm>
          <a:custGeom>
            <a:avLst/>
            <a:gdLst/>
            <a:ahLst/>
            <a:cxnLst/>
            <a:rect r="r" b="b" t="t" l="l"/>
            <a:pathLst>
              <a:path h="5970671" w="5970671">
                <a:moveTo>
                  <a:pt x="0" y="0"/>
                </a:moveTo>
                <a:lnTo>
                  <a:pt x="5970671" y="0"/>
                </a:lnTo>
                <a:lnTo>
                  <a:pt x="5970671" y="5970670"/>
                </a:lnTo>
                <a:lnTo>
                  <a:pt x="0" y="5970670"/>
                </a:lnTo>
                <a:lnTo>
                  <a:pt x="0" y="0"/>
                </a:lnTo>
                <a:close/>
              </a:path>
            </a:pathLst>
          </a:custGeom>
          <a:blipFill>
            <a:blip r:embed="rId5"/>
            <a:stretch>
              <a:fillRect l="0" t="0" r="0" b="0"/>
            </a:stretch>
          </a:blipFill>
        </p:spPr>
      </p:sp>
      <p:sp>
        <p:nvSpPr>
          <p:cNvPr name="TextBox 12" id="12"/>
          <p:cNvSpPr txBox="true"/>
          <p:nvPr/>
        </p:nvSpPr>
        <p:spPr>
          <a:xfrm rot="0">
            <a:off x="2877161" y="914400"/>
            <a:ext cx="12926445" cy="1035723"/>
          </a:xfrm>
          <a:prstGeom prst="rect">
            <a:avLst/>
          </a:prstGeom>
        </p:spPr>
        <p:txBody>
          <a:bodyPr anchor="t" rtlCol="false" tIns="0" lIns="0" bIns="0" rIns="0">
            <a:spAutoFit/>
          </a:bodyPr>
          <a:lstStyle/>
          <a:p>
            <a:pPr algn="l">
              <a:lnSpc>
                <a:spcPts val="8539"/>
              </a:lnSpc>
            </a:pPr>
            <a:r>
              <a:rPr lang="en-US" sz="6099">
                <a:solidFill>
                  <a:srgbClr val="191E3A"/>
                </a:solidFill>
                <a:latin typeface="Libre Baskerville"/>
                <a:ea typeface="Libre Baskerville"/>
                <a:cs typeface="Libre Baskerville"/>
                <a:sym typeface="Libre Baskerville"/>
              </a:rPr>
              <a:t>Haar </a:t>
            </a:r>
          </a:p>
        </p:txBody>
      </p:sp>
      <p:sp>
        <p:nvSpPr>
          <p:cNvPr name="TextBox 13" id="13"/>
          <p:cNvSpPr txBox="true"/>
          <p:nvPr/>
        </p:nvSpPr>
        <p:spPr>
          <a:xfrm rot="0">
            <a:off x="5105443" y="3380531"/>
            <a:ext cx="2710311" cy="867401"/>
          </a:xfrm>
          <a:prstGeom prst="rect">
            <a:avLst/>
          </a:prstGeom>
        </p:spPr>
        <p:txBody>
          <a:bodyPr anchor="t" rtlCol="false" tIns="0" lIns="0" bIns="0" rIns="0">
            <a:spAutoFit/>
          </a:bodyPr>
          <a:lstStyle/>
          <a:p>
            <a:pPr algn="ctr">
              <a:lnSpc>
                <a:spcPts val="7114"/>
              </a:lnSpc>
              <a:spcBef>
                <a:spcPct val="0"/>
              </a:spcBef>
            </a:pPr>
            <a:r>
              <a:rPr lang="en-US" sz="5081">
                <a:solidFill>
                  <a:srgbClr val="191E3A"/>
                </a:solidFill>
                <a:latin typeface="Open Sans"/>
                <a:ea typeface="Open Sans"/>
                <a:cs typeface="Open Sans"/>
                <a:sym typeface="Open Sans"/>
              </a:rPr>
              <a:t>Random:</a:t>
            </a:r>
          </a:p>
        </p:txBody>
      </p:sp>
      <p:sp>
        <p:nvSpPr>
          <p:cNvPr name="TextBox 14" id="14"/>
          <p:cNvSpPr txBox="true"/>
          <p:nvPr/>
        </p:nvSpPr>
        <p:spPr>
          <a:xfrm rot="0">
            <a:off x="12442795" y="3193563"/>
            <a:ext cx="1632749" cy="869271"/>
          </a:xfrm>
          <a:prstGeom prst="rect">
            <a:avLst/>
          </a:prstGeom>
        </p:spPr>
        <p:txBody>
          <a:bodyPr anchor="t" rtlCol="false" tIns="0" lIns="0" bIns="0" rIns="0">
            <a:spAutoFit/>
          </a:bodyPr>
          <a:lstStyle/>
          <a:p>
            <a:pPr algn="ctr">
              <a:lnSpc>
                <a:spcPts val="7131"/>
              </a:lnSpc>
              <a:spcBef>
                <a:spcPct val="0"/>
              </a:spcBef>
            </a:pPr>
            <a:r>
              <a:rPr lang="en-US" sz="5093">
                <a:solidFill>
                  <a:srgbClr val="191E3A"/>
                </a:solidFill>
                <a:latin typeface="Open Sans"/>
                <a:ea typeface="Open Sans"/>
                <a:cs typeface="Open Sans"/>
                <a:sym typeface="Open Sans"/>
              </a:rPr>
              <a:t>Haar:</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766271"/>
            <a:ext cx="2033918" cy="11819542"/>
            <a:chOff x="0" y="0"/>
            <a:chExt cx="535682" cy="3112966"/>
          </a:xfrm>
        </p:grpSpPr>
        <p:sp>
          <p:nvSpPr>
            <p:cNvPr name="Freeform 3" id="3"/>
            <p:cNvSpPr/>
            <p:nvPr/>
          </p:nvSpPr>
          <p:spPr>
            <a:xfrm flipH="false" flipV="false" rot="0">
              <a:off x="0" y="0"/>
              <a:ext cx="535682" cy="3112966"/>
            </a:xfrm>
            <a:custGeom>
              <a:avLst/>
              <a:gdLst/>
              <a:ahLst/>
              <a:cxnLst/>
              <a:rect r="r" b="b" t="t" l="l"/>
              <a:pathLst>
                <a:path h="3112966" w="535682">
                  <a:moveTo>
                    <a:pt x="194127" y="0"/>
                  </a:moveTo>
                  <a:lnTo>
                    <a:pt x="341555" y="0"/>
                  </a:lnTo>
                  <a:cubicBezTo>
                    <a:pt x="448768" y="0"/>
                    <a:pt x="535682" y="86914"/>
                    <a:pt x="535682" y="194127"/>
                  </a:cubicBezTo>
                  <a:lnTo>
                    <a:pt x="535682" y="2918839"/>
                  </a:lnTo>
                  <a:cubicBezTo>
                    <a:pt x="535682" y="3026052"/>
                    <a:pt x="448768" y="3112966"/>
                    <a:pt x="341555" y="3112966"/>
                  </a:cubicBezTo>
                  <a:lnTo>
                    <a:pt x="194127" y="3112966"/>
                  </a:lnTo>
                  <a:cubicBezTo>
                    <a:pt x="86914" y="3112966"/>
                    <a:pt x="0" y="3026052"/>
                    <a:pt x="0" y="2918839"/>
                  </a:cubicBezTo>
                  <a:lnTo>
                    <a:pt x="0" y="194127"/>
                  </a:lnTo>
                  <a:cubicBezTo>
                    <a:pt x="0" y="86914"/>
                    <a:pt x="86914" y="0"/>
                    <a:pt x="194127" y="0"/>
                  </a:cubicBezTo>
                  <a:close/>
                </a:path>
              </a:pathLst>
            </a:custGeom>
            <a:solidFill>
              <a:srgbClr val="191E3A"/>
            </a:solidFill>
          </p:spPr>
        </p:sp>
        <p:sp>
          <p:nvSpPr>
            <p:cNvPr name="TextBox 4" id="4"/>
            <p:cNvSpPr txBox="true"/>
            <p:nvPr/>
          </p:nvSpPr>
          <p:spPr>
            <a:xfrm>
              <a:off x="0" y="-38100"/>
              <a:ext cx="535682" cy="3151066"/>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9525" y="-766271"/>
            <a:ext cx="2425719" cy="11819542"/>
            <a:chOff x="0" y="0"/>
            <a:chExt cx="638872" cy="3112966"/>
          </a:xfrm>
        </p:grpSpPr>
        <p:sp>
          <p:nvSpPr>
            <p:cNvPr name="Freeform 6" id="6"/>
            <p:cNvSpPr/>
            <p:nvPr/>
          </p:nvSpPr>
          <p:spPr>
            <a:xfrm flipH="false" flipV="false" rot="0">
              <a:off x="0" y="0"/>
              <a:ext cx="638872" cy="3112966"/>
            </a:xfrm>
            <a:custGeom>
              <a:avLst/>
              <a:gdLst/>
              <a:ahLst/>
              <a:cxnLst/>
              <a:rect r="r" b="b" t="t" l="l"/>
              <a:pathLst>
                <a:path h="3112966" w="638872">
                  <a:moveTo>
                    <a:pt x="162772" y="0"/>
                  </a:moveTo>
                  <a:lnTo>
                    <a:pt x="476101" y="0"/>
                  </a:lnTo>
                  <a:cubicBezTo>
                    <a:pt x="519271" y="0"/>
                    <a:pt x="560672" y="17149"/>
                    <a:pt x="591198" y="47675"/>
                  </a:cubicBezTo>
                  <a:cubicBezTo>
                    <a:pt x="621723" y="78200"/>
                    <a:pt x="638872" y="119602"/>
                    <a:pt x="638872" y="162772"/>
                  </a:cubicBezTo>
                  <a:lnTo>
                    <a:pt x="638872" y="2950194"/>
                  </a:lnTo>
                  <a:cubicBezTo>
                    <a:pt x="638872" y="2993364"/>
                    <a:pt x="621723" y="3034765"/>
                    <a:pt x="591198" y="3065291"/>
                  </a:cubicBezTo>
                  <a:cubicBezTo>
                    <a:pt x="560672" y="3095816"/>
                    <a:pt x="519271" y="3112966"/>
                    <a:pt x="476101" y="3112966"/>
                  </a:cubicBezTo>
                  <a:lnTo>
                    <a:pt x="162772" y="3112966"/>
                  </a:lnTo>
                  <a:cubicBezTo>
                    <a:pt x="119602" y="3112966"/>
                    <a:pt x="78200" y="3095816"/>
                    <a:pt x="47675" y="3065291"/>
                  </a:cubicBezTo>
                  <a:cubicBezTo>
                    <a:pt x="17149" y="3034765"/>
                    <a:pt x="0" y="2993364"/>
                    <a:pt x="0" y="2950194"/>
                  </a:cubicBezTo>
                  <a:lnTo>
                    <a:pt x="0" y="162772"/>
                  </a:lnTo>
                  <a:cubicBezTo>
                    <a:pt x="0" y="119602"/>
                    <a:pt x="17149" y="78200"/>
                    <a:pt x="47675" y="47675"/>
                  </a:cubicBezTo>
                  <a:cubicBezTo>
                    <a:pt x="78200" y="17149"/>
                    <a:pt x="119602" y="0"/>
                    <a:pt x="162772" y="0"/>
                  </a:cubicBezTo>
                  <a:close/>
                </a:path>
              </a:pathLst>
            </a:custGeom>
            <a:solidFill>
              <a:srgbClr val="191E3A"/>
            </a:solidFill>
          </p:spPr>
        </p:sp>
        <p:sp>
          <p:nvSpPr>
            <p:cNvPr name="TextBox 7" id="7"/>
            <p:cNvSpPr txBox="true"/>
            <p:nvPr/>
          </p:nvSpPr>
          <p:spPr>
            <a:xfrm>
              <a:off x="0" y="-38100"/>
              <a:ext cx="638872" cy="3151066"/>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false" flipV="false" rot="0">
            <a:off x="268209" y="348842"/>
            <a:ext cx="1889301" cy="1889301"/>
          </a:xfrm>
          <a:custGeom>
            <a:avLst/>
            <a:gdLst/>
            <a:ahLst/>
            <a:cxnLst/>
            <a:rect r="r" b="b" t="t" l="l"/>
            <a:pathLst>
              <a:path h="1889301" w="1889301">
                <a:moveTo>
                  <a:pt x="0" y="0"/>
                </a:moveTo>
                <a:lnTo>
                  <a:pt x="1889301" y="0"/>
                </a:lnTo>
                <a:lnTo>
                  <a:pt x="1889301" y="1889301"/>
                </a:lnTo>
                <a:lnTo>
                  <a:pt x="0" y="1889301"/>
                </a:lnTo>
                <a:lnTo>
                  <a:pt x="0" y="0"/>
                </a:lnTo>
                <a:close/>
              </a:path>
            </a:pathLst>
          </a:custGeom>
          <a:blipFill>
            <a:blip r:embed="rId2"/>
            <a:stretch>
              <a:fillRect l="0" t="0" r="0" b="0"/>
            </a:stretch>
          </a:blipFill>
        </p:spPr>
      </p:sp>
      <p:sp>
        <p:nvSpPr>
          <p:cNvPr name="Freeform 9" id="9"/>
          <p:cNvSpPr/>
          <p:nvPr/>
        </p:nvSpPr>
        <p:spPr>
          <a:xfrm flipH="false" flipV="false" rot="0">
            <a:off x="4188473" y="1795857"/>
            <a:ext cx="11023805" cy="7811874"/>
          </a:xfrm>
          <a:custGeom>
            <a:avLst/>
            <a:gdLst/>
            <a:ahLst/>
            <a:cxnLst/>
            <a:rect r="r" b="b" t="t" l="l"/>
            <a:pathLst>
              <a:path h="7811874" w="11023805">
                <a:moveTo>
                  <a:pt x="0" y="0"/>
                </a:moveTo>
                <a:lnTo>
                  <a:pt x="11023805" y="0"/>
                </a:lnTo>
                <a:lnTo>
                  <a:pt x="11023805" y="7811874"/>
                </a:lnTo>
                <a:lnTo>
                  <a:pt x="0" y="7811874"/>
                </a:lnTo>
                <a:lnTo>
                  <a:pt x="0" y="0"/>
                </a:lnTo>
                <a:close/>
              </a:path>
            </a:pathLst>
          </a:custGeom>
          <a:blipFill>
            <a:blip r:embed="rId3"/>
            <a:stretch>
              <a:fillRect l="0" t="0" r="0" b="0"/>
            </a:stretch>
          </a:blipFill>
        </p:spPr>
      </p:sp>
      <p:sp>
        <p:nvSpPr>
          <p:cNvPr name="TextBox 10" id="10"/>
          <p:cNvSpPr txBox="true"/>
          <p:nvPr/>
        </p:nvSpPr>
        <p:spPr>
          <a:xfrm rot="0">
            <a:off x="2862066" y="636047"/>
            <a:ext cx="10303108" cy="1035686"/>
          </a:xfrm>
          <a:prstGeom prst="rect">
            <a:avLst/>
          </a:prstGeom>
        </p:spPr>
        <p:txBody>
          <a:bodyPr anchor="t" rtlCol="false" tIns="0" lIns="0" bIns="0" rIns="0">
            <a:spAutoFit/>
          </a:bodyPr>
          <a:lstStyle/>
          <a:p>
            <a:pPr algn="l">
              <a:lnSpc>
                <a:spcPts val="8539"/>
              </a:lnSpc>
            </a:pPr>
            <a:r>
              <a:rPr lang="en-US" sz="6099">
                <a:solidFill>
                  <a:srgbClr val="191E3A"/>
                </a:solidFill>
                <a:latin typeface="Libre Baskerville"/>
                <a:ea typeface="Libre Baskerville"/>
                <a:cs typeface="Libre Baskerville"/>
                <a:sym typeface="Libre Baskerville"/>
              </a:rPr>
              <a:t>KL divergence results</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910933"/>
            <a:ext cx="2034330" cy="11964476"/>
          </a:xfrm>
          <a:custGeom>
            <a:avLst/>
            <a:gdLst/>
            <a:ahLst/>
            <a:cxnLst/>
            <a:rect r="r" b="b" t="t" l="l"/>
            <a:pathLst>
              <a:path h="11964476" w="2034330">
                <a:moveTo>
                  <a:pt x="0" y="0"/>
                </a:moveTo>
                <a:lnTo>
                  <a:pt x="2034330" y="0"/>
                </a:lnTo>
                <a:lnTo>
                  <a:pt x="2034330" y="11964476"/>
                </a:lnTo>
                <a:lnTo>
                  <a:pt x="0" y="1196447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9525" y="-910933"/>
            <a:ext cx="2426160" cy="11964476"/>
          </a:xfrm>
          <a:custGeom>
            <a:avLst/>
            <a:gdLst/>
            <a:ahLst/>
            <a:cxnLst/>
            <a:rect r="r" b="b" t="t" l="l"/>
            <a:pathLst>
              <a:path h="11964476" w="2426160">
                <a:moveTo>
                  <a:pt x="0" y="0"/>
                </a:moveTo>
                <a:lnTo>
                  <a:pt x="2426160" y="0"/>
                </a:lnTo>
                <a:lnTo>
                  <a:pt x="2426160" y="11964476"/>
                </a:lnTo>
                <a:lnTo>
                  <a:pt x="0" y="1196447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2926090" y="827522"/>
            <a:ext cx="14447749" cy="1097299"/>
          </a:xfrm>
          <a:prstGeom prst="rect">
            <a:avLst/>
          </a:prstGeom>
        </p:spPr>
        <p:txBody>
          <a:bodyPr anchor="t" rtlCol="false" tIns="0" lIns="0" bIns="0" rIns="0">
            <a:spAutoFit/>
          </a:bodyPr>
          <a:lstStyle/>
          <a:p>
            <a:pPr algn="l">
              <a:lnSpc>
                <a:spcPts val="6719"/>
              </a:lnSpc>
            </a:pPr>
            <a:r>
              <a:rPr lang="en-US" sz="5599">
                <a:solidFill>
                  <a:srgbClr val="191E3A"/>
                </a:solidFill>
                <a:latin typeface="Libre Baskerville"/>
                <a:ea typeface="Libre Baskerville"/>
                <a:cs typeface="Libre Baskerville"/>
                <a:sym typeface="Libre Baskerville"/>
              </a:rPr>
              <a:t>Meyer-Wallach score</a:t>
            </a:r>
          </a:p>
        </p:txBody>
      </p:sp>
      <p:sp>
        <p:nvSpPr>
          <p:cNvPr name="TextBox 5" id="5"/>
          <p:cNvSpPr txBox="true"/>
          <p:nvPr/>
        </p:nvSpPr>
        <p:spPr>
          <a:xfrm rot="0">
            <a:off x="2926090" y="2034530"/>
            <a:ext cx="14630152" cy="1097299"/>
          </a:xfrm>
          <a:prstGeom prst="rect">
            <a:avLst/>
          </a:prstGeom>
        </p:spPr>
        <p:txBody>
          <a:bodyPr anchor="t" rtlCol="false" tIns="0" lIns="0" bIns="0" rIns="0">
            <a:spAutoFit/>
          </a:bodyPr>
          <a:lstStyle/>
          <a:p>
            <a:pPr algn="l">
              <a:lnSpc>
                <a:spcPts val="3359"/>
              </a:lnSpc>
            </a:pPr>
            <a:r>
              <a:rPr lang="en-US" sz="2799">
                <a:solidFill>
                  <a:srgbClr val="000000"/>
                </a:solidFill>
                <a:latin typeface="DM Sans"/>
                <a:ea typeface="DM Sans"/>
                <a:cs typeface="DM Sans"/>
                <a:sym typeface="DM Sans"/>
              </a:rPr>
              <a:t>We use Meyer-Wallach as a hardware-feasible global entanglement metric: it only requires one-qubit reduced states, not full state tomography.</a:t>
            </a:r>
          </a:p>
        </p:txBody>
      </p:sp>
      <p:grpSp>
        <p:nvGrpSpPr>
          <p:cNvPr name="Group 6" id="6"/>
          <p:cNvGrpSpPr/>
          <p:nvPr/>
        </p:nvGrpSpPr>
        <p:grpSpPr>
          <a:xfrm rot="0">
            <a:off x="2867663" y="3130553"/>
            <a:ext cx="7020801" cy="1930403"/>
            <a:chOff x="0" y="0"/>
            <a:chExt cx="9361068" cy="2573871"/>
          </a:xfrm>
        </p:grpSpPr>
        <p:sp>
          <p:nvSpPr>
            <p:cNvPr name="Freeform 7" id="7"/>
            <p:cNvSpPr/>
            <p:nvPr/>
          </p:nvSpPr>
          <p:spPr>
            <a:xfrm flipH="false" flipV="false" rot="0">
              <a:off x="0" y="0"/>
              <a:ext cx="9361043" cy="2573909"/>
            </a:xfrm>
            <a:custGeom>
              <a:avLst/>
              <a:gdLst/>
              <a:ahLst/>
              <a:cxnLst/>
              <a:rect r="r" b="b" t="t" l="l"/>
              <a:pathLst>
                <a:path h="2573909" w="9361043">
                  <a:moveTo>
                    <a:pt x="0" y="298577"/>
                  </a:moveTo>
                  <a:cubicBezTo>
                    <a:pt x="0" y="133731"/>
                    <a:pt x="133731" y="0"/>
                    <a:pt x="298577" y="0"/>
                  </a:cubicBezTo>
                  <a:lnTo>
                    <a:pt x="9062466" y="0"/>
                  </a:lnTo>
                  <a:cubicBezTo>
                    <a:pt x="9227312" y="0"/>
                    <a:pt x="9361043" y="133731"/>
                    <a:pt x="9361043" y="298577"/>
                  </a:cubicBezTo>
                  <a:lnTo>
                    <a:pt x="9361043" y="2275332"/>
                  </a:lnTo>
                  <a:cubicBezTo>
                    <a:pt x="9361043" y="2440178"/>
                    <a:pt x="9227312" y="2573909"/>
                    <a:pt x="9062466" y="2573909"/>
                  </a:cubicBezTo>
                  <a:lnTo>
                    <a:pt x="298577" y="2573909"/>
                  </a:lnTo>
                  <a:cubicBezTo>
                    <a:pt x="133731" y="2573909"/>
                    <a:pt x="0" y="2440178"/>
                    <a:pt x="0" y="2275332"/>
                  </a:cubicBezTo>
                  <a:close/>
                </a:path>
              </a:pathLst>
            </a:custGeom>
            <a:solidFill>
              <a:srgbClr val="FFFFFF"/>
            </a:solidFill>
            <a:ln w="25400" cap="sq">
              <a:solidFill>
                <a:srgbClr val="D9DEE8"/>
              </a:solidFill>
              <a:prstDash val="solid"/>
              <a:miter/>
            </a:ln>
          </p:spPr>
        </p:sp>
      </p:grpSp>
      <p:sp>
        <p:nvSpPr>
          <p:cNvPr name="TextBox 8" id="8"/>
          <p:cNvSpPr txBox="true"/>
          <p:nvPr/>
        </p:nvSpPr>
        <p:spPr>
          <a:xfrm rot="0">
            <a:off x="3154661" y="3328025"/>
            <a:ext cx="6446796" cy="363874"/>
          </a:xfrm>
          <a:prstGeom prst="rect">
            <a:avLst/>
          </a:prstGeom>
        </p:spPr>
        <p:txBody>
          <a:bodyPr anchor="t" rtlCol="false" tIns="0" lIns="0" bIns="0" rIns="0">
            <a:spAutoFit/>
          </a:bodyPr>
          <a:lstStyle/>
          <a:p>
            <a:pPr algn="l">
              <a:lnSpc>
                <a:spcPts val="2220"/>
              </a:lnSpc>
            </a:pPr>
            <a:r>
              <a:rPr lang="en-US" b="true" sz="1850">
                <a:solidFill>
                  <a:srgbClr val="191E3A"/>
                </a:solidFill>
                <a:latin typeface="Arimo Bold"/>
                <a:ea typeface="Arimo Bold"/>
                <a:cs typeface="Arimo Bold"/>
                <a:sym typeface="Arimo Bold"/>
              </a:rPr>
              <a:t>REDUCED STATE OF QUBIT I</a:t>
            </a:r>
          </a:p>
        </p:txBody>
      </p:sp>
      <p:grpSp>
        <p:nvGrpSpPr>
          <p:cNvPr name="Group 9" id="9"/>
          <p:cNvGrpSpPr/>
          <p:nvPr/>
        </p:nvGrpSpPr>
        <p:grpSpPr>
          <a:xfrm rot="0">
            <a:off x="2867663" y="5226053"/>
            <a:ext cx="7020801" cy="1740198"/>
            <a:chOff x="0" y="0"/>
            <a:chExt cx="9361068" cy="2320265"/>
          </a:xfrm>
        </p:grpSpPr>
        <p:sp>
          <p:nvSpPr>
            <p:cNvPr name="Freeform 10" id="10"/>
            <p:cNvSpPr/>
            <p:nvPr/>
          </p:nvSpPr>
          <p:spPr>
            <a:xfrm flipH="false" flipV="false" rot="0">
              <a:off x="0" y="0"/>
              <a:ext cx="9361170" cy="2320290"/>
            </a:xfrm>
            <a:custGeom>
              <a:avLst/>
              <a:gdLst/>
              <a:ahLst/>
              <a:cxnLst/>
              <a:rect r="r" b="b" t="t" l="l"/>
              <a:pathLst>
                <a:path h="2320290" w="9361170">
                  <a:moveTo>
                    <a:pt x="0" y="272288"/>
                  </a:moveTo>
                  <a:cubicBezTo>
                    <a:pt x="0" y="121920"/>
                    <a:pt x="121920" y="0"/>
                    <a:pt x="272288" y="0"/>
                  </a:cubicBezTo>
                  <a:lnTo>
                    <a:pt x="9088882" y="0"/>
                  </a:lnTo>
                  <a:cubicBezTo>
                    <a:pt x="9239250" y="0"/>
                    <a:pt x="9361170" y="121920"/>
                    <a:pt x="9361170" y="272288"/>
                  </a:cubicBezTo>
                  <a:lnTo>
                    <a:pt x="9361170" y="2048002"/>
                  </a:lnTo>
                  <a:cubicBezTo>
                    <a:pt x="9361170" y="2198370"/>
                    <a:pt x="9239250" y="2320290"/>
                    <a:pt x="9088882" y="2320290"/>
                  </a:cubicBezTo>
                  <a:lnTo>
                    <a:pt x="272288" y="2320290"/>
                  </a:lnTo>
                  <a:cubicBezTo>
                    <a:pt x="121920" y="2320290"/>
                    <a:pt x="0" y="2198370"/>
                    <a:pt x="0" y="2048002"/>
                  </a:cubicBezTo>
                  <a:close/>
                </a:path>
              </a:pathLst>
            </a:custGeom>
            <a:solidFill>
              <a:srgbClr val="FFFFFF"/>
            </a:solidFill>
            <a:ln w="25400" cap="sq">
              <a:solidFill>
                <a:srgbClr val="D9DEE8"/>
              </a:solidFill>
              <a:prstDash val="solid"/>
              <a:miter/>
            </a:ln>
          </p:spPr>
        </p:sp>
      </p:grpSp>
      <p:sp>
        <p:nvSpPr>
          <p:cNvPr name="TextBox 11" id="11"/>
          <p:cNvSpPr txBox="true"/>
          <p:nvPr/>
        </p:nvSpPr>
        <p:spPr>
          <a:xfrm rot="0">
            <a:off x="3154661" y="5423525"/>
            <a:ext cx="6446796" cy="363874"/>
          </a:xfrm>
          <a:prstGeom prst="rect">
            <a:avLst/>
          </a:prstGeom>
        </p:spPr>
        <p:txBody>
          <a:bodyPr anchor="t" rtlCol="false" tIns="0" lIns="0" bIns="0" rIns="0">
            <a:spAutoFit/>
          </a:bodyPr>
          <a:lstStyle/>
          <a:p>
            <a:pPr algn="l">
              <a:lnSpc>
                <a:spcPts val="2220"/>
              </a:lnSpc>
            </a:pPr>
            <a:r>
              <a:rPr lang="en-US" b="true" sz="1850">
                <a:solidFill>
                  <a:srgbClr val="191E3A"/>
                </a:solidFill>
                <a:latin typeface="Arimo Bold"/>
                <a:ea typeface="Arimo Bold"/>
                <a:cs typeface="Arimo Bold"/>
                <a:sym typeface="Arimo Bold"/>
              </a:rPr>
              <a:t>MEYER-WALLACH SCORE</a:t>
            </a:r>
          </a:p>
        </p:txBody>
      </p:sp>
      <p:grpSp>
        <p:nvGrpSpPr>
          <p:cNvPr name="Group 12" id="12"/>
          <p:cNvGrpSpPr/>
          <p:nvPr/>
        </p:nvGrpSpPr>
        <p:grpSpPr>
          <a:xfrm rot="0">
            <a:off x="2867663" y="7131053"/>
            <a:ext cx="7020801" cy="1740198"/>
            <a:chOff x="0" y="0"/>
            <a:chExt cx="9361068" cy="2320265"/>
          </a:xfrm>
        </p:grpSpPr>
        <p:sp>
          <p:nvSpPr>
            <p:cNvPr name="Freeform 13" id="13"/>
            <p:cNvSpPr/>
            <p:nvPr/>
          </p:nvSpPr>
          <p:spPr>
            <a:xfrm flipH="false" flipV="false" rot="0">
              <a:off x="0" y="0"/>
              <a:ext cx="9361170" cy="2320290"/>
            </a:xfrm>
            <a:custGeom>
              <a:avLst/>
              <a:gdLst/>
              <a:ahLst/>
              <a:cxnLst/>
              <a:rect r="r" b="b" t="t" l="l"/>
              <a:pathLst>
                <a:path h="2320290" w="9361170">
                  <a:moveTo>
                    <a:pt x="0" y="272288"/>
                  </a:moveTo>
                  <a:cubicBezTo>
                    <a:pt x="0" y="121920"/>
                    <a:pt x="121920" y="0"/>
                    <a:pt x="272288" y="0"/>
                  </a:cubicBezTo>
                  <a:lnTo>
                    <a:pt x="9088882" y="0"/>
                  </a:lnTo>
                  <a:cubicBezTo>
                    <a:pt x="9239250" y="0"/>
                    <a:pt x="9361170" y="121920"/>
                    <a:pt x="9361170" y="272288"/>
                  </a:cubicBezTo>
                  <a:lnTo>
                    <a:pt x="9361170" y="2048002"/>
                  </a:lnTo>
                  <a:cubicBezTo>
                    <a:pt x="9361170" y="2198370"/>
                    <a:pt x="9239250" y="2320290"/>
                    <a:pt x="9088882" y="2320290"/>
                  </a:cubicBezTo>
                  <a:lnTo>
                    <a:pt x="272288" y="2320290"/>
                  </a:lnTo>
                  <a:cubicBezTo>
                    <a:pt x="121920" y="2320290"/>
                    <a:pt x="0" y="2198370"/>
                    <a:pt x="0" y="2048002"/>
                  </a:cubicBezTo>
                  <a:close/>
                </a:path>
              </a:pathLst>
            </a:custGeom>
            <a:solidFill>
              <a:srgbClr val="FFFFFF"/>
            </a:solidFill>
            <a:ln w="25400" cap="sq">
              <a:solidFill>
                <a:srgbClr val="D9DEE8"/>
              </a:solidFill>
              <a:prstDash val="solid"/>
              <a:miter/>
            </a:ln>
          </p:spPr>
        </p:sp>
      </p:grpSp>
      <p:sp>
        <p:nvSpPr>
          <p:cNvPr name="TextBox 14" id="14"/>
          <p:cNvSpPr txBox="true"/>
          <p:nvPr/>
        </p:nvSpPr>
        <p:spPr>
          <a:xfrm rot="0">
            <a:off x="3154661" y="7328525"/>
            <a:ext cx="6446796" cy="363874"/>
          </a:xfrm>
          <a:prstGeom prst="rect">
            <a:avLst/>
          </a:prstGeom>
        </p:spPr>
        <p:txBody>
          <a:bodyPr anchor="t" rtlCol="false" tIns="0" lIns="0" bIns="0" rIns="0">
            <a:spAutoFit/>
          </a:bodyPr>
          <a:lstStyle/>
          <a:p>
            <a:pPr algn="l">
              <a:lnSpc>
                <a:spcPts val="2220"/>
              </a:lnSpc>
            </a:pPr>
            <a:r>
              <a:rPr lang="en-US" b="true" sz="1850">
                <a:solidFill>
                  <a:srgbClr val="191E3A"/>
                </a:solidFill>
                <a:latin typeface="Arimo Bold"/>
                <a:ea typeface="Arimo Bold"/>
                <a:cs typeface="Arimo Bold"/>
                <a:sym typeface="Arimo Bold"/>
              </a:rPr>
              <a:t>BLOCH-VECTOR ESTIMATOR</a:t>
            </a:r>
          </a:p>
        </p:txBody>
      </p:sp>
      <p:grpSp>
        <p:nvGrpSpPr>
          <p:cNvPr name="Group 15" id="15"/>
          <p:cNvGrpSpPr/>
          <p:nvPr/>
        </p:nvGrpSpPr>
        <p:grpSpPr>
          <a:xfrm rot="0">
            <a:off x="10594343" y="3130553"/>
            <a:ext cx="7020801" cy="1740198"/>
            <a:chOff x="0" y="0"/>
            <a:chExt cx="9361068" cy="2320265"/>
          </a:xfrm>
        </p:grpSpPr>
        <p:sp>
          <p:nvSpPr>
            <p:cNvPr name="Freeform 16" id="16"/>
            <p:cNvSpPr/>
            <p:nvPr/>
          </p:nvSpPr>
          <p:spPr>
            <a:xfrm flipH="false" flipV="false" rot="0">
              <a:off x="0" y="0"/>
              <a:ext cx="9361043" cy="2320290"/>
            </a:xfrm>
            <a:custGeom>
              <a:avLst/>
              <a:gdLst/>
              <a:ahLst/>
              <a:cxnLst/>
              <a:rect r="r" b="b" t="t" l="l"/>
              <a:pathLst>
                <a:path h="2320290" w="9361043">
                  <a:moveTo>
                    <a:pt x="0" y="257810"/>
                  </a:moveTo>
                  <a:cubicBezTo>
                    <a:pt x="0" y="115443"/>
                    <a:pt x="115443" y="0"/>
                    <a:pt x="257810" y="0"/>
                  </a:cubicBezTo>
                  <a:lnTo>
                    <a:pt x="9103233" y="0"/>
                  </a:lnTo>
                  <a:cubicBezTo>
                    <a:pt x="9245600" y="0"/>
                    <a:pt x="9361043" y="115443"/>
                    <a:pt x="9361043" y="257810"/>
                  </a:cubicBezTo>
                  <a:lnTo>
                    <a:pt x="9361043" y="2062480"/>
                  </a:lnTo>
                  <a:cubicBezTo>
                    <a:pt x="9361043" y="2204847"/>
                    <a:pt x="9245600" y="2320290"/>
                    <a:pt x="9103233" y="2320290"/>
                  </a:cubicBezTo>
                  <a:lnTo>
                    <a:pt x="257810" y="2320290"/>
                  </a:lnTo>
                  <a:cubicBezTo>
                    <a:pt x="115443" y="2320290"/>
                    <a:pt x="0" y="2204847"/>
                    <a:pt x="0" y="2062480"/>
                  </a:cubicBezTo>
                  <a:close/>
                </a:path>
              </a:pathLst>
            </a:custGeom>
            <a:solidFill>
              <a:srgbClr val="F8FAFD"/>
            </a:solidFill>
            <a:ln w="25400" cap="sq">
              <a:solidFill>
                <a:srgbClr val="D9DEE8"/>
              </a:solidFill>
              <a:prstDash val="solid"/>
              <a:miter/>
            </a:ln>
          </p:spPr>
        </p:sp>
      </p:grpSp>
      <p:sp>
        <p:nvSpPr>
          <p:cNvPr name="TextBox 17" id="17"/>
          <p:cNvSpPr txBox="true"/>
          <p:nvPr/>
        </p:nvSpPr>
        <p:spPr>
          <a:xfrm rot="0">
            <a:off x="10908773" y="3328025"/>
            <a:ext cx="6391599" cy="363874"/>
          </a:xfrm>
          <a:prstGeom prst="rect">
            <a:avLst/>
          </a:prstGeom>
        </p:spPr>
        <p:txBody>
          <a:bodyPr anchor="t" rtlCol="false" tIns="0" lIns="0" bIns="0" rIns="0">
            <a:spAutoFit/>
          </a:bodyPr>
          <a:lstStyle/>
          <a:p>
            <a:pPr algn="l">
              <a:lnSpc>
                <a:spcPts val="2220"/>
              </a:lnSpc>
            </a:pPr>
            <a:r>
              <a:rPr lang="en-US" b="true" sz="1850">
                <a:solidFill>
                  <a:srgbClr val="191E3A"/>
                </a:solidFill>
                <a:latin typeface="Arimo Bold"/>
                <a:ea typeface="Arimo Bold"/>
                <a:cs typeface="Arimo Bold"/>
                <a:sym typeface="Arimo Bold"/>
              </a:rPr>
              <a:t>LOCAL MARGINALS</a:t>
            </a:r>
          </a:p>
        </p:txBody>
      </p:sp>
      <p:sp>
        <p:nvSpPr>
          <p:cNvPr name="TextBox 18" id="18"/>
          <p:cNvSpPr txBox="true"/>
          <p:nvPr/>
        </p:nvSpPr>
        <p:spPr>
          <a:xfrm rot="0">
            <a:off x="10908754" y="3728075"/>
            <a:ext cx="6391599" cy="916629"/>
          </a:xfrm>
          <a:prstGeom prst="rect">
            <a:avLst/>
          </a:prstGeom>
        </p:spPr>
        <p:txBody>
          <a:bodyPr anchor="t" rtlCol="false" tIns="0" lIns="0" bIns="0" rIns="0">
            <a:spAutoFit/>
          </a:bodyPr>
          <a:lstStyle/>
          <a:p>
            <a:pPr algn="l">
              <a:lnSpc>
                <a:spcPts val="2640"/>
              </a:lnSpc>
            </a:pPr>
            <a:r>
              <a:rPr lang="en-US" sz="2200">
                <a:solidFill>
                  <a:srgbClr val="667085"/>
                </a:solidFill>
                <a:latin typeface="DM Sans"/>
                <a:ea typeface="DM Sans"/>
                <a:cs typeface="DM Sans"/>
                <a:sym typeface="DM Sans"/>
              </a:rPr>
              <a:t>Trace out the rest of the system and keep the one-qubit reduced state for each qubit.</a:t>
            </a:r>
          </a:p>
        </p:txBody>
      </p:sp>
      <p:grpSp>
        <p:nvGrpSpPr>
          <p:cNvPr name="Group 19" id="19"/>
          <p:cNvGrpSpPr/>
          <p:nvPr/>
        </p:nvGrpSpPr>
        <p:grpSpPr>
          <a:xfrm rot="0">
            <a:off x="10594343" y="5130803"/>
            <a:ext cx="7020801" cy="1740198"/>
            <a:chOff x="0" y="0"/>
            <a:chExt cx="9361068" cy="2320265"/>
          </a:xfrm>
        </p:grpSpPr>
        <p:sp>
          <p:nvSpPr>
            <p:cNvPr name="Freeform 20" id="20"/>
            <p:cNvSpPr/>
            <p:nvPr/>
          </p:nvSpPr>
          <p:spPr>
            <a:xfrm flipH="false" flipV="false" rot="0">
              <a:off x="0" y="0"/>
              <a:ext cx="9361043" cy="2320290"/>
            </a:xfrm>
            <a:custGeom>
              <a:avLst/>
              <a:gdLst/>
              <a:ahLst/>
              <a:cxnLst/>
              <a:rect r="r" b="b" t="t" l="l"/>
              <a:pathLst>
                <a:path h="2320290" w="9361043">
                  <a:moveTo>
                    <a:pt x="0" y="257810"/>
                  </a:moveTo>
                  <a:cubicBezTo>
                    <a:pt x="0" y="115443"/>
                    <a:pt x="115443" y="0"/>
                    <a:pt x="257810" y="0"/>
                  </a:cubicBezTo>
                  <a:lnTo>
                    <a:pt x="9103233" y="0"/>
                  </a:lnTo>
                  <a:cubicBezTo>
                    <a:pt x="9245600" y="0"/>
                    <a:pt x="9361043" y="115443"/>
                    <a:pt x="9361043" y="257810"/>
                  </a:cubicBezTo>
                  <a:lnTo>
                    <a:pt x="9361043" y="2062480"/>
                  </a:lnTo>
                  <a:cubicBezTo>
                    <a:pt x="9361043" y="2204847"/>
                    <a:pt x="9245600" y="2320290"/>
                    <a:pt x="9103233" y="2320290"/>
                  </a:cubicBezTo>
                  <a:lnTo>
                    <a:pt x="257810" y="2320290"/>
                  </a:lnTo>
                  <a:cubicBezTo>
                    <a:pt x="115443" y="2320290"/>
                    <a:pt x="0" y="2204847"/>
                    <a:pt x="0" y="2062480"/>
                  </a:cubicBezTo>
                  <a:close/>
                </a:path>
              </a:pathLst>
            </a:custGeom>
            <a:solidFill>
              <a:srgbClr val="F8FAFD"/>
            </a:solidFill>
            <a:ln w="25400" cap="sq">
              <a:solidFill>
                <a:srgbClr val="D9DEE8"/>
              </a:solidFill>
              <a:prstDash val="solid"/>
              <a:miter/>
            </a:ln>
          </p:spPr>
        </p:sp>
      </p:grpSp>
      <p:sp>
        <p:nvSpPr>
          <p:cNvPr name="TextBox 21" id="21"/>
          <p:cNvSpPr txBox="true"/>
          <p:nvPr/>
        </p:nvSpPr>
        <p:spPr>
          <a:xfrm rot="0">
            <a:off x="10908773" y="5328275"/>
            <a:ext cx="6391599" cy="363874"/>
          </a:xfrm>
          <a:prstGeom prst="rect">
            <a:avLst/>
          </a:prstGeom>
        </p:spPr>
        <p:txBody>
          <a:bodyPr anchor="t" rtlCol="false" tIns="0" lIns="0" bIns="0" rIns="0">
            <a:spAutoFit/>
          </a:bodyPr>
          <a:lstStyle/>
          <a:p>
            <a:pPr algn="l">
              <a:lnSpc>
                <a:spcPts val="2220"/>
              </a:lnSpc>
            </a:pPr>
            <a:r>
              <a:rPr lang="en-US" b="true" sz="1850">
                <a:solidFill>
                  <a:srgbClr val="191E3A"/>
                </a:solidFill>
                <a:latin typeface="Arimo Bold"/>
                <a:ea typeface="Arimo Bold"/>
                <a:cs typeface="Arimo Bold"/>
                <a:sym typeface="Arimo Bold"/>
              </a:rPr>
              <a:t>THREE BASES</a:t>
            </a:r>
          </a:p>
        </p:txBody>
      </p:sp>
      <p:sp>
        <p:nvSpPr>
          <p:cNvPr name="TextBox 22" id="22"/>
          <p:cNvSpPr txBox="true"/>
          <p:nvPr/>
        </p:nvSpPr>
        <p:spPr>
          <a:xfrm rot="0">
            <a:off x="10908773" y="5823575"/>
            <a:ext cx="6391599" cy="725824"/>
          </a:xfrm>
          <a:prstGeom prst="rect">
            <a:avLst/>
          </a:prstGeom>
        </p:spPr>
        <p:txBody>
          <a:bodyPr anchor="t" rtlCol="false" tIns="0" lIns="0" bIns="0" rIns="0">
            <a:spAutoFit/>
          </a:bodyPr>
          <a:lstStyle/>
          <a:p>
            <a:pPr algn="l">
              <a:lnSpc>
                <a:spcPts val="2640"/>
              </a:lnSpc>
            </a:pPr>
            <a:r>
              <a:rPr lang="en-US" sz="2200">
                <a:solidFill>
                  <a:srgbClr val="667085"/>
                </a:solidFill>
                <a:latin typeface="DM Sans"/>
                <a:ea typeface="DM Sans"/>
                <a:cs typeface="DM Sans"/>
                <a:sym typeface="DM Sans"/>
              </a:rPr>
              <a:t>Estimate local Pauli expectations from Z directly, X after H, and Y after S† then H.</a:t>
            </a:r>
          </a:p>
        </p:txBody>
      </p:sp>
      <p:grpSp>
        <p:nvGrpSpPr>
          <p:cNvPr name="Group 23" id="23"/>
          <p:cNvGrpSpPr/>
          <p:nvPr/>
        </p:nvGrpSpPr>
        <p:grpSpPr>
          <a:xfrm rot="0">
            <a:off x="10594343" y="7131053"/>
            <a:ext cx="7020801" cy="1740198"/>
            <a:chOff x="0" y="0"/>
            <a:chExt cx="9361068" cy="2320265"/>
          </a:xfrm>
        </p:grpSpPr>
        <p:sp>
          <p:nvSpPr>
            <p:cNvPr name="Freeform 24" id="24"/>
            <p:cNvSpPr/>
            <p:nvPr/>
          </p:nvSpPr>
          <p:spPr>
            <a:xfrm flipH="false" flipV="false" rot="0">
              <a:off x="0" y="0"/>
              <a:ext cx="9361043" cy="2320290"/>
            </a:xfrm>
            <a:custGeom>
              <a:avLst/>
              <a:gdLst/>
              <a:ahLst/>
              <a:cxnLst/>
              <a:rect r="r" b="b" t="t" l="l"/>
              <a:pathLst>
                <a:path h="2320290" w="9361043">
                  <a:moveTo>
                    <a:pt x="0" y="257810"/>
                  </a:moveTo>
                  <a:cubicBezTo>
                    <a:pt x="0" y="115443"/>
                    <a:pt x="115443" y="0"/>
                    <a:pt x="257810" y="0"/>
                  </a:cubicBezTo>
                  <a:lnTo>
                    <a:pt x="9103233" y="0"/>
                  </a:lnTo>
                  <a:cubicBezTo>
                    <a:pt x="9245600" y="0"/>
                    <a:pt x="9361043" y="115443"/>
                    <a:pt x="9361043" y="257810"/>
                  </a:cubicBezTo>
                  <a:lnTo>
                    <a:pt x="9361043" y="2062480"/>
                  </a:lnTo>
                  <a:cubicBezTo>
                    <a:pt x="9361043" y="2204847"/>
                    <a:pt x="9245600" y="2320290"/>
                    <a:pt x="9103233" y="2320290"/>
                  </a:cubicBezTo>
                  <a:lnTo>
                    <a:pt x="257810" y="2320290"/>
                  </a:lnTo>
                  <a:cubicBezTo>
                    <a:pt x="115443" y="2320290"/>
                    <a:pt x="0" y="2204847"/>
                    <a:pt x="0" y="2062480"/>
                  </a:cubicBezTo>
                  <a:close/>
                </a:path>
              </a:pathLst>
            </a:custGeom>
            <a:solidFill>
              <a:srgbClr val="EFF6FF"/>
            </a:solidFill>
            <a:ln w="25400" cap="sq">
              <a:solidFill>
                <a:srgbClr val="BCCFF7"/>
              </a:solidFill>
              <a:prstDash val="solid"/>
              <a:miter/>
            </a:ln>
          </p:spPr>
        </p:sp>
      </p:grpSp>
      <p:sp>
        <p:nvSpPr>
          <p:cNvPr name="TextBox 25" id="25"/>
          <p:cNvSpPr txBox="true"/>
          <p:nvPr/>
        </p:nvSpPr>
        <p:spPr>
          <a:xfrm rot="0">
            <a:off x="10908773" y="7328525"/>
            <a:ext cx="6391599" cy="363874"/>
          </a:xfrm>
          <a:prstGeom prst="rect">
            <a:avLst/>
          </a:prstGeom>
        </p:spPr>
        <p:txBody>
          <a:bodyPr anchor="t" rtlCol="false" tIns="0" lIns="0" bIns="0" rIns="0">
            <a:spAutoFit/>
          </a:bodyPr>
          <a:lstStyle/>
          <a:p>
            <a:pPr algn="l">
              <a:lnSpc>
                <a:spcPts val="2220"/>
              </a:lnSpc>
            </a:pPr>
            <a:r>
              <a:rPr lang="en-US" b="true" sz="1850">
                <a:solidFill>
                  <a:srgbClr val="191E3A"/>
                </a:solidFill>
                <a:latin typeface="Arimo Bold"/>
                <a:ea typeface="Arimo Bold"/>
                <a:cs typeface="Arimo Bold"/>
                <a:sym typeface="Arimo Bold"/>
              </a:rPr>
              <a:t>AVERAGE OVER PARAMETERS</a:t>
            </a:r>
          </a:p>
        </p:txBody>
      </p:sp>
      <p:grpSp>
        <p:nvGrpSpPr>
          <p:cNvPr name="Group 26" id="26"/>
          <p:cNvGrpSpPr/>
          <p:nvPr/>
        </p:nvGrpSpPr>
        <p:grpSpPr>
          <a:xfrm rot="0">
            <a:off x="268214" y="348844"/>
            <a:ext cx="1889303" cy="1889303"/>
            <a:chOff x="0" y="0"/>
            <a:chExt cx="2519070" cy="2519070"/>
          </a:xfrm>
        </p:grpSpPr>
        <p:sp>
          <p:nvSpPr>
            <p:cNvPr name="Freeform 27" id="27"/>
            <p:cNvSpPr/>
            <p:nvPr/>
          </p:nvSpPr>
          <p:spPr>
            <a:xfrm flipH="false" flipV="false" rot="0">
              <a:off x="0" y="0"/>
              <a:ext cx="2519045" cy="2519045"/>
            </a:xfrm>
            <a:custGeom>
              <a:avLst/>
              <a:gdLst/>
              <a:ahLst/>
              <a:cxnLst/>
              <a:rect r="r" b="b" t="t" l="l"/>
              <a:pathLst>
                <a:path h="2519045" w="2519045">
                  <a:moveTo>
                    <a:pt x="0" y="0"/>
                  </a:moveTo>
                  <a:lnTo>
                    <a:pt x="2519045" y="0"/>
                  </a:lnTo>
                  <a:lnTo>
                    <a:pt x="2519045" y="2519045"/>
                  </a:lnTo>
                  <a:lnTo>
                    <a:pt x="0" y="2519045"/>
                  </a:lnTo>
                  <a:lnTo>
                    <a:pt x="0" y="0"/>
                  </a:lnTo>
                  <a:close/>
                </a:path>
              </a:pathLst>
            </a:custGeom>
            <a:blipFill>
              <a:blip r:embed="rId6"/>
              <a:stretch>
                <a:fillRect l="0" t="0" r="-1" b="-1"/>
              </a:stretch>
            </a:blipFill>
          </p:spPr>
        </p:sp>
      </p:grpSp>
      <p:sp>
        <p:nvSpPr>
          <p:cNvPr name="TextBox 28" id="28"/>
          <p:cNvSpPr txBox="true"/>
          <p:nvPr/>
        </p:nvSpPr>
        <p:spPr>
          <a:xfrm rot="0">
            <a:off x="10908773" y="7823825"/>
            <a:ext cx="6391599" cy="821226"/>
          </a:xfrm>
          <a:prstGeom prst="rect">
            <a:avLst/>
          </a:prstGeom>
        </p:spPr>
        <p:txBody>
          <a:bodyPr anchor="t" rtlCol="false" tIns="0" lIns="0" bIns="0" rIns="0">
            <a:spAutoFit/>
          </a:bodyPr>
          <a:lstStyle/>
          <a:p>
            <a:pPr algn="l">
              <a:lnSpc>
                <a:spcPts val="2640"/>
              </a:lnSpc>
            </a:pPr>
            <a:r>
              <a:rPr lang="en-US" sz="2200">
                <a:solidFill>
                  <a:srgbClr val="667085"/>
                </a:solidFill>
                <a:latin typeface="DM Sans"/>
                <a:ea typeface="DM Sans"/>
                <a:cs typeface="DM Sans"/>
                <a:sym typeface="DM Sans"/>
              </a:rPr>
              <a:t>For each ansatz and depth, compute the mean MW score across random parameter samples.</a:t>
            </a:r>
          </a:p>
        </p:txBody>
      </p:sp>
      <p:grpSp>
        <p:nvGrpSpPr>
          <p:cNvPr name="Group 29" id="29"/>
          <p:cNvGrpSpPr/>
          <p:nvPr/>
        </p:nvGrpSpPr>
        <p:grpSpPr>
          <a:xfrm rot="0">
            <a:off x="3486645" y="5810250"/>
            <a:ext cx="5165969" cy="1143000"/>
            <a:chOff x="0" y="0"/>
            <a:chExt cx="6887959" cy="1524000"/>
          </a:xfrm>
        </p:grpSpPr>
        <p:sp>
          <p:nvSpPr>
            <p:cNvPr name="Freeform 30" id="30"/>
            <p:cNvSpPr/>
            <p:nvPr/>
          </p:nvSpPr>
          <p:spPr>
            <a:xfrm flipH="false" flipV="false" rot="0">
              <a:off x="0" y="0"/>
              <a:ext cx="6887972" cy="1524000"/>
            </a:xfrm>
            <a:custGeom>
              <a:avLst/>
              <a:gdLst/>
              <a:ahLst/>
              <a:cxnLst/>
              <a:rect r="r" b="b" t="t" l="l"/>
              <a:pathLst>
                <a:path h="1524000" w="6887972">
                  <a:moveTo>
                    <a:pt x="0" y="0"/>
                  </a:moveTo>
                  <a:lnTo>
                    <a:pt x="6887972" y="0"/>
                  </a:lnTo>
                  <a:lnTo>
                    <a:pt x="6887972" y="1524000"/>
                  </a:lnTo>
                  <a:lnTo>
                    <a:pt x="0" y="1524000"/>
                  </a:lnTo>
                  <a:lnTo>
                    <a:pt x="0" y="0"/>
                  </a:lnTo>
                  <a:close/>
                </a:path>
              </a:pathLst>
            </a:custGeom>
            <a:blipFill>
              <a:blip r:embed="rId7"/>
              <a:stretch>
                <a:fillRect l="0" t="0" r="-136010" b="-1"/>
              </a:stretch>
            </a:blipFill>
          </p:spPr>
        </p:sp>
      </p:grpSp>
      <p:grpSp>
        <p:nvGrpSpPr>
          <p:cNvPr name="Group 31" id="31"/>
          <p:cNvGrpSpPr/>
          <p:nvPr/>
        </p:nvGrpSpPr>
        <p:grpSpPr>
          <a:xfrm rot="0">
            <a:off x="3351000" y="3815725"/>
            <a:ext cx="6340764" cy="762000"/>
            <a:chOff x="0" y="0"/>
            <a:chExt cx="8454352" cy="1016000"/>
          </a:xfrm>
        </p:grpSpPr>
        <p:sp>
          <p:nvSpPr>
            <p:cNvPr name="Freeform 32" id="32"/>
            <p:cNvSpPr/>
            <p:nvPr/>
          </p:nvSpPr>
          <p:spPr>
            <a:xfrm flipH="false" flipV="false" rot="0">
              <a:off x="0" y="0"/>
              <a:ext cx="8454390" cy="1016000"/>
            </a:xfrm>
            <a:custGeom>
              <a:avLst/>
              <a:gdLst/>
              <a:ahLst/>
              <a:cxnLst/>
              <a:rect r="r" b="b" t="t" l="l"/>
              <a:pathLst>
                <a:path h="1016000" w="8454390">
                  <a:moveTo>
                    <a:pt x="0" y="0"/>
                  </a:moveTo>
                  <a:lnTo>
                    <a:pt x="8454390" y="0"/>
                  </a:lnTo>
                  <a:lnTo>
                    <a:pt x="8454390" y="1016000"/>
                  </a:lnTo>
                  <a:lnTo>
                    <a:pt x="0" y="1016000"/>
                  </a:lnTo>
                  <a:lnTo>
                    <a:pt x="0" y="0"/>
                  </a:lnTo>
                  <a:close/>
                </a:path>
              </a:pathLst>
            </a:custGeom>
            <a:blipFill>
              <a:blip r:embed="rId8"/>
              <a:stretch>
                <a:fillRect l="0" t="0" r="-43929" b="-1"/>
              </a:stretch>
            </a:blipFill>
          </p:spPr>
        </p:sp>
      </p:grpSp>
      <p:grpSp>
        <p:nvGrpSpPr>
          <p:cNvPr name="Group 33" id="33"/>
          <p:cNvGrpSpPr/>
          <p:nvPr/>
        </p:nvGrpSpPr>
        <p:grpSpPr>
          <a:xfrm rot="0">
            <a:off x="4078595" y="7614599"/>
            <a:ext cx="4885544" cy="1048445"/>
            <a:chOff x="0" y="0"/>
            <a:chExt cx="6514059" cy="1397927"/>
          </a:xfrm>
        </p:grpSpPr>
        <p:sp>
          <p:nvSpPr>
            <p:cNvPr name="Freeform 34" id="34"/>
            <p:cNvSpPr/>
            <p:nvPr/>
          </p:nvSpPr>
          <p:spPr>
            <a:xfrm flipH="false" flipV="false" rot="0">
              <a:off x="0" y="0"/>
              <a:ext cx="6514084" cy="1397889"/>
            </a:xfrm>
            <a:custGeom>
              <a:avLst/>
              <a:gdLst/>
              <a:ahLst/>
              <a:cxnLst/>
              <a:rect r="r" b="b" t="t" l="l"/>
              <a:pathLst>
                <a:path h="1397889" w="6514084">
                  <a:moveTo>
                    <a:pt x="0" y="0"/>
                  </a:moveTo>
                  <a:lnTo>
                    <a:pt x="6514084" y="0"/>
                  </a:lnTo>
                  <a:lnTo>
                    <a:pt x="6514084" y="1397889"/>
                  </a:lnTo>
                  <a:lnTo>
                    <a:pt x="0" y="1397889"/>
                  </a:lnTo>
                  <a:lnTo>
                    <a:pt x="0" y="0"/>
                  </a:lnTo>
                  <a:close/>
                </a:path>
              </a:pathLst>
            </a:custGeom>
            <a:blipFill>
              <a:blip r:embed="rId9"/>
              <a:stretch>
                <a:fillRect l="0" t="0" r="-128908" b="-2"/>
              </a:stretch>
            </a:blipFill>
          </p:spPr>
        </p:sp>
      </p:gr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910933"/>
            <a:ext cx="2034330" cy="11964476"/>
          </a:xfrm>
          <a:custGeom>
            <a:avLst/>
            <a:gdLst/>
            <a:ahLst/>
            <a:cxnLst/>
            <a:rect r="r" b="b" t="t" l="l"/>
            <a:pathLst>
              <a:path h="11964476" w="2034330">
                <a:moveTo>
                  <a:pt x="0" y="0"/>
                </a:moveTo>
                <a:lnTo>
                  <a:pt x="2034330" y="0"/>
                </a:lnTo>
                <a:lnTo>
                  <a:pt x="2034330" y="11964476"/>
                </a:lnTo>
                <a:lnTo>
                  <a:pt x="0" y="1196447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9525" y="-910933"/>
            <a:ext cx="2426160" cy="11964476"/>
          </a:xfrm>
          <a:custGeom>
            <a:avLst/>
            <a:gdLst/>
            <a:ahLst/>
            <a:cxnLst/>
            <a:rect r="r" b="b" t="t" l="l"/>
            <a:pathLst>
              <a:path h="11964476" w="2426160">
                <a:moveTo>
                  <a:pt x="0" y="0"/>
                </a:moveTo>
                <a:lnTo>
                  <a:pt x="2426160" y="0"/>
                </a:lnTo>
                <a:lnTo>
                  <a:pt x="2426160" y="11964476"/>
                </a:lnTo>
                <a:lnTo>
                  <a:pt x="0" y="1196447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2926090" y="827522"/>
            <a:ext cx="14447749" cy="1097299"/>
          </a:xfrm>
          <a:prstGeom prst="rect">
            <a:avLst/>
          </a:prstGeom>
        </p:spPr>
        <p:txBody>
          <a:bodyPr anchor="t" rtlCol="false" tIns="0" lIns="0" bIns="0" rIns="0">
            <a:spAutoFit/>
          </a:bodyPr>
          <a:lstStyle/>
          <a:p>
            <a:pPr algn="l">
              <a:lnSpc>
                <a:spcPts val="6719"/>
              </a:lnSpc>
            </a:pPr>
            <a:r>
              <a:rPr lang="en-US" sz="5599">
                <a:solidFill>
                  <a:srgbClr val="191E3A"/>
                </a:solidFill>
                <a:latin typeface="Libre Baskerville"/>
                <a:ea typeface="Libre Baskerville"/>
                <a:cs typeface="Libre Baskerville"/>
                <a:sym typeface="Libre Baskerville"/>
              </a:rPr>
              <a:t>Meyer-Wallach results</a:t>
            </a:r>
          </a:p>
        </p:txBody>
      </p:sp>
      <p:sp>
        <p:nvSpPr>
          <p:cNvPr name="TextBox 5" id="5"/>
          <p:cNvSpPr txBox="true"/>
          <p:nvPr/>
        </p:nvSpPr>
        <p:spPr>
          <a:xfrm rot="0">
            <a:off x="2926090" y="2081393"/>
            <a:ext cx="14630152" cy="840124"/>
          </a:xfrm>
          <a:prstGeom prst="rect">
            <a:avLst/>
          </a:prstGeom>
        </p:spPr>
        <p:txBody>
          <a:bodyPr anchor="t" rtlCol="false" tIns="0" lIns="0" bIns="0" rIns="0">
            <a:spAutoFit/>
          </a:bodyPr>
          <a:lstStyle/>
          <a:p>
            <a:pPr algn="l">
              <a:lnSpc>
                <a:spcPts val="3024"/>
              </a:lnSpc>
            </a:pPr>
            <a:r>
              <a:rPr lang="en-US" sz="2799">
                <a:solidFill>
                  <a:srgbClr val="000000"/>
                </a:solidFill>
                <a:latin typeface="DM Sans"/>
                <a:ea typeface="DM Sans"/>
                <a:cs typeface="DM Sans"/>
                <a:sym typeface="DM Sans"/>
              </a:rPr>
              <a:t>The difference must be judged against the uncertainty of the difference, not only against the individual mean estimates.</a:t>
            </a:r>
          </a:p>
        </p:txBody>
      </p:sp>
      <p:grpSp>
        <p:nvGrpSpPr>
          <p:cNvPr name="Group 6" id="6"/>
          <p:cNvGrpSpPr/>
          <p:nvPr/>
        </p:nvGrpSpPr>
        <p:grpSpPr>
          <a:xfrm rot="0">
            <a:off x="2870835" y="3419475"/>
            <a:ext cx="7162648" cy="2876845"/>
            <a:chOff x="0" y="0"/>
            <a:chExt cx="9550197" cy="3835794"/>
          </a:xfrm>
        </p:grpSpPr>
        <p:sp>
          <p:nvSpPr>
            <p:cNvPr name="Freeform 7" id="7"/>
            <p:cNvSpPr/>
            <p:nvPr/>
          </p:nvSpPr>
          <p:spPr>
            <a:xfrm flipH="false" flipV="false" rot="0">
              <a:off x="0" y="0"/>
              <a:ext cx="9550146" cy="3835781"/>
            </a:xfrm>
            <a:custGeom>
              <a:avLst/>
              <a:gdLst/>
              <a:ahLst/>
              <a:cxnLst/>
              <a:rect r="r" b="b" t="t" l="l"/>
              <a:pathLst>
                <a:path h="3835781" w="9550146">
                  <a:moveTo>
                    <a:pt x="0" y="306832"/>
                  </a:moveTo>
                  <a:cubicBezTo>
                    <a:pt x="0" y="137414"/>
                    <a:pt x="137414" y="0"/>
                    <a:pt x="306832" y="0"/>
                  </a:cubicBezTo>
                  <a:lnTo>
                    <a:pt x="9243314" y="0"/>
                  </a:lnTo>
                  <a:cubicBezTo>
                    <a:pt x="9412732" y="0"/>
                    <a:pt x="9550146" y="137414"/>
                    <a:pt x="9550146" y="306832"/>
                  </a:cubicBezTo>
                  <a:lnTo>
                    <a:pt x="9550146" y="3528949"/>
                  </a:lnTo>
                  <a:cubicBezTo>
                    <a:pt x="9550146" y="3698367"/>
                    <a:pt x="9412732" y="3835781"/>
                    <a:pt x="9243314" y="3835781"/>
                  </a:cubicBezTo>
                  <a:lnTo>
                    <a:pt x="306832" y="3835781"/>
                  </a:lnTo>
                  <a:cubicBezTo>
                    <a:pt x="137414" y="3835781"/>
                    <a:pt x="0" y="3698367"/>
                    <a:pt x="0" y="3528949"/>
                  </a:cubicBezTo>
                  <a:close/>
                </a:path>
              </a:pathLst>
            </a:custGeom>
            <a:solidFill>
              <a:srgbClr val="FFFFFF"/>
            </a:solidFill>
            <a:ln w="19050" cap="sq">
              <a:solidFill>
                <a:srgbClr val="D9DEE8"/>
              </a:solidFill>
              <a:prstDash val="solid"/>
              <a:miter/>
            </a:ln>
          </p:spPr>
        </p:sp>
      </p:grpSp>
      <p:sp>
        <p:nvSpPr>
          <p:cNvPr name="TextBox 8" id="8"/>
          <p:cNvSpPr txBox="true"/>
          <p:nvPr/>
        </p:nvSpPr>
        <p:spPr>
          <a:xfrm rot="0">
            <a:off x="3261360" y="3714750"/>
            <a:ext cx="6381598" cy="2286000"/>
          </a:xfrm>
          <a:prstGeom prst="rect">
            <a:avLst/>
          </a:prstGeom>
        </p:spPr>
        <p:txBody>
          <a:bodyPr anchor="t" rtlCol="false" tIns="0" lIns="0" bIns="0" rIns="0">
            <a:spAutoFit/>
          </a:bodyPr>
          <a:lstStyle/>
          <a:p>
            <a:pPr algn="l">
              <a:lnSpc>
                <a:spcPts val="2220"/>
              </a:lnSpc>
            </a:pPr>
            <a:r>
              <a:rPr lang="en-US" b="true" sz="1850">
                <a:solidFill>
                  <a:srgbClr val="191E3A"/>
                </a:solidFill>
                <a:latin typeface="DM Sans Bold"/>
                <a:ea typeface="DM Sans Bold"/>
                <a:cs typeface="DM Sans Bold"/>
                <a:sym typeface="DM Sans Bold"/>
              </a:rPr>
              <a:t>Depth 2</a:t>
            </a:r>
          </a:p>
          <a:p>
            <a:pPr algn="l">
              <a:lnSpc>
                <a:spcPts val="5327"/>
              </a:lnSpc>
            </a:pPr>
            <a:r>
              <a:rPr lang="en-US" b="true" sz="4440">
                <a:solidFill>
                  <a:srgbClr val="191E3A"/>
                </a:solidFill>
                <a:latin typeface="DM Sans Bold"/>
                <a:ea typeface="DM Sans Bold"/>
                <a:cs typeface="DM Sans Bold"/>
                <a:sym typeface="DM Sans Bold"/>
              </a:rPr>
              <a:t>0.682 vs 0.688</a:t>
            </a:r>
          </a:p>
          <a:p>
            <a:pPr algn="l">
              <a:lnSpc>
                <a:spcPts val="1999"/>
              </a:lnSpc>
            </a:pPr>
            <a:r>
              <a:rPr lang="en-US" sz="1665">
                <a:solidFill>
                  <a:srgbClr val="667085"/>
                </a:solidFill>
                <a:latin typeface="DM Sans"/>
                <a:ea typeface="DM Sans"/>
                <a:cs typeface="DM Sans"/>
                <a:sym typeface="DM Sans"/>
              </a:rPr>
              <a:t>ODRA vs simulator · d = -0.006 · h95(d) ≈ 0.040</a:t>
            </a:r>
          </a:p>
          <a:p>
            <a:pPr algn="l">
              <a:lnSpc>
                <a:spcPts val="2443"/>
              </a:lnSpc>
            </a:pPr>
            <a:r>
              <a:rPr lang="en-US" sz="2036">
                <a:solidFill>
                  <a:srgbClr val="191E3A"/>
                </a:solidFill>
                <a:latin typeface="DM Sans"/>
                <a:ea typeface="DM Sans"/>
                <a:cs typeface="DM Sans"/>
                <a:sym typeface="DM Sans"/>
              </a:rPr>
              <a:t>Not distinguishable: the observed gap is smaller than the uncertainty of the difference.</a:t>
            </a:r>
          </a:p>
        </p:txBody>
      </p:sp>
      <p:grpSp>
        <p:nvGrpSpPr>
          <p:cNvPr name="Group 9" id="9"/>
          <p:cNvGrpSpPr/>
          <p:nvPr/>
        </p:nvGrpSpPr>
        <p:grpSpPr>
          <a:xfrm rot="0">
            <a:off x="10395585" y="3419475"/>
            <a:ext cx="7162648" cy="2876845"/>
            <a:chOff x="0" y="0"/>
            <a:chExt cx="9550197" cy="3835794"/>
          </a:xfrm>
        </p:grpSpPr>
        <p:sp>
          <p:nvSpPr>
            <p:cNvPr name="Freeform 10" id="10"/>
            <p:cNvSpPr/>
            <p:nvPr/>
          </p:nvSpPr>
          <p:spPr>
            <a:xfrm flipH="false" flipV="false" rot="0">
              <a:off x="0" y="0"/>
              <a:ext cx="9550146" cy="3835781"/>
            </a:xfrm>
            <a:custGeom>
              <a:avLst/>
              <a:gdLst/>
              <a:ahLst/>
              <a:cxnLst/>
              <a:rect r="r" b="b" t="t" l="l"/>
              <a:pathLst>
                <a:path h="3835781" w="9550146">
                  <a:moveTo>
                    <a:pt x="0" y="306832"/>
                  </a:moveTo>
                  <a:cubicBezTo>
                    <a:pt x="0" y="137414"/>
                    <a:pt x="137414" y="0"/>
                    <a:pt x="306832" y="0"/>
                  </a:cubicBezTo>
                  <a:lnTo>
                    <a:pt x="9243314" y="0"/>
                  </a:lnTo>
                  <a:cubicBezTo>
                    <a:pt x="9412732" y="0"/>
                    <a:pt x="9550146" y="137414"/>
                    <a:pt x="9550146" y="306832"/>
                  </a:cubicBezTo>
                  <a:lnTo>
                    <a:pt x="9550146" y="3528949"/>
                  </a:lnTo>
                  <a:cubicBezTo>
                    <a:pt x="9550146" y="3698367"/>
                    <a:pt x="9412732" y="3835781"/>
                    <a:pt x="9243314" y="3835781"/>
                  </a:cubicBezTo>
                  <a:lnTo>
                    <a:pt x="306832" y="3835781"/>
                  </a:lnTo>
                  <a:cubicBezTo>
                    <a:pt x="137414" y="3835781"/>
                    <a:pt x="0" y="3698367"/>
                    <a:pt x="0" y="3528949"/>
                  </a:cubicBezTo>
                  <a:close/>
                </a:path>
              </a:pathLst>
            </a:custGeom>
            <a:solidFill>
              <a:srgbClr val="EFF6FF"/>
            </a:solidFill>
            <a:ln w="19050" cap="sq">
              <a:solidFill>
                <a:srgbClr val="BCCFF7"/>
              </a:solidFill>
              <a:prstDash val="solid"/>
              <a:miter/>
            </a:ln>
          </p:spPr>
        </p:sp>
      </p:grpSp>
      <p:sp>
        <p:nvSpPr>
          <p:cNvPr name="TextBox 11" id="11"/>
          <p:cNvSpPr txBox="true"/>
          <p:nvPr/>
        </p:nvSpPr>
        <p:spPr>
          <a:xfrm rot="0">
            <a:off x="10786110" y="3714750"/>
            <a:ext cx="6381598" cy="2286000"/>
          </a:xfrm>
          <a:prstGeom prst="rect">
            <a:avLst/>
          </a:prstGeom>
        </p:spPr>
        <p:txBody>
          <a:bodyPr anchor="t" rtlCol="false" tIns="0" lIns="0" bIns="0" rIns="0">
            <a:spAutoFit/>
          </a:bodyPr>
          <a:lstStyle/>
          <a:p>
            <a:pPr algn="l">
              <a:lnSpc>
                <a:spcPts val="2220"/>
              </a:lnSpc>
            </a:pPr>
            <a:r>
              <a:rPr lang="en-US" b="true" sz="1850">
                <a:solidFill>
                  <a:srgbClr val="191E3A"/>
                </a:solidFill>
                <a:latin typeface="DM Sans Bold"/>
                <a:ea typeface="DM Sans Bold"/>
                <a:cs typeface="DM Sans Bold"/>
                <a:sym typeface="DM Sans Bold"/>
              </a:rPr>
              <a:t>Depth 6</a:t>
            </a:r>
          </a:p>
          <a:p>
            <a:pPr algn="l">
              <a:lnSpc>
                <a:spcPts val="5327"/>
              </a:lnSpc>
            </a:pPr>
            <a:r>
              <a:rPr lang="en-US" b="true" sz="4440">
                <a:solidFill>
                  <a:srgbClr val="191E3A"/>
                </a:solidFill>
                <a:latin typeface="DM Sans Bold"/>
                <a:ea typeface="DM Sans Bold"/>
                <a:cs typeface="DM Sans Bold"/>
                <a:sym typeface="DM Sans Bold"/>
              </a:rPr>
              <a:t>0.976 vs 0.969</a:t>
            </a:r>
          </a:p>
          <a:p>
            <a:pPr algn="l">
              <a:lnSpc>
                <a:spcPts val="1999"/>
              </a:lnSpc>
            </a:pPr>
            <a:r>
              <a:rPr lang="en-US" sz="1665">
                <a:solidFill>
                  <a:srgbClr val="667085"/>
                </a:solidFill>
                <a:latin typeface="DM Sans"/>
                <a:ea typeface="DM Sans"/>
                <a:cs typeface="DM Sans"/>
                <a:sym typeface="DM Sans"/>
              </a:rPr>
              <a:t>ODRA vs simulator · d = +0.0070 · h95(d) = 0.0039</a:t>
            </a:r>
          </a:p>
          <a:p>
            <a:pPr algn="l">
              <a:lnSpc>
                <a:spcPts val="2443"/>
              </a:lnSpc>
            </a:pPr>
            <a:r>
              <a:rPr lang="en-US" sz="2036">
                <a:solidFill>
                  <a:srgbClr val="191E3A"/>
                </a:solidFill>
                <a:latin typeface="DM Sans"/>
                <a:ea typeface="DM Sans"/>
                <a:cs typeface="DM Sans"/>
                <a:sym typeface="DM Sans"/>
              </a:rPr>
              <a:t>Resolvable at sample level: ODRA is slightly higher in the recorded single-run example.</a:t>
            </a:r>
          </a:p>
        </p:txBody>
      </p:sp>
      <p:grpSp>
        <p:nvGrpSpPr>
          <p:cNvPr name="Group 12" id="12"/>
          <p:cNvGrpSpPr/>
          <p:nvPr/>
        </p:nvGrpSpPr>
        <p:grpSpPr>
          <a:xfrm rot="0">
            <a:off x="2870835" y="6657975"/>
            <a:ext cx="4686452" cy="2114845"/>
            <a:chOff x="0" y="0"/>
            <a:chExt cx="6248603" cy="2819794"/>
          </a:xfrm>
        </p:grpSpPr>
        <p:sp>
          <p:nvSpPr>
            <p:cNvPr name="Freeform 13" id="13"/>
            <p:cNvSpPr/>
            <p:nvPr/>
          </p:nvSpPr>
          <p:spPr>
            <a:xfrm flipH="false" flipV="false" rot="0">
              <a:off x="0" y="0"/>
              <a:ext cx="6248527" cy="2819781"/>
            </a:xfrm>
            <a:custGeom>
              <a:avLst/>
              <a:gdLst/>
              <a:ahLst/>
              <a:cxnLst/>
              <a:rect r="r" b="b" t="t" l="l"/>
              <a:pathLst>
                <a:path h="2819781" w="6248527">
                  <a:moveTo>
                    <a:pt x="0" y="307594"/>
                  </a:moveTo>
                  <a:cubicBezTo>
                    <a:pt x="0" y="137668"/>
                    <a:pt x="137668" y="0"/>
                    <a:pt x="307594" y="0"/>
                  </a:cubicBezTo>
                  <a:lnTo>
                    <a:pt x="5940933" y="0"/>
                  </a:lnTo>
                  <a:cubicBezTo>
                    <a:pt x="6110859" y="0"/>
                    <a:pt x="6248527" y="137668"/>
                    <a:pt x="6248527" y="307594"/>
                  </a:cubicBezTo>
                  <a:lnTo>
                    <a:pt x="6248527" y="2512187"/>
                  </a:lnTo>
                  <a:cubicBezTo>
                    <a:pt x="6248527" y="2682113"/>
                    <a:pt x="6110859" y="2819781"/>
                    <a:pt x="5940933" y="2819781"/>
                  </a:cubicBezTo>
                  <a:lnTo>
                    <a:pt x="307594" y="2819781"/>
                  </a:lnTo>
                  <a:cubicBezTo>
                    <a:pt x="137668" y="2819781"/>
                    <a:pt x="0" y="2682113"/>
                    <a:pt x="0" y="2512187"/>
                  </a:cubicBezTo>
                  <a:close/>
                </a:path>
              </a:pathLst>
            </a:custGeom>
            <a:solidFill>
              <a:srgbClr val="F8FAFD"/>
            </a:solidFill>
            <a:ln w="19050" cap="sq">
              <a:solidFill>
                <a:srgbClr val="D9DEE8"/>
              </a:solidFill>
              <a:prstDash val="solid"/>
              <a:miter/>
            </a:ln>
          </p:spPr>
        </p:sp>
      </p:grpSp>
      <p:sp>
        <p:nvSpPr>
          <p:cNvPr name="TextBox 14" id="14"/>
          <p:cNvSpPr txBox="true"/>
          <p:nvPr/>
        </p:nvSpPr>
        <p:spPr>
          <a:xfrm rot="0">
            <a:off x="3166110" y="6953250"/>
            <a:ext cx="4095598" cy="1524000"/>
          </a:xfrm>
          <a:prstGeom prst="rect">
            <a:avLst/>
          </a:prstGeom>
        </p:spPr>
        <p:txBody>
          <a:bodyPr anchor="t" rtlCol="false" tIns="0" lIns="0" bIns="0" rIns="0">
            <a:spAutoFit/>
          </a:bodyPr>
          <a:lstStyle/>
          <a:p>
            <a:pPr algn="l">
              <a:lnSpc>
                <a:spcPts val="2160"/>
              </a:lnSpc>
            </a:pPr>
            <a:r>
              <a:rPr lang="en-US" b="true" sz="1800">
                <a:solidFill>
                  <a:srgbClr val="191E3A"/>
                </a:solidFill>
                <a:latin typeface="DM Sans Bold"/>
                <a:ea typeface="DM Sans Bold"/>
                <a:cs typeface="DM Sans Bold"/>
                <a:sym typeface="DM Sans Bold"/>
              </a:rPr>
              <a:t>TREND</a:t>
            </a:r>
          </a:p>
          <a:p>
            <a:pPr algn="l">
              <a:lnSpc>
                <a:spcPts val="2640"/>
              </a:lnSpc>
            </a:pPr>
            <a:r>
              <a:rPr lang="en-US" sz="2200">
                <a:solidFill>
                  <a:srgbClr val="667085"/>
                </a:solidFill>
                <a:latin typeface="DM Sans"/>
                <a:ea typeface="DM Sans"/>
                <a:cs typeface="DM Sans"/>
                <a:sym typeface="DM Sans"/>
              </a:rPr>
              <a:t>Entanglement increases with depth: roughly 0.68 at depth 2 and 0.97 at depth 6.</a:t>
            </a:r>
          </a:p>
        </p:txBody>
      </p:sp>
      <p:grpSp>
        <p:nvGrpSpPr>
          <p:cNvPr name="Group 15" id="15"/>
          <p:cNvGrpSpPr/>
          <p:nvPr/>
        </p:nvGrpSpPr>
        <p:grpSpPr>
          <a:xfrm rot="0">
            <a:off x="7919085" y="6657975"/>
            <a:ext cx="4686452" cy="2114845"/>
            <a:chOff x="0" y="0"/>
            <a:chExt cx="6248603" cy="2819794"/>
          </a:xfrm>
        </p:grpSpPr>
        <p:sp>
          <p:nvSpPr>
            <p:cNvPr name="Freeform 16" id="16"/>
            <p:cNvSpPr/>
            <p:nvPr/>
          </p:nvSpPr>
          <p:spPr>
            <a:xfrm flipH="false" flipV="false" rot="0">
              <a:off x="0" y="0"/>
              <a:ext cx="6248527" cy="2819781"/>
            </a:xfrm>
            <a:custGeom>
              <a:avLst/>
              <a:gdLst/>
              <a:ahLst/>
              <a:cxnLst/>
              <a:rect r="r" b="b" t="t" l="l"/>
              <a:pathLst>
                <a:path h="2819781" w="6248527">
                  <a:moveTo>
                    <a:pt x="0" y="307594"/>
                  </a:moveTo>
                  <a:cubicBezTo>
                    <a:pt x="0" y="137668"/>
                    <a:pt x="137668" y="0"/>
                    <a:pt x="307594" y="0"/>
                  </a:cubicBezTo>
                  <a:lnTo>
                    <a:pt x="5940933" y="0"/>
                  </a:lnTo>
                  <a:cubicBezTo>
                    <a:pt x="6110859" y="0"/>
                    <a:pt x="6248527" y="137668"/>
                    <a:pt x="6248527" y="307594"/>
                  </a:cubicBezTo>
                  <a:lnTo>
                    <a:pt x="6248527" y="2512187"/>
                  </a:lnTo>
                  <a:cubicBezTo>
                    <a:pt x="6248527" y="2682113"/>
                    <a:pt x="6110859" y="2819781"/>
                    <a:pt x="5940933" y="2819781"/>
                  </a:cubicBezTo>
                  <a:lnTo>
                    <a:pt x="307594" y="2819781"/>
                  </a:lnTo>
                  <a:cubicBezTo>
                    <a:pt x="137668" y="2819781"/>
                    <a:pt x="0" y="2682113"/>
                    <a:pt x="0" y="2512187"/>
                  </a:cubicBezTo>
                  <a:close/>
                </a:path>
              </a:pathLst>
            </a:custGeom>
            <a:solidFill>
              <a:srgbClr val="EFF6FF"/>
            </a:solidFill>
            <a:ln w="19050" cap="sq">
              <a:solidFill>
                <a:srgbClr val="BCCFF7"/>
              </a:solidFill>
              <a:prstDash val="solid"/>
              <a:miter/>
            </a:ln>
          </p:spPr>
        </p:sp>
      </p:grpSp>
      <p:sp>
        <p:nvSpPr>
          <p:cNvPr name="TextBox 17" id="17"/>
          <p:cNvSpPr txBox="true"/>
          <p:nvPr/>
        </p:nvSpPr>
        <p:spPr>
          <a:xfrm rot="0">
            <a:off x="8214360" y="6953250"/>
            <a:ext cx="4095598" cy="1524000"/>
          </a:xfrm>
          <a:prstGeom prst="rect">
            <a:avLst/>
          </a:prstGeom>
        </p:spPr>
        <p:txBody>
          <a:bodyPr anchor="t" rtlCol="false" tIns="0" lIns="0" bIns="0" rIns="0">
            <a:spAutoFit/>
          </a:bodyPr>
          <a:lstStyle/>
          <a:p>
            <a:pPr algn="l">
              <a:lnSpc>
                <a:spcPts val="2160"/>
              </a:lnSpc>
            </a:pPr>
            <a:r>
              <a:rPr lang="en-US" b="true" sz="1800">
                <a:solidFill>
                  <a:srgbClr val="191E3A"/>
                </a:solidFill>
                <a:latin typeface="DM Sans Bold"/>
                <a:ea typeface="DM Sans Bold"/>
                <a:cs typeface="DM Sans Bold"/>
                <a:sym typeface="DM Sans Bold"/>
              </a:rPr>
              <a:t>COMPARISON RULE</a:t>
            </a:r>
          </a:p>
          <a:p>
            <a:pPr algn="l">
              <a:lnSpc>
                <a:spcPts val="2640"/>
              </a:lnSpc>
            </a:pPr>
            <a:r>
              <a:rPr lang="en-US" sz="2200">
                <a:solidFill>
                  <a:srgbClr val="667085"/>
                </a:solidFill>
                <a:latin typeface="DM Sans"/>
                <a:ea typeface="DM Sans"/>
                <a:cs typeface="DM Sans"/>
                <a:sym typeface="DM Sans"/>
              </a:rPr>
              <a:t>Compare d against h95(d), not just the individual means.</a:t>
            </a:r>
          </a:p>
        </p:txBody>
      </p:sp>
      <p:grpSp>
        <p:nvGrpSpPr>
          <p:cNvPr name="Group 18" id="18"/>
          <p:cNvGrpSpPr/>
          <p:nvPr/>
        </p:nvGrpSpPr>
        <p:grpSpPr>
          <a:xfrm rot="0">
            <a:off x="12967335" y="6657975"/>
            <a:ext cx="4591050" cy="2114845"/>
            <a:chOff x="0" y="0"/>
            <a:chExt cx="6121400" cy="2819794"/>
          </a:xfrm>
        </p:grpSpPr>
        <p:sp>
          <p:nvSpPr>
            <p:cNvPr name="Freeform 19" id="19"/>
            <p:cNvSpPr/>
            <p:nvPr/>
          </p:nvSpPr>
          <p:spPr>
            <a:xfrm flipH="false" flipV="false" rot="0">
              <a:off x="0" y="0"/>
              <a:ext cx="6121400" cy="2819781"/>
            </a:xfrm>
            <a:custGeom>
              <a:avLst/>
              <a:gdLst/>
              <a:ahLst/>
              <a:cxnLst/>
              <a:rect r="r" b="b" t="t" l="l"/>
              <a:pathLst>
                <a:path h="2819781" w="6121400">
                  <a:moveTo>
                    <a:pt x="0" y="307594"/>
                  </a:moveTo>
                  <a:cubicBezTo>
                    <a:pt x="0" y="137668"/>
                    <a:pt x="137668" y="0"/>
                    <a:pt x="307594" y="0"/>
                  </a:cubicBezTo>
                  <a:lnTo>
                    <a:pt x="5813806" y="0"/>
                  </a:lnTo>
                  <a:cubicBezTo>
                    <a:pt x="5983732" y="0"/>
                    <a:pt x="6121400" y="137668"/>
                    <a:pt x="6121400" y="307594"/>
                  </a:cubicBezTo>
                  <a:lnTo>
                    <a:pt x="6121400" y="2512187"/>
                  </a:lnTo>
                  <a:cubicBezTo>
                    <a:pt x="6121400" y="2682113"/>
                    <a:pt x="5983732" y="2819781"/>
                    <a:pt x="5813806" y="2819781"/>
                  </a:cubicBezTo>
                  <a:lnTo>
                    <a:pt x="307594" y="2819781"/>
                  </a:lnTo>
                  <a:cubicBezTo>
                    <a:pt x="137668" y="2819781"/>
                    <a:pt x="0" y="2682113"/>
                    <a:pt x="0" y="2512187"/>
                  </a:cubicBezTo>
                  <a:close/>
                </a:path>
              </a:pathLst>
            </a:custGeom>
            <a:solidFill>
              <a:srgbClr val="F8FAFD"/>
            </a:solidFill>
            <a:ln w="19050" cap="sq">
              <a:solidFill>
                <a:srgbClr val="D9DEE8"/>
              </a:solidFill>
              <a:prstDash val="solid"/>
              <a:miter/>
            </a:ln>
          </p:spPr>
        </p:sp>
      </p:grpSp>
      <p:sp>
        <p:nvSpPr>
          <p:cNvPr name="TextBox 20" id="20"/>
          <p:cNvSpPr txBox="true"/>
          <p:nvPr/>
        </p:nvSpPr>
        <p:spPr>
          <a:xfrm rot="0">
            <a:off x="13262610" y="6953250"/>
            <a:ext cx="4000205" cy="1524000"/>
          </a:xfrm>
          <a:prstGeom prst="rect">
            <a:avLst/>
          </a:prstGeom>
        </p:spPr>
        <p:txBody>
          <a:bodyPr anchor="t" rtlCol="false" tIns="0" lIns="0" bIns="0" rIns="0">
            <a:spAutoFit/>
          </a:bodyPr>
          <a:lstStyle/>
          <a:p>
            <a:pPr algn="l">
              <a:lnSpc>
                <a:spcPts val="2160"/>
              </a:lnSpc>
            </a:pPr>
            <a:r>
              <a:rPr lang="en-US" b="true" sz="1800">
                <a:solidFill>
                  <a:srgbClr val="191E3A"/>
                </a:solidFill>
                <a:latin typeface="DM Sans Bold"/>
                <a:ea typeface="DM Sans Bold"/>
                <a:cs typeface="DM Sans Bold"/>
                <a:sym typeface="DM Sans Bold"/>
              </a:rPr>
              <a:t>CAUTION</a:t>
            </a:r>
          </a:p>
          <a:p>
            <a:pPr algn="l">
              <a:lnSpc>
                <a:spcPts val="2640"/>
              </a:lnSpc>
            </a:pPr>
            <a:r>
              <a:rPr lang="en-US" sz="2200">
                <a:solidFill>
                  <a:srgbClr val="667085"/>
                </a:solidFill>
                <a:latin typeface="DM Sans"/>
                <a:ea typeface="DM Sans"/>
                <a:cs typeface="DM Sans"/>
                <a:sym typeface="DM Sans"/>
              </a:rPr>
              <a:t>The depth-6 effect is small and should be reported with drift uncertainty.</a:t>
            </a:r>
          </a:p>
        </p:txBody>
      </p:sp>
      <p:grpSp>
        <p:nvGrpSpPr>
          <p:cNvPr name="Group 21" id="21"/>
          <p:cNvGrpSpPr/>
          <p:nvPr/>
        </p:nvGrpSpPr>
        <p:grpSpPr>
          <a:xfrm rot="0">
            <a:off x="268214" y="348844"/>
            <a:ext cx="1889303" cy="1889303"/>
            <a:chOff x="0" y="0"/>
            <a:chExt cx="2519070" cy="2519070"/>
          </a:xfrm>
        </p:grpSpPr>
        <p:sp>
          <p:nvSpPr>
            <p:cNvPr name="Freeform 22" id="22"/>
            <p:cNvSpPr/>
            <p:nvPr/>
          </p:nvSpPr>
          <p:spPr>
            <a:xfrm flipH="false" flipV="false" rot="0">
              <a:off x="0" y="0"/>
              <a:ext cx="2519045" cy="2519045"/>
            </a:xfrm>
            <a:custGeom>
              <a:avLst/>
              <a:gdLst/>
              <a:ahLst/>
              <a:cxnLst/>
              <a:rect r="r" b="b" t="t" l="l"/>
              <a:pathLst>
                <a:path h="2519045" w="2519045">
                  <a:moveTo>
                    <a:pt x="0" y="0"/>
                  </a:moveTo>
                  <a:lnTo>
                    <a:pt x="2519045" y="0"/>
                  </a:lnTo>
                  <a:lnTo>
                    <a:pt x="2519045" y="2519045"/>
                  </a:lnTo>
                  <a:lnTo>
                    <a:pt x="0" y="2519045"/>
                  </a:lnTo>
                  <a:lnTo>
                    <a:pt x="0" y="0"/>
                  </a:lnTo>
                  <a:close/>
                </a:path>
              </a:pathLst>
            </a:custGeom>
            <a:blipFill>
              <a:blip r:embed="rId6"/>
              <a:stretch>
                <a:fillRect l="0" t="0" r="-1" b="-1"/>
              </a:stretch>
            </a:blipFill>
          </p:spPr>
        </p:sp>
      </p:gr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910933"/>
            <a:ext cx="2033921" cy="11964200"/>
          </a:xfrm>
          <a:custGeom>
            <a:avLst/>
            <a:gdLst/>
            <a:ahLst/>
            <a:cxnLst/>
            <a:rect r="r" b="b" t="t" l="l"/>
            <a:pathLst>
              <a:path h="11964200" w="2033921">
                <a:moveTo>
                  <a:pt x="0" y="0"/>
                </a:moveTo>
                <a:lnTo>
                  <a:pt x="2033921" y="0"/>
                </a:lnTo>
                <a:lnTo>
                  <a:pt x="2033921" y="11964200"/>
                </a:lnTo>
                <a:lnTo>
                  <a:pt x="0" y="119642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0" y="-910933"/>
            <a:ext cx="2425722" cy="11964200"/>
          </a:xfrm>
          <a:custGeom>
            <a:avLst/>
            <a:gdLst/>
            <a:ahLst/>
            <a:cxnLst/>
            <a:rect r="r" b="b" t="t" l="l"/>
            <a:pathLst>
              <a:path h="11964200" w="2425722">
                <a:moveTo>
                  <a:pt x="0" y="0"/>
                </a:moveTo>
                <a:lnTo>
                  <a:pt x="2425722" y="0"/>
                </a:lnTo>
                <a:lnTo>
                  <a:pt x="2425722" y="11964200"/>
                </a:lnTo>
                <a:lnTo>
                  <a:pt x="0" y="119642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4" id="4"/>
          <p:cNvGrpSpPr/>
          <p:nvPr/>
        </p:nvGrpSpPr>
        <p:grpSpPr>
          <a:xfrm rot="0">
            <a:off x="268205" y="348844"/>
            <a:ext cx="1889303" cy="1889303"/>
            <a:chOff x="0" y="0"/>
            <a:chExt cx="2519070" cy="2519070"/>
          </a:xfrm>
        </p:grpSpPr>
        <p:sp>
          <p:nvSpPr>
            <p:cNvPr name="Freeform 5" id="5"/>
            <p:cNvSpPr/>
            <p:nvPr/>
          </p:nvSpPr>
          <p:spPr>
            <a:xfrm flipH="false" flipV="false" rot="0">
              <a:off x="0" y="0"/>
              <a:ext cx="2519045" cy="2519045"/>
            </a:xfrm>
            <a:custGeom>
              <a:avLst/>
              <a:gdLst/>
              <a:ahLst/>
              <a:cxnLst/>
              <a:rect r="r" b="b" t="t" l="l"/>
              <a:pathLst>
                <a:path h="2519045" w="2519045">
                  <a:moveTo>
                    <a:pt x="0" y="0"/>
                  </a:moveTo>
                  <a:lnTo>
                    <a:pt x="2519045" y="0"/>
                  </a:lnTo>
                  <a:lnTo>
                    <a:pt x="2519045" y="2519045"/>
                  </a:lnTo>
                  <a:lnTo>
                    <a:pt x="0" y="2519045"/>
                  </a:lnTo>
                  <a:lnTo>
                    <a:pt x="0" y="0"/>
                  </a:lnTo>
                  <a:close/>
                </a:path>
              </a:pathLst>
            </a:custGeom>
            <a:blipFill>
              <a:blip r:embed="rId6"/>
              <a:stretch>
                <a:fillRect l="0" t="0" r="-1" b="-1"/>
              </a:stretch>
            </a:blipFill>
          </p:spPr>
        </p:sp>
      </p:grpSp>
      <p:grpSp>
        <p:nvGrpSpPr>
          <p:cNvPr name="Group 6" id="6"/>
          <p:cNvGrpSpPr/>
          <p:nvPr/>
        </p:nvGrpSpPr>
        <p:grpSpPr>
          <a:xfrm rot="0">
            <a:off x="3183741" y="8896464"/>
            <a:ext cx="14760673" cy="38100"/>
            <a:chOff x="0" y="0"/>
            <a:chExt cx="19680898" cy="50800"/>
          </a:xfrm>
        </p:grpSpPr>
        <p:sp>
          <p:nvSpPr>
            <p:cNvPr name="Freeform 7" id="7"/>
            <p:cNvSpPr/>
            <p:nvPr/>
          </p:nvSpPr>
          <p:spPr>
            <a:xfrm flipH="false" flipV="false" rot="0">
              <a:off x="0" y="0"/>
              <a:ext cx="19680937" cy="50800"/>
            </a:xfrm>
            <a:custGeom>
              <a:avLst/>
              <a:gdLst/>
              <a:ahLst/>
              <a:cxnLst/>
              <a:rect r="r" b="b" t="t" l="l"/>
              <a:pathLst>
                <a:path h="50800" w="19680937">
                  <a:moveTo>
                    <a:pt x="0" y="0"/>
                  </a:moveTo>
                  <a:lnTo>
                    <a:pt x="19680937" y="50800"/>
                  </a:lnTo>
                </a:path>
              </a:pathLst>
            </a:custGeom>
            <a:blipFill>
              <a:blip r:embed="rId7">
                <a:alphaModFix amt="0"/>
              </a:blip>
              <a:stretch>
                <a:fillRect l="0" t="-7498878" r="0" b="-7498878"/>
              </a:stretch>
            </a:blipFill>
            <a:ln w="50800" cap="sq">
              <a:solidFill>
                <a:srgbClr val="000000"/>
              </a:solidFill>
              <a:prstDash val="solid"/>
              <a:miter/>
            </a:ln>
          </p:spPr>
        </p:sp>
      </p:grpSp>
      <p:sp>
        <p:nvSpPr>
          <p:cNvPr name="TextBox 8" id="8"/>
          <p:cNvSpPr txBox="true"/>
          <p:nvPr/>
        </p:nvSpPr>
        <p:spPr>
          <a:xfrm rot="0">
            <a:off x="2877160" y="800100"/>
            <a:ext cx="14241894" cy="1149982"/>
          </a:xfrm>
          <a:prstGeom prst="rect">
            <a:avLst/>
          </a:prstGeom>
        </p:spPr>
        <p:txBody>
          <a:bodyPr anchor="t" rtlCol="false" tIns="0" lIns="0" bIns="0" rIns="0">
            <a:spAutoFit/>
          </a:bodyPr>
          <a:lstStyle/>
          <a:p>
            <a:pPr algn="l">
              <a:lnSpc>
                <a:spcPts val="8539"/>
              </a:lnSpc>
            </a:pPr>
            <a:r>
              <a:rPr lang="en-US" sz="6098">
                <a:solidFill>
                  <a:srgbClr val="191E3A"/>
                </a:solidFill>
                <a:latin typeface="Libre Baskerville"/>
                <a:ea typeface="Libre Baskerville"/>
                <a:cs typeface="Libre Baskerville"/>
                <a:sym typeface="Libre Baskerville"/>
              </a:rPr>
              <a:t>Does it survive real hardware?</a:t>
            </a:r>
          </a:p>
        </p:txBody>
      </p:sp>
      <p:sp>
        <p:nvSpPr>
          <p:cNvPr name="TextBox 9" id="9"/>
          <p:cNvSpPr txBox="true"/>
          <p:nvPr/>
        </p:nvSpPr>
        <p:spPr>
          <a:xfrm rot="0">
            <a:off x="2877160" y="2198046"/>
            <a:ext cx="15048205" cy="1671320"/>
          </a:xfrm>
          <a:prstGeom prst="rect">
            <a:avLst/>
          </a:prstGeom>
        </p:spPr>
        <p:txBody>
          <a:bodyPr anchor="t" rtlCol="false" tIns="0" lIns="0" bIns="0" rIns="0">
            <a:spAutoFit/>
          </a:bodyPr>
          <a:lstStyle/>
          <a:p>
            <a:pPr algn="just">
              <a:lnSpc>
                <a:spcPts val="4480"/>
              </a:lnSpc>
            </a:pPr>
            <a:r>
              <a:rPr lang="en-US" sz="3200">
                <a:solidFill>
                  <a:srgbClr val="000000"/>
                </a:solidFill>
                <a:latin typeface="DM Sans"/>
                <a:ea typeface="DM Sans"/>
                <a:cs typeface="DM Sans"/>
                <a:sym typeface="DM Sans"/>
              </a:rPr>
              <a:t>Every decision is one number, sign of ⟨Z₀⟩, known exactly in simulation. Expressibility isn’t accuracy — what does hardware noise do to the trained classifier’s decisions?</a:t>
            </a:r>
          </a:p>
        </p:txBody>
      </p:sp>
      <p:pic>
        <p:nvPicPr>
          <p:cNvPr name="Picture 10" id="10"/>
          <p:cNvPicPr>
            <a:picLocks noChangeAspect="true"/>
          </p:cNvPicPr>
          <p:nvPr/>
        </p:nvPicPr>
        <p:blipFill>
          <a:blip r:embed="rId8"/>
          <a:stretch>
            <a:fillRect/>
          </a:stretch>
        </p:blipFill>
        <p:spPr>
          <a:xfrm rot="0">
            <a:off x="3690920" y="3445773"/>
            <a:ext cx="13420685" cy="2743785"/>
          </a:xfrm>
          <a:prstGeom prst="rect">
            <a:avLst/>
          </a:prstGeom>
        </p:spPr>
      </p:pic>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910933"/>
            <a:ext cx="2033921" cy="11964200"/>
          </a:xfrm>
          <a:custGeom>
            <a:avLst/>
            <a:gdLst/>
            <a:ahLst/>
            <a:cxnLst/>
            <a:rect r="r" b="b" t="t" l="l"/>
            <a:pathLst>
              <a:path h="11964200" w="2033921">
                <a:moveTo>
                  <a:pt x="0" y="0"/>
                </a:moveTo>
                <a:lnTo>
                  <a:pt x="2033921" y="0"/>
                </a:lnTo>
                <a:lnTo>
                  <a:pt x="2033921" y="11964200"/>
                </a:lnTo>
                <a:lnTo>
                  <a:pt x="0" y="119642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0" y="-910933"/>
            <a:ext cx="2425722" cy="11964200"/>
          </a:xfrm>
          <a:custGeom>
            <a:avLst/>
            <a:gdLst/>
            <a:ahLst/>
            <a:cxnLst/>
            <a:rect r="r" b="b" t="t" l="l"/>
            <a:pathLst>
              <a:path h="11964200" w="2425722">
                <a:moveTo>
                  <a:pt x="0" y="0"/>
                </a:moveTo>
                <a:lnTo>
                  <a:pt x="2425722" y="0"/>
                </a:lnTo>
                <a:lnTo>
                  <a:pt x="2425722" y="11964200"/>
                </a:lnTo>
                <a:lnTo>
                  <a:pt x="0" y="119642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4" id="4"/>
          <p:cNvGrpSpPr/>
          <p:nvPr/>
        </p:nvGrpSpPr>
        <p:grpSpPr>
          <a:xfrm rot="0">
            <a:off x="268205" y="348844"/>
            <a:ext cx="1889303" cy="1889303"/>
            <a:chOff x="0" y="0"/>
            <a:chExt cx="2519070" cy="2519070"/>
          </a:xfrm>
        </p:grpSpPr>
        <p:sp>
          <p:nvSpPr>
            <p:cNvPr name="Freeform 5" id="5"/>
            <p:cNvSpPr/>
            <p:nvPr/>
          </p:nvSpPr>
          <p:spPr>
            <a:xfrm flipH="false" flipV="false" rot="0">
              <a:off x="0" y="0"/>
              <a:ext cx="2519045" cy="2519045"/>
            </a:xfrm>
            <a:custGeom>
              <a:avLst/>
              <a:gdLst/>
              <a:ahLst/>
              <a:cxnLst/>
              <a:rect r="r" b="b" t="t" l="l"/>
              <a:pathLst>
                <a:path h="2519045" w="2519045">
                  <a:moveTo>
                    <a:pt x="0" y="0"/>
                  </a:moveTo>
                  <a:lnTo>
                    <a:pt x="2519045" y="0"/>
                  </a:lnTo>
                  <a:lnTo>
                    <a:pt x="2519045" y="2519045"/>
                  </a:lnTo>
                  <a:lnTo>
                    <a:pt x="0" y="2519045"/>
                  </a:lnTo>
                  <a:lnTo>
                    <a:pt x="0" y="0"/>
                  </a:lnTo>
                  <a:close/>
                </a:path>
              </a:pathLst>
            </a:custGeom>
            <a:blipFill>
              <a:blip r:embed="rId6"/>
              <a:stretch>
                <a:fillRect l="0" t="0" r="-1" b="-1"/>
              </a:stretch>
            </a:blipFill>
          </p:spPr>
        </p:sp>
      </p:grpSp>
      <p:sp>
        <p:nvSpPr>
          <p:cNvPr name="TextBox 6" id="6"/>
          <p:cNvSpPr txBox="true"/>
          <p:nvPr/>
        </p:nvSpPr>
        <p:spPr>
          <a:xfrm rot="0">
            <a:off x="2877160" y="800100"/>
            <a:ext cx="14246352" cy="1149982"/>
          </a:xfrm>
          <a:prstGeom prst="rect">
            <a:avLst/>
          </a:prstGeom>
        </p:spPr>
        <p:txBody>
          <a:bodyPr anchor="t" rtlCol="false" tIns="0" lIns="0" bIns="0" rIns="0">
            <a:spAutoFit/>
          </a:bodyPr>
          <a:lstStyle/>
          <a:p>
            <a:pPr algn="l">
              <a:lnSpc>
                <a:spcPts val="8539"/>
              </a:lnSpc>
            </a:pPr>
            <a:r>
              <a:rPr lang="en-US" sz="6098">
                <a:solidFill>
                  <a:srgbClr val="191E3A"/>
                </a:solidFill>
                <a:latin typeface="Libre Baskerville"/>
                <a:ea typeface="Libre Baskerville"/>
                <a:cs typeface="Libre Baskerville"/>
                <a:sym typeface="Libre Baskerville"/>
              </a:rPr>
              <a:t>What hardware does to the scores</a:t>
            </a:r>
          </a:p>
        </p:txBody>
      </p:sp>
      <p:sp>
        <p:nvSpPr>
          <p:cNvPr name="TextBox 7" id="7"/>
          <p:cNvSpPr txBox="true"/>
          <p:nvPr/>
        </p:nvSpPr>
        <p:spPr>
          <a:xfrm rot="0">
            <a:off x="2877160" y="2198046"/>
            <a:ext cx="15048205" cy="1671320"/>
          </a:xfrm>
          <a:prstGeom prst="rect">
            <a:avLst/>
          </a:prstGeom>
        </p:spPr>
        <p:txBody>
          <a:bodyPr anchor="t" rtlCol="false" tIns="0" lIns="0" bIns="0" rIns="0">
            <a:spAutoFit/>
          </a:bodyPr>
          <a:lstStyle/>
          <a:p>
            <a:pPr algn="just">
              <a:lnSpc>
                <a:spcPts val="4480"/>
              </a:lnSpc>
            </a:pPr>
            <a:r>
              <a:rPr lang="en-US" sz="3200">
                <a:solidFill>
                  <a:srgbClr val="000000"/>
                </a:solidFill>
                <a:latin typeface="DM Sans"/>
                <a:ea typeface="DM Sans"/>
                <a:cs typeface="DM Sans"/>
                <a:sym typeface="DM Sans"/>
              </a:rPr>
              <a:t>Hardware contracts every score toward the boundary (λ &lt; 1). A single constant offset b then acts asymmetrically — it trims one class's margin and pads the other's.</a:t>
            </a:r>
          </a:p>
        </p:txBody>
      </p:sp>
      <p:grpSp>
        <p:nvGrpSpPr>
          <p:cNvPr name="Group 8" id="8"/>
          <p:cNvGrpSpPr/>
          <p:nvPr/>
        </p:nvGrpSpPr>
        <p:grpSpPr>
          <a:xfrm rot="0">
            <a:off x="3183741" y="8896464"/>
            <a:ext cx="14760673" cy="38100"/>
            <a:chOff x="0" y="0"/>
            <a:chExt cx="19680898" cy="50800"/>
          </a:xfrm>
        </p:grpSpPr>
        <p:sp>
          <p:nvSpPr>
            <p:cNvPr name="Freeform 9" id="9"/>
            <p:cNvSpPr/>
            <p:nvPr/>
          </p:nvSpPr>
          <p:spPr>
            <a:xfrm flipH="false" flipV="false" rot="0">
              <a:off x="0" y="0"/>
              <a:ext cx="19680937" cy="50800"/>
            </a:xfrm>
            <a:custGeom>
              <a:avLst/>
              <a:gdLst/>
              <a:ahLst/>
              <a:cxnLst/>
              <a:rect r="r" b="b" t="t" l="l"/>
              <a:pathLst>
                <a:path h="50800" w="19680937">
                  <a:moveTo>
                    <a:pt x="0" y="0"/>
                  </a:moveTo>
                  <a:lnTo>
                    <a:pt x="19680937" y="50800"/>
                  </a:lnTo>
                </a:path>
              </a:pathLst>
            </a:custGeom>
            <a:blipFill>
              <a:blip r:embed="rId7">
                <a:alphaModFix amt="0"/>
              </a:blip>
              <a:stretch>
                <a:fillRect l="0" t="-7498878" r="0" b="-7498878"/>
              </a:stretch>
            </a:blipFill>
            <a:ln w="50800" cap="sq">
              <a:solidFill>
                <a:srgbClr val="000000"/>
              </a:solidFill>
              <a:prstDash val="solid"/>
              <a:miter/>
            </a:ln>
          </p:spPr>
        </p:sp>
      </p:grpSp>
      <p:grpSp>
        <p:nvGrpSpPr>
          <p:cNvPr name="Group 10" id="10"/>
          <p:cNvGrpSpPr/>
          <p:nvPr/>
        </p:nvGrpSpPr>
        <p:grpSpPr>
          <a:xfrm rot="0">
            <a:off x="5691028" y="3689574"/>
            <a:ext cx="8618615" cy="5840299"/>
            <a:chOff x="0" y="0"/>
            <a:chExt cx="10679290" cy="7236691"/>
          </a:xfrm>
        </p:grpSpPr>
        <p:sp>
          <p:nvSpPr>
            <p:cNvPr name="Freeform 11" id="11"/>
            <p:cNvSpPr/>
            <p:nvPr/>
          </p:nvSpPr>
          <p:spPr>
            <a:xfrm flipH="false" flipV="false" rot="0">
              <a:off x="0" y="0"/>
              <a:ext cx="10679303" cy="7236691"/>
            </a:xfrm>
            <a:custGeom>
              <a:avLst/>
              <a:gdLst/>
              <a:ahLst/>
              <a:cxnLst/>
              <a:rect r="r" b="b" t="t" l="l"/>
              <a:pathLst>
                <a:path h="7236691" w="10679303">
                  <a:moveTo>
                    <a:pt x="0" y="0"/>
                  </a:moveTo>
                  <a:lnTo>
                    <a:pt x="10679303" y="0"/>
                  </a:lnTo>
                  <a:lnTo>
                    <a:pt x="10679303" y="7236691"/>
                  </a:lnTo>
                  <a:lnTo>
                    <a:pt x="0" y="7236691"/>
                  </a:lnTo>
                  <a:lnTo>
                    <a:pt x="0" y="0"/>
                  </a:lnTo>
                  <a:close/>
                </a:path>
              </a:pathLst>
            </a:custGeom>
            <a:blipFill>
              <a:blip r:embed="rId8"/>
              <a:stretch>
                <a:fillRect l="-44" t="0" r="-44" b="0"/>
              </a:stretch>
            </a:blipFill>
          </p:spPr>
        </p:sp>
      </p:gr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910933"/>
            <a:ext cx="2033921" cy="11964200"/>
          </a:xfrm>
          <a:custGeom>
            <a:avLst/>
            <a:gdLst/>
            <a:ahLst/>
            <a:cxnLst/>
            <a:rect r="r" b="b" t="t" l="l"/>
            <a:pathLst>
              <a:path h="11964200" w="2033921">
                <a:moveTo>
                  <a:pt x="0" y="0"/>
                </a:moveTo>
                <a:lnTo>
                  <a:pt x="2033921" y="0"/>
                </a:lnTo>
                <a:lnTo>
                  <a:pt x="2033921" y="11964200"/>
                </a:lnTo>
                <a:lnTo>
                  <a:pt x="0" y="119642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0" y="-910933"/>
            <a:ext cx="2425722" cy="11964200"/>
          </a:xfrm>
          <a:custGeom>
            <a:avLst/>
            <a:gdLst/>
            <a:ahLst/>
            <a:cxnLst/>
            <a:rect r="r" b="b" t="t" l="l"/>
            <a:pathLst>
              <a:path h="11964200" w="2425722">
                <a:moveTo>
                  <a:pt x="0" y="0"/>
                </a:moveTo>
                <a:lnTo>
                  <a:pt x="2425722" y="0"/>
                </a:lnTo>
                <a:lnTo>
                  <a:pt x="2425722" y="11964200"/>
                </a:lnTo>
                <a:lnTo>
                  <a:pt x="0" y="119642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4" id="4"/>
          <p:cNvGrpSpPr/>
          <p:nvPr/>
        </p:nvGrpSpPr>
        <p:grpSpPr>
          <a:xfrm rot="0">
            <a:off x="268205" y="348844"/>
            <a:ext cx="1889303" cy="1889303"/>
            <a:chOff x="0" y="0"/>
            <a:chExt cx="2519070" cy="2519070"/>
          </a:xfrm>
        </p:grpSpPr>
        <p:sp>
          <p:nvSpPr>
            <p:cNvPr name="Freeform 5" id="5"/>
            <p:cNvSpPr/>
            <p:nvPr/>
          </p:nvSpPr>
          <p:spPr>
            <a:xfrm flipH="false" flipV="false" rot="0">
              <a:off x="0" y="0"/>
              <a:ext cx="2519045" cy="2519045"/>
            </a:xfrm>
            <a:custGeom>
              <a:avLst/>
              <a:gdLst/>
              <a:ahLst/>
              <a:cxnLst/>
              <a:rect r="r" b="b" t="t" l="l"/>
              <a:pathLst>
                <a:path h="2519045" w="2519045">
                  <a:moveTo>
                    <a:pt x="0" y="0"/>
                  </a:moveTo>
                  <a:lnTo>
                    <a:pt x="2519045" y="0"/>
                  </a:lnTo>
                  <a:lnTo>
                    <a:pt x="2519045" y="2519045"/>
                  </a:lnTo>
                  <a:lnTo>
                    <a:pt x="0" y="2519045"/>
                  </a:lnTo>
                  <a:lnTo>
                    <a:pt x="0" y="0"/>
                  </a:lnTo>
                  <a:close/>
                </a:path>
              </a:pathLst>
            </a:custGeom>
            <a:blipFill>
              <a:blip r:embed="rId6"/>
              <a:stretch>
                <a:fillRect l="0" t="0" r="-1" b="-1"/>
              </a:stretch>
            </a:blipFill>
          </p:spPr>
        </p:sp>
      </p:grpSp>
      <p:sp>
        <p:nvSpPr>
          <p:cNvPr name="TextBox 6" id="6"/>
          <p:cNvSpPr txBox="true"/>
          <p:nvPr/>
        </p:nvSpPr>
        <p:spPr>
          <a:xfrm rot="0">
            <a:off x="2877160" y="800100"/>
            <a:ext cx="14246352" cy="1149982"/>
          </a:xfrm>
          <a:prstGeom prst="rect">
            <a:avLst/>
          </a:prstGeom>
        </p:spPr>
        <p:txBody>
          <a:bodyPr anchor="t" rtlCol="false" tIns="0" lIns="0" bIns="0" rIns="0">
            <a:spAutoFit/>
          </a:bodyPr>
          <a:lstStyle/>
          <a:p>
            <a:pPr algn="l">
              <a:lnSpc>
                <a:spcPts val="8539"/>
              </a:lnSpc>
            </a:pPr>
            <a:r>
              <a:rPr lang="en-US" sz="6098">
                <a:solidFill>
                  <a:srgbClr val="191E3A"/>
                </a:solidFill>
                <a:latin typeface="Libre Baskerville"/>
                <a:ea typeface="Libre Baskerville"/>
                <a:cs typeface="Libre Baskerville"/>
                <a:sym typeface="Libre Baskerville"/>
              </a:rPr>
              <a:t>What hardware does to the scores</a:t>
            </a:r>
          </a:p>
        </p:txBody>
      </p:sp>
      <p:sp>
        <p:nvSpPr>
          <p:cNvPr name="TextBox 7" id="7"/>
          <p:cNvSpPr txBox="true"/>
          <p:nvPr/>
        </p:nvSpPr>
        <p:spPr>
          <a:xfrm rot="0">
            <a:off x="2877160" y="2198046"/>
            <a:ext cx="15048205" cy="1109345"/>
          </a:xfrm>
          <a:prstGeom prst="rect">
            <a:avLst/>
          </a:prstGeom>
        </p:spPr>
        <p:txBody>
          <a:bodyPr anchor="t" rtlCol="false" tIns="0" lIns="0" bIns="0" rIns="0">
            <a:spAutoFit/>
          </a:bodyPr>
          <a:lstStyle/>
          <a:p>
            <a:pPr algn="just">
              <a:lnSpc>
                <a:spcPts val="4480"/>
              </a:lnSpc>
            </a:pPr>
            <a:r>
              <a:rPr lang="en-US" sz="3200">
                <a:solidFill>
                  <a:srgbClr val="000000"/>
                </a:solidFill>
                <a:latin typeface="DM Sans"/>
                <a:ea typeface="DM Sans"/>
                <a:cs typeface="DM Sans"/>
                <a:sym typeface="DM Sans"/>
              </a:rPr>
              <a:t>Hardware contracts every score toward the boundary (λ &lt; 1). A single constant offset b then acts asymmetrically.</a:t>
            </a:r>
          </a:p>
        </p:txBody>
      </p:sp>
      <p:grpSp>
        <p:nvGrpSpPr>
          <p:cNvPr name="Group 8" id="8"/>
          <p:cNvGrpSpPr/>
          <p:nvPr/>
        </p:nvGrpSpPr>
        <p:grpSpPr>
          <a:xfrm rot="0">
            <a:off x="3183741" y="8896464"/>
            <a:ext cx="14760673" cy="38100"/>
            <a:chOff x="0" y="0"/>
            <a:chExt cx="19680898" cy="50800"/>
          </a:xfrm>
        </p:grpSpPr>
        <p:sp>
          <p:nvSpPr>
            <p:cNvPr name="Freeform 9" id="9"/>
            <p:cNvSpPr/>
            <p:nvPr/>
          </p:nvSpPr>
          <p:spPr>
            <a:xfrm flipH="false" flipV="false" rot="0">
              <a:off x="0" y="0"/>
              <a:ext cx="19680937" cy="50800"/>
            </a:xfrm>
            <a:custGeom>
              <a:avLst/>
              <a:gdLst/>
              <a:ahLst/>
              <a:cxnLst/>
              <a:rect r="r" b="b" t="t" l="l"/>
              <a:pathLst>
                <a:path h="50800" w="19680937">
                  <a:moveTo>
                    <a:pt x="0" y="0"/>
                  </a:moveTo>
                  <a:lnTo>
                    <a:pt x="19680937" y="50800"/>
                  </a:lnTo>
                </a:path>
              </a:pathLst>
            </a:custGeom>
            <a:blipFill>
              <a:blip r:embed="rId7">
                <a:alphaModFix amt="0"/>
              </a:blip>
              <a:stretch>
                <a:fillRect l="0" t="-7498878" r="0" b="-7498878"/>
              </a:stretch>
            </a:blipFill>
            <a:ln w="50800" cap="sq">
              <a:solidFill>
                <a:srgbClr val="000000"/>
              </a:solidFill>
              <a:prstDash val="solid"/>
              <a:miter/>
            </a:ln>
          </p:spPr>
        </p:sp>
      </p:grpSp>
      <p:grpSp>
        <p:nvGrpSpPr>
          <p:cNvPr name="Group 10" id="10"/>
          <p:cNvGrpSpPr/>
          <p:nvPr/>
        </p:nvGrpSpPr>
        <p:grpSpPr>
          <a:xfrm rot="0">
            <a:off x="5691028" y="3689574"/>
            <a:ext cx="8618615" cy="5840299"/>
            <a:chOff x="0" y="0"/>
            <a:chExt cx="10679290" cy="7236691"/>
          </a:xfrm>
        </p:grpSpPr>
        <p:sp>
          <p:nvSpPr>
            <p:cNvPr name="Freeform 11" id="11"/>
            <p:cNvSpPr/>
            <p:nvPr/>
          </p:nvSpPr>
          <p:spPr>
            <a:xfrm flipH="false" flipV="false" rot="0">
              <a:off x="0" y="0"/>
              <a:ext cx="10679303" cy="7236691"/>
            </a:xfrm>
            <a:custGeom>
              <a:avLst/>
              <a:gdLst/>
              <a:ahLst/>
              <a:cxnLst/>
              <a:rect r="r" b="b" t="t" l="l"/>
              <a:pathLst>
                <a:path h="7236691" w="10679303">
                  <a:moveTo>
                    <a:pt x="0" y="0"/>
                  </a:moveTo>
                  <a:lnTo>
                    <a:pt x="10679303" y="0"/>
                  </a:lnTo>
                  <a:lnTo>
                    <a:pt x="10679303" y="7236691"/>
                  </a:lnTo>
                  <a:lnTo>
                    <a:pt x="0" y="7236691"/>
                  </a:lnTo>
                  <a:lnTo>
                    <a:pt x="0" y="0"/>
                  </a:lnTo>
                  <a:close/>
                </a:path>
              </a:pathLst>
            </a:custGeom>
            <a:blipFill>
              <a:blip r:embed="rId8"/>
              <a:stretch>
                <a:fillRect l="-44" t="0" r="-44" b="0"/>
              </a:stretch>
            </a:blipFill>
          </p:spPr>
        </p:sp>
      </p:gr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910933"/>
            <a:ext cx="2033921" cy="11964200"/>
          </a:xfrm>
          <a:custGeom>
            <a:avLst/>
            <a:gdLst/>
            <a:ahLst/>
            <a:cxnLst/>
            <a:rect r="r" b="b" t="t" l="l"/>
            <a:pathLst>
              <a:path h="11964200" w="2033921">
                <a:moveTo>
                  <a:pt x="0" y="0"/>
                </a:moveTo>
                <a:lnTo>
                  <a:pt x="2033921" y="0"/>
                </a:lnTo>
                <a:lnTo>
                  <a:pt x="2033921" y="11964200"/>
                </a:lnTo>
                <a:lnTo>
                  <a:pt x="0" y="119642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0" y="-910933"/>
            <a:ext cx="2425722" cy="11964200"/>
          </a:xfrm>
          <a:custGeom>
            <a:avLst/>
            <a:gdLst/>
            <a:ahLst/>
            <a:cxnLst/>
            <a:rect r="r" b="b" t="t" l="l"/>
            <a:pathLst>
              <a:path h="11964200" w="2425722">
                <a:moveTo>
                  <a:pt x="0" y="0"/>
                </a:moveTo>
                <a:lnTo>
                  <a:pt x="2425722" y="0"/>
                </a:lnTo>
                <a:lnTo>
                  <a:pt x="2425722" y="11964200"/>
                </a:lnTo>
                <a:lnTo>
                  <a:pt x="0" y="119642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4" id="4"/>
          <p:cNvGrpSpPr/>
          <p:nvPr/>
        </p:nvGrpSpPr>
        <p:grpSpPr>
          <a:xfrm rot="0">
            <a:off x="268205" y="348844"/>
            <a:ext cx="1889303" cy="1889303"/>
            <a:chOff x="0" y="0"/>
            <a:chExt cx="2519070" cy="2519070"/>
          </a:xfrm>
        </p:grpSpPr>
        <p:sp>
          <p:nvSpPr>
            <p:cNvPr name="Freeform 5" id="5"/>
            <p:cNvSpPr/>
            <p:nvPr/>
          </p:nvSpPr>
          <p:spPr>
            <a:xfrm flipH="false" flipV="false" rot="0">
              <a:off x="0" y="0"/>
              <a:ext cx="2519045" cy="2519045"/>
            </a:xfrm>
            <a:custGeom>
              <a:avLst/>
              <a:gdLst/>
              <a:ahLst/>
              <a:cxnLst/>
              <a:rect r="r" b="b" t="t" l="l"/>
              <a:pathLst>
                <a:path h="2519045" w="2519045">
                  <a:moveTo>
                    <a:pt x="0" y="0"/>
                  </a:moveTo>
                  <a:lnTo>
                    <a:pt x="2519045" y="0"/>
                  </a:lnTo>
                  <a:lnTo>
                    <a:pt x="2519045" y="2519045"/>
                  </a:lnTo>
                  <a:lnTo>
                    <a:pt x="0" y="2519045"/>
                  </a:lnTo>
                  <a:lnTo>
                    <a:pt x="0" y="0"/>
                  </a:lnTo>
                  <a:close/>
                </a:path>
              </a:pathLst>
            </a:custGeom>
            <a:blipFill>
              <a:blip r:embed="rId6"/>
              <a:stretch>
                <a:fillRect l="0" t="0" r="-1" b="-1"/>
              </a:stretch>
            </a:blipFill>
          </p:spPr>
        </p:sp>
      </p:grpSp>
      <p:grpSp>
        <p:nvGrpSpPr>
          <p:cNvPr name="Group 6" id="6"/>
          <p:cNvGrpSpPr/>
          <p:nvPr/>
        </p:nvGrpSpPr>
        <p:grpSpPr>
          <a:xfrm rot="0">
            <a:off x="3183741" y="8896464"/>
            <a:ext cx="14760673" cy="38100"/>
            <a:chOff x="0" y="0"/>
            <a:chExt cx="19680898" cy="50800"/>
          </a:xfrm>
        </p:grpSpPr>
        <p:sp>
          <p:nvSpPr>
            <p:cNvPr name="Freeform 7" id="7"/>
            <p:cNvSpPr/>
            <p:nvPr/>
          </p:nvSpPr>
          <p:spPr>
            <a:xfrm flipH="false" flipV="false" rot="0">
              <a:off x="0" y="0"/>
              <a:ext cx="19680937" cy="50800"/>
            </a:xfrm>
            <a:custGeom>
              <a:avLst/>
              <a:gdLst/>
              <a:ahLst/>
              <a:cxnLst/>
              <a:rect r="r" b="b" t="t" l="l"/>
              <a:pathLst>
                <a:path h="50800" w="19680937">
                  <a:moveTo>
                    <a:pt x="0" y="0"/>
                  </a:moveTo>
                  <a:lnTo>
                    <a:pt x="19680937" y="50800"/>
                  </a:lnTo>
                </a:path>
              </a:pathLst>
            </a:custGeom>
            <a:blipFill>
              <a:blip r:embed="rId7">
                <a:alphaModFix amt="0"/>
              </a:blip>
              <a:stretch>
                <a:fillRect l="0" t="-7498878" r="0" b="-7498878"/>
              </a:stretch>
            </a:blipFill>
            <a:ln w="50800" cap="sq">
              <a:solidFill>
                <a:srgbClr val="000000"/>
              </a:solidFill>
              <a:prstDash val="solid"/>
              <a:miter/>
            </a:ln>
          </p:spPr>
        </p:sp>
      </p:grpSp>
      <p:sp>
        <p:nvSpPr>
          <p:cNvPr name="Freeform 8" id="8"/>
          <p:cNvSpPr/>
          <p:nvPr/>
        </p:nvSpPr>
        <p:spPr>
          <a:xfrm flipH="false" flipV="false" rot="0">
            <a:off x="6578329" y="3246823"/>
            <a:ext cx="6844014" cy="6271772"/>
          </a:xfrm>
          <a:custGeom>
            <a:avLst/>
            <a:gdLst/>
            <a:ahLst/>
            <a:cxnLst/>
            <a:rect r="r" b="b" t="t" l="l"/>
            <a:pathLst>
              <a:path h="6271772" w="6844014">
                <a:moveTo>
                  <a:pt x="0" y="0"/>
                </a:moveTo>
                <a:lnTo>
                  <a:pt x="6844013" y="0"/>
                </a:lnTo>
                <a:lnTo>
                  <a:pt x="6844013" y="6271772"/>
                </a:lnTo>
                <a:lnTo>
                  <a:pt x="0" y="6271772"/>
                </a:lnTo>
                <a:lnTo>
                  <a:pt x="0" y="0"/>
                </a:lnTo>
                <a:close/>
              </a:path>
            </a:pathLst>
          </a:custGeom>
          <a:blipFill>
            <a:blip r:embed="rId8"/>
            <a:stretch>
              <a:fillRect l="0" t="0" r="0" b="0"/>
            </a:stretch>
          </a:blipFill>
        </p:spPr>
      </p:sp>
      <p:sp>
        <p:nvSpPr>
          <p:cNvPr name="TextBox 9" id="9"/>
          <p:cNvSpPr txBox="true"/>
          <p:nvPr/>
        </p:nvSpPr>
        <p:spPr>
          <a:xfrm rot="0">
            <a:off x="2877160" y="800100"/>
            <a:ext cx="14246352" cy="1149982"/>
          </a:xfrm>
          <a:prstGeom prst="rect">
            <a:avLst/>
          </a:prstGeom>
        </p:spPr>
        <p:txBody>
          <a:bodyPr anchor="t" rtlCol="false" tIns="0" lIns="0" bIns="0" rIns="0">
            <a:spAutoFit/>
          </a:bodyPr>
          <a:lstStyle/>
          <a:p>
            <a:pPr algn="l">
              <a:lnSpc>
                <a:spcPts val="8539"/>
              </a:lnSpc>
            </a:pPr>
            <a:r>
              <a:rPr lang="en-US" sz="6098">
                <a:solidFill>
                  <a:srgbClr val="191E3A"/>
                </a:solidFill>
                <a:latin typeface="Libre Baskerville"/>
                <a:ea typeface="Libre Baskerville"/>
                <a:cs typeface="Libre Baskerville"/>
                <a:sym typeface="Libre Baskerville"/>
              </a:rPr>
              <a:t>A contraction and a shift</a:t>
            </a:r>
          </a:p>
        </p:txBody>
      </p:sp>
      <p:sp>
        <p:nvSpPr>
          <p:cNvPr name="TextBox 10" id="10"/>
          <p:cNvSpPr txBox="true"/>
          <p:nvPr/>
        </p:nvSpPr>
        <p:spPr>
          <a:xfrm rot="0">
            <a:off x="2877160" y="1883407"/>
            <a:ext cx="15048205" cy="1109345"/>
          </a:xfrm>
          <a:prstGeom prst="rect">
            <a:avLst/>
          </a:prstGeom>
        </p:spPr>
        <p:txBody>
          <a:bodyPr anchor="t" rtlCol="false" tIns="0" lIns="0" bIns="0" rIns="0">
            <a:spAutoFit/>
          </a:bodyPr>
          <a:lstStyle/>
          <a:p>
            <a:pPr algn="just">
              <a:lnSpc>
                <a:spcPts val="4480"/>
              </a:lnSpc>
            </a:pPr>
            <a:r>
              <a:rPr lang="en-US" sz="3200">
                <a:solidFill>
                  <a:srgbClr val="000000"/>
                </a:solidFill>
                <a:latin typeface="DM Sans"/>
                <a:ea typeface="DM Sans"/>
                <a:cs typeface="DM Sans"/>
                <a:sym typeface="DM Sans"/>
              </a:rPr>
              <a:t>z_hw ≈ λ·z_ideal + b</a:t>
            </a:r>
          </a:p>
          <a:p>
            <a:pPr algn="just">
              <a:lnSpc>
                <a:spcPts val="4480"/>
              </a:lnSpc>
            </a:pPr>
            <a:r>
              <a:rPr lang="en-US" sz="3200">
                <a:solidFill>
                  <a:srgbClr val="000000"/>
                </a:solidFill>
                <a:latin typeface="DM Sans"/>
                <a:ea typeface="DM Sans"/>
                <a:cs typeface="DM Sans"/>
                <a:sym typeface="DM Sans"/>
              </a:rPr>
              <a:t>λ = contraction (slope), b = offset (intercept), R² = how affine the noise is.</a:t>
            </a:r>
          </a:p>
        </p:txBody>
      </p:sp>
      <p:sp>
        <p:nvSpPr>
          <p:cNvPr name="TextBox 11" id="11"/>
          <p:cNvSpPr txBox="true"/>
          <p:nvPr/>
        </p:nvSpPr>
        <p:spPr>
          <a:xfrm rot="0">
            <a:off x="8124555" y="9744091"/>
            <a:ext cx="4165402" cy="280678"/>
          </a:xfrm>
          <a:prstGeom prst="rect">
            <a:avLst/>
          </a:prstGeom>
        </p:spPr>
        <p:txBody>
          <a:bodyPr anchor="t" rtlCol="false" tIns="0" lIns="0" bIns="0" rIns="0">
            <a:spAutoFit/>
          </a:bodyPr>
          <a:lstStyle/>
          <a:p>
            <a:pPr algn="ctr">
              <a:lnSpc>
                <a:spcPts val="2378"/>
              </a:lnSpc>
              <a:spcBef>
                <a:spcPct val="0"/>
              </a:spcBef>
            </a:pPr>
            <a:r>
              <a:rPr lang="en-US" sz="1699">
                <a:solidFill>
                  <a:srgbClr val="667085"/>
                </a:solidFill>
                <a:latin typeface="DM Sans"/>
                <a:ea typeface="DM Sans"/>
                <a:cs typeface="DM Sans"/>
                <a:sym typeface="DM Sans"/>
              </a:rPr>
              <a:t>red = misclassified (sign-flipped) samples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DAHNJaCJGi0</dc:identifier>
  <dcterms:modified xsi:type="dcterms:W3CDTF">2011-08-01T06:04:30Z</dcterms:modified>
  <cp:revision>1</cp:revision>
  <dc:title>Dania - formatka</dc:title>
</cp:coreProperties>
</file>